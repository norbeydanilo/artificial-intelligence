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y="5143500" cx="9144000"/>
  <p:notesSz cx="6858000" cy="9144000"/>
  <p:embeddedFontLst>
    <p:embeddedFont>
      <p:font typeface="Overlock"/>
      <p:regular r:id="rId66"/>
      <p:bold r:id="rId67"/>
      <p:italic r:id="rId68"/>
      <p:boldItalic r:id="rId69"/>
    </p:embeddedFont>
    <p:embeddedFont>
      <p:font typeface="Proxima Nova"/>
      <p:regular r:id="rId70"/>
      <p:bold r:id="rId71"/>
      <p:italic r:id="rId72"/>
      <p:boldItalic r:id="rId73"/>
    </p:embeddedFont>
    <p:embeddedFont>
      <p:font typeface="Montserrat"/>
      <p:regular r:id="rId74"/>
      <p:bold r:id="rId75"/>
      <p:italic r:id="rId76"/>
      <p:boldItalic r:id="rId77"/>
    </p:embeddedFont>
    <p:embeddedFont>
      <p:font typeface="Proxima Nova Semibold"/>
      <p:regular r:id="rId78"/>
      <p:bold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1" roundtripDataSignature="AMtx7mgPqzgQbT8iRWBcfIGa4b0Oaywq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8E3518-77ED-42F4-BFF9-689341700721}">
  <a:tblStyle styleId="{278E3518-77ED-42F4-BFF9-689341700721}"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ProximaNovaSemibold-boldItalic.fntdata"/><Relationship Id="rId81" Type="http://customschemas.google.com/relationships/presentationmetadata" Target="meta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ProximaNova-boldItalic.fntdata"/><Relationship Id="rId72" Type="http://schemas.openxmlformats.org/officeDocument/2006/relationships/font" Target="fonts/ProximaNova-italic.fntdata"/><Relationship Id="rId31" Type="http://schemas.openxmlformats.org/officeDocument/2006/relationships/slide" Target="slides/slide25.xml"/><Relationship Id="rId75" Type="http://schemas.openxmlformats.org/officeDocument/2006/relationships/font" Target="fonts/Montserrat-bold.fntdata"/><Relationship Id="rId30" Type="http://schemas.openxmlformats.org/officeDocument/2006/relationships/slide" Target="slides/slide24.xml"/><Relationship Id="rId74" Type="http://schemas.openxmlformats.org/officeDocument/2006/relationships/font" Target="fonts/Montserrat-regular.fntdata"/><Relationship Id="rId33" Type="http://schemas.openxmlformats.org/officeDocument/2006/relationships/slide" Target="slides/slide27.xml"/><Relationship Id="rId77" Type="http://schemas.openxmlformats.org/officeDocument/2006/relationships/font" Target="fonts/Montserrat-boldItalic.fntdata"/><Relationship Id="rId32" Type="http://schemas.openxmlformats.org/officeDocument/2006/relationships/slide" Target="slides/slide26.xml"/><Relationship Id="rId76" Type="http://schemas.openxmlformats.org/officeDocument/2006/relationships/font" Target="fonts/Montserrat-italic.fntdata"/><Relationship Id="rId35" Type="http://schemas.openxmlformats.org/officeDocument/2006/relationships/slide" Target="slides/slide29.xml"/><Relationship Id="rId79" Type="http://schemas.openxmlformats.org/officeDocument/2006/relationships/font" Target="fonts/ProximaNovaSemibold-bold.fntdata"/><Relationship Id="rId34" Type="http://schemas.openxmlformats.org/officeDocument/2006/relationships/slide" Target="slides/slide28.xml"/><Relationship Id="rId78" Type="http://schemas.openxmlformats.org/officeDocument/2006/relationships/font" Target="fonts/ProximaNovaSemibold-regular.fntdata"/><Relationship Id="rId71" Type="http://schemas.openxmlformats.org/officeDocument/2006/relationships/font" Target="fonts/ProximaNova-bold.fntdata"/><Relationship Id="rId70" Type="http://schemas.openxmlformats.org/officeDocument/2006/relationships/font" Target="fonts/ProximaNova-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Overlock-regular.fntdata"/><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Overlock-italic.fntdata"/><Relationship Id="rId23" Type="http://schemas.openxmlformats.org/officeDocument/2006/relationships/slide" Target="slides/slide17.xml"/><Relationship Id="rId67" Type="http://schemas.openxmlformats.org/officeDocument/2006/relationships/font" Target="fonts/Overlock-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Overlock-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 name="Google Shape;3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 name="Google Shape;4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f2c7a22d7c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1f2c7a22d7c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f2c7a22d7c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1f2c7a22d7c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f2c7a22d7c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1f2c7a22d7c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f2c7a22d7c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1f2c7a22d7c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f2e25a46ab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1f2e25a46ab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7a21dde541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g27a21dde541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7a21dde541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g27a21dde541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7a21dde54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g27a21dde54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f2e25a46ab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g1f2e25a46ab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7a21dde541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g27a21dde541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7a21dde541_0_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g27a21dde541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5" name="Google Shape;465;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46"/>
          <p:cNvSpPr txBox="1"/>
          <p:nvPr>
            <p:ph type="ctrTitle"/>
          </p:nvPr>
        </p:nvSpPr>
        <p:spPr>
          <a:xfrm>
            <a:off x="1643858" y="1172225"/>
            <a:ext cx="6770700" cy="20526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5200"/>
              <a:buNone/>
              <a:defRPr sz="53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46"/>
          <p:cNvSpPr txBox="1"/>
          <p:nvPr>
            <p:ph idx="1" type="subTitle"/>
          </p:nvPr>
        </p:nvSpPr>
        <p:spPr>
          <a:xfrm>
            <a:off x="1643852" y="3261775"/>
            <a:ext cx="6770700" cy="5571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sz="16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46"/>
          <p:cNvSpPr/>
          <p:nvPr/>
        </p:nvSpPr>
        <p:spPr>
          <a:xfrm>
            <a:off x="0"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47"/>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Font typeface="Barlow"/>
              <a:buChar char="●"/>
              <a:defRPr sz="1200"/>
            </a:lvl1pPr>
            <a:lvl2pPr indent="-317500" lvl="1" marL="914400" algn="l">
              <a:lnSpc>
                <a:spcPct val="100000"/>
              </a:lnSpc>
              <a:spcBef>
                <a:spcPts val="1600"/>
              </a:spcBef>
              <a:spcAft>
                <a:spcPts val="0"/>
              </a:spcAft>
              <a:buSzPts val="1400"/>
              <a:buFont typeface="Barlow"/>
              <a:buChar char="○"/>
              <a:defRPr sz="1200"/>
            </a:lvl2pPr>
            <a:lvl3pPr indent="-317500" lvl="2" marL="1371600" algn="l">
              <a:lnSpc>
                <a:spcPct val="100000"/>
              </a:lnSpc>
              <a:spcBef>
                <a:spcPts val="1600"/>
              </a:spcBef>
              <a:spcAft>
                <a:spcPts val="0"/>
              </a:spcAft>
              <a:buClr>
                <a:schemeClr val="lt1"/>
              </a:buClr>
              <a:buSzPts val="1400"/>
              <a:buFont typeface="Barlow"/>
              <a:buChar char="■"/>
              <a:defRPr/>
            </a:lvl3pPr>
            <a:lvl4pPr indent="-317500" lvl="3" marL="1828800" algn="l">
              <a:lnSpc>
                <a:spcPct val="100000"/>
              </a:lnSpc>
              <a:spcBef>
                <a:spcPts val="1600"/>
              </a:spcBef>
              <a:spcAft>
                <a:spcPts val="0"/>
              </a:spcAft>
              <a:buClr>
                <a:schemeClr val="lt1"/>
              </a:buClr>
              <a:buSzPts val="1400"/>
              <a:buFont typeface="Barlow"/>
              <a:buChar char="●"/>
              <a:defRPr/>
            </a:lvl4pPr>
            <a:lvl5pPr indent="-317500" lvl="4" marL="2286000" algn="l">
              <a:lnSpc>
                <a:spcPct val="100000"/>
              </a:lnSpc>
              <a:spcBef>
                <a:spcPts val="1600"/>
              </a:spcBef>
              <a:spcAft>
                <a:spcPts val="0"/>
              </a:spcAft>
              <a:buClr>
                <a:schemeClr val="lt1"/>
              </a:buClr>
              <a:buSzPts val="1400"/>
              <a:buFont typeface="Barlow"/>
              <a:buChar char="○"/>
              <a:defRPr/>
            </a:lvl5pPr>
            <a:lvl6pPr indent="-317500" lvl="5" marL="2743200" algn="l">
              <a:lnSpc>
                <a:spcPct val="100000"/>
              </a:lnSpc>
              <a:spcBef>
                <a:spcPts val="1600"/>
              </a:spcBef>
              <a:spcAft>
                <a:spcPts val="0"/>
              </a:spcAft>
              <a:buClr>
                <a:schemeClr val="lt1"/>
              </a:buClr>
              <a:buSzPts val="1400"/>
              <a:buFont typeface="Barlow"/>
              <a:buChar char="■"/>
              <a:defRPr/>
            </a:lvl6pPr>
            <a:lvl7pPr indent="-317500" lvl="6" marL="3200400" algn="l">
              <a:lnSpc>
                <a:spcPct val="100000"/>
              </a:lnSpc>
              <a:spcBef>
                <a:spcPts val="1600"/>
              </a:spcBef>
              <a:spcAft>
                <a:spcPts val="0"/>
              </a:spcAft>
              <a:buClr>
                <a:schemeClr val="lt1"/>
              </a:buClr>
              <a:buSzPts val="1400"/>
              <a:buFont typeface="Barlow"/>
              <a:buChar char="●"/>
              <a:defRPr/>
            </a:lvl7pPr>
            <a:lvl8pPr indent="-317500" lvl="7" marL="3657600" algn="l">
              <a:lnSpc>
                <a:spcPct val="100000"/>
              </a:lnSpc>
              <a:spcBef>
                <a:spcPts val="1600"/>
              </a:spcBef>
              <a:spcAft>
                <a:spcPts val="0"/>
              </a:spcAft>
              <a:buClr>
                <a:schemeClr val="lt1"/>
              </a:buClr>
              <a:buSzPts val="1400"/>
              <a:buFont typeface="Barlow"/>
              <a:buChar char="○"/>
              <a:defRPr/>
            </a:lvl8pPr>
            <a:lvl9pPr indent="-317500" lvl="8" marL="4114800" algn="l">
              <a:lnSpc>
                <a:spcPct val="100000"/>
              </a:lnSpc>
              <a:spcBef>
                <a:spcPts val="1600"/>
              </a:spcBef>
              <a:spcAft>
                <a:spcPts val="1600"/>
              </a:spcAft>
              <a:buClr>
                <a:schemeClr val="lt1"/>
              </a:buClr>
              <a:buSzPts val="1400"/>
              <a:buFont typeface="Barlow"/>
              <a:buChar char="■"/>
              <a:defRPr/>
            </a:lvl9pPr>
          </a:lstStyle>
          <a:p/>
        </p:txBody>
      </p:sp>
      <p:sp>
        <p:nvSpPr>
          <p:cNvPr id="14" name="Google Shape;14;p47"/>
          <p:cNvSpPr txBox="1"/>
          <p:nvPr>
            <p:ph type="title"/>
          </p:nvPr>
        </p:nvSpPr>
        <p:spPr>
          <a:xfrm>
            <a:off x="713225" y="384048"/>
            <a:ext cx="771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solidFill>
                  <a:schemeClr val="accen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 name="Shape 15"/>
        <p:cNvGrpSpPr/>
        <p:nvPr/>
      </p:nvGrpSpPr>
      <p:grpSpPr>
        <a:xfrm>
          <a:off x="0" y="0"/>
          <a:ext cx="0" cy="0"/>
          <a:chOff x="0" y="0"/>
          <a:chExt cx="0" cy="0"/>
        </a:xfrm>
      </p:grpSpPr>
      <p:sp>
        <p:nvSpPr>
          <p:cNvPr id="16" name="Google Shape;16;p48"/>
          <p:cNvSpPr txBox="1"/>
          <p:nvPr>
            <p:ph type="title"/>
          </p:nvPr>
        </p:nvSpPr>
        <p:spPr>
          <a:xfrm>
            <a:off x="1156525" y="1340400"/>
            <a:ext cx="42321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a:solidFill>
                  <a:schemeClr val="accent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7" name="Google Shape;17;p48"/>
          <p:cNvSpPr txBox="1"/>
          <p:nvPr>
            <p:ph idx="1" type="body"/>
          </p:nvPr>
        </p:nvSpPr>
        <p:spPr>
          <a:xfrm>
            <a:off x="1156525" y="2096100"/>
            <a:ext cx="4232100" cy="20118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400">
                <a:solidFill>
                  <a:schemeClr val="accent2"/>
                </a:solidFill>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1600"/>
              </a:spcBef>
              <a:spcAft>
                <a:spcPts val="0"/>
              </a:spcAft>
              <a:buSzPts val="1200"/>
              <a:buChar char="■"/>
              <a:defRPr sz="1200"/>
            </a:lvl3pPr>
            <a:lvl4pPr indent="-304800" lvl="3" marL="1828800" algn="l">
              <a:lnSpc>
                <a:spcPct val="100000"/>
              </a:lnSpc>
              <a:spcBef>
                <a:spcPts val="1600"/>
              </a:spcBef>
              <a:spcAft>
                <a:spcPts val="0"/>
              </a:spcAft>
              <a:buSzPts val="1200"/>
              <a:buChar char="●"/>
              <a:defRPr sz="1200"/>
            </a:lvl4pPr>
            <a:lvl5pPr indent="-304800" lvl="4" marL="2286000" algn="l">
              <a:lnSpc>
                <a:spcPct val="100000"/>
              </a:lnSpc>
              <a:spcBef>
                <a:spcPts val="1600"/>
              </a:spcBef>
              <a:spcAft>
                <a:spcPts val="0"/>
              </a:spcAft>
              <a:buSzPts val="1200"/>
              <a:buChar char="○"/>
              <a:defRPr sz="1200"/>
            </a:lvl5pPr>
            <a:lvl6pPr indent="-304800" lvl="5" marL="2743200" algn="l">
              <a:lnSpc>
                <a:spcPct val="100000"/>
              </a:lnSpc>
              <a:spcBef>
                <a:spcPts val="1600"/>
              </a:spcBef>
              <a:spcAft>
                <a:spcPts val="0"/>
              </a:spcAft>
              <a:buSzPts val="1200"/>
              <a:buChar char="■"/>
              <a:defRPr sz="1200"/>
            </a:lvl6pPr>
            <a:lvl7pPr indent="-304800" lvl="6" marL="3200400" algn="l">
              <a:lnSpc>
                <a:spcPct val="100000"/>
              </a:lnSpc>
              <a:spcBef>
                <a:spcPts val="1600"/>
              </a:spcBef>
              <a:spcAft>
                <a:spcPts val="0"/>
              </a:spcAft>
              <a:buSzPts val="1200"/>
              <a:buChar char="●"/>
              <a:defRPr sz="1200"/>
            </a:lvl7pPr>
            <a:lvl8pPr indent="-304800" lvl="7" marL="3657600" algn="l">
              <a:lnSpc>
                <a:spcPct val="100000"/>
              </a:lnSpc>
              <a:spcBef>
                <a:spcPts val="1600"/>
              </a:spcBef>
              <a:spcAft>
                <a:spcPts val="0"/>
              </a:spcAft>
              <a:buSzPts val="1200"/>
              <a:buChar char="○"/>
              <a:defRPr sz="1200"/>
            </a:lvl8pPr>
            <a:lvl9pPr indent="-304800" lvl="8" marL="4114800" algn="l">
              <a:lnSpc>
                <a:spcPct val="100000"/>
              </a:lnSpc>
              <a:spcBef>
                <a:spcPts val="1600"/>
              </a:spcBef>
              <a:spcAft>
                <a:spcPts val="1600"/>
              </a:spcAft>
              <a:buSzPts val="1200"/>
              <a:buChar char="■"/>
              <a:defRPr sz="1200"/>
            </a:lvl9pPr>
          </a:lstStyle>
          <a:p/>
        </p:txBody>
      </p:sp>
      <p:sp>
        <p:nvSpPr>
          <p:cNvPr id="18" name="Google Shape;18;p48"/>
          <p:cNvSpPr/>
          <p:nvPr/>
        </p:nvSpPr>
        <p:spPr>
          <a:xfrm>
            <a:off x="6732125"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48"/>
          <p:cNvSpPr/>
          <p:nvPr/>
        </p:nvSpPr>
        <p:spPr>
          <a:xfrm>
            <a:off x="7951325" y="257175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20" name="Shape 20"/>
        <p:cNvGrpSpPr/>
        <p:nvPr/>
      </p:nvGrpSpPr>
      <p:grpSpPr>
        <a:xfrm>
          <a:off x="0" y="0"/>
          <a:ext cx="0" cy="0"/>
          <a:chOff x="0" y="0"/>
          <a:chExt cx="0" cy="0"/>
        </a:xfrm>
      </p:grpSpPr>
      <p:sp>
        <p:nvSpPr>
          <p:cNvPr id="21" name="Google Shape;21;p49"/>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28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28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28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28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28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28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2800"/>
              <a:buFont typeface="Montserrat"/>
              <a:buNone/>
              <a:defRPr>
                <a:latin typeface="Montserrat"/>
                <a:ea typeface="Montserrat"/>
                <a:cs typeface="Montserrat"/>
                <a:sym typeface="Montserrat"/>
              </a:defRPr>
            </a:lvl9pPr>
          </a:lstStyle>
          <a:p/>
        </p:txBody>
      </p:sp>
      <p:sp>
        <p:nvSpPr>
          <p:cNvPr id="22" name="Google Shape;22;p49"/>
          <p:cNvSpPr txBox="1"/>
          <p:nvPr>
            <p:ph idx="1" type="subTitle"/>
          </p:nvPr>
        </p:nvSpPr>
        <p:spPr>
          <a:xfrm>
            <a:off x="788100" y="2390400"/>
            <a:ext cx="2261700" cy="408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a:solidFill>
                  <a:schemeClr val="accent1"/>
                </a:solidFill>
              </a:defRPr>
            </a:lvl1pPr>
            <a:lvl2pPr lvl="1" algn="ctr">
              <a:lnSpc>
                <a:spcPct val="100000"/>
              </a:lnSpc>
              <a:spcBef>
                <a:spcPts val="1600"/>
              </a:spcBef>
              <a:spcAft>
                <a:spcPts val="0"/>
              </a:spcAft>
              <a:buSzPts val="1400"/>
              <a:buNone/>
              <a:defRPr b="1">
                <a:solidFill>
                  <a:schemeClr val="accent1"/>
                </a:solidFill>
              </a:defRPr>
            </a:lvl2pPr>
            <a:lvl3pPr lvl="2" algn="ctr">
              <a:lnSpc>
                <a:spcPct val="100000"/>
              </a:lnSpc>
              <a:spcBef>
                <a:spcPts val="1600"/>
              </a:spcBef>
              <a:spcAft>
                <a:spcPts val="0"/>
              </a:spcAft>
              <a:buSzPts val="1400"/>
              <a:buNone/>
              <a:defRPr b="1">
                <a:solidFill>
                  <a:schemeClr val="accent1"/>
                </a:solidFill>
              </a:defRPr>
            </a:lvl3pPr>
            <a:lvl4pPr lvl="3" algn="ctr">
              <a:lnSpc>
                <a:spcPct val="100000"/>
              </a:lnSpc>
              <a:spcBef>
                <a:spcPts val="1600"/>
              </a:spcBef>
              <a:spcAft>
                <a:spcPts val="0"/>
              </a:spcAft>
              <a:buSzPts val="1400"/>
              <a:buNone/>
              <a:defRPr b="1">
                <a:solidFill>
                  <a:schemeClr val="accent1"/>
                </a:solidFill>
              </a:defRPr>
            </a:lvl4pPr>
            <a:lvl5pPr lvl="4" algn="ctr">
              <a:lnSpc>
                <a:spcPct val="100000"/>
              </a:lnSpc>
              <a:spcBef>
                <a:spcPts val="1600"/>
              </a:spcBef>
              <a:spcAft>
                <a:spcPts val="0"/>
              </a:spcAft>
              <a:buSzPts val="1400"/>
              <a:buNone/>
              <a:defRPr b="1">
                <a:solidFill>
                  <a:schemeClr val="accent1"/>
                </a:solidFill>
              </a:defRPr>
            </a:lvl5pPr>
            <a:lvl6pPr lvl="5" algn="ctr">
              <a:lnSpc>
                <a:spcPct val="100000"/>
              </a:lnSpc>
              <a:spcBef>
                <a:spcPts val="1600"/>
              </a:spcBef>
              <a:spcAft>
                <a:spcPts val="0"/>
              </a:spcAft>
              <a:buSzPts val="1400"/>
              <a:buNone/>
              <a:defRPr b="1">
                <a:solidFill>
                  <a:schemeClr val="accent1"/>
                </a:solidFill>
              </a:defRPr>
            </a:lvl6pPr>
            <a:lvl7pPr lvl="6" algn="ctr">
              <a:lnSpc>
                <a:spcPct val="100000"/>
              </a:lnSpc>
              <a:spcBef>
                <a:spcPts val="1600"/>
              </a:spcBef>
              <a:spcAft>
                <a:spcPts val="0"/>
              </a:spcAft>
              <a:buSzPts val="1400"/>
              <a:buNone/>
              <a:defRPr b="1">
                <a:solidFill>
                  <a:schemeClr val="accent1"/>
                </a:solidFill>
              </a:defRPr>
            </a:lvl7pPr>
            <a:lvl8pPr lvl="7" algn="ctr">
              <a:lnSpc>
                <a:spcPct val="100000"/>
              </a:lnSpc>
              <a:spcBef>
                <a:spcPts val="1600"/>
              </a:spcBef>
              <a:spcAft>
                <a:spcPts val="0"/>
              </a:spcAft>
              <a:buSzPts val="1400"/>
              <a:buNone/>
              <a:defRPr b="1">
                <a:solidFill>
                  <a:schemeClr val="accent1"/>
                </a:solidFill>
              </a:defRPr>
            </a:lvl8pPr>
            <a:lvl9pPr lvl="8" algn="ctr">
              <a:lnSpc>
                <a:spcPct val="100000"/>
              </a:lnSpc>
              <a:spcBef>
                <a:spcPts val="1600"/>
              </a:spcBef>
              <a:spcAft>
                <a:spcPts val="1600"/>
              </a:spcAft>
              <a:buSzPts val="1400"/>
              <a:buNone/>
              <a:defRPr b="1">
                <a:solidFill>
                  <a:schemeClr val="accent1"/>
                </a:solidFill>
              </a:defRPr>
            </a:lvl9pPr>
          </a:lstStyle>
          <a:p/>
        </p:txBody>
      </p:sp>
      <p:sp>
        <p:nvSpPr>
          <p:cNvPr id="23" name="Google Shape;23;p49"/>
          <p:cNvSpPr txBox="1"/>
          <p:nvPr>
            <p:ph idx="2" type="subTitle"/>
          </p:nvPr>
        </p:nvSpPr>
        <p:spPr>
          <a:xfrm>
            <a:off x="788100" y="2765850"/>
            <a:ext cx="2261700" cy="723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solidFill>
                  <a:schemeClr val="dk1"/>
                </a:solidFill>
              </a:defRPr>
            </a:lvl1pPr>
            <a:lvl2pPr lvl="1" algn="ctr">
              <a:lnSpc>
                <a:spcPct val="100000"/>
              </a:lnSpc>
              <a:spcBef>
                <a:spcPts val="1600"/>
              </a:spcBef>
              <a:spcAft>
                <a:spcPts val="0"/>
              </a:spcAft>
              <a:buSzPts val="1400"/>
              <a:buNone/>
              <a:defRPr sz="1400">
                <a:solidFill>
                  <a:schemeClr val="dk1"/>
                </a:solidFill>
              </a:defRPr>
            </a:lvl2pPr>
            <a:lvl3pPr lvl="2" algn="ctr">
              <a:lnSpc>
                <a:spcPct val="100000"/>
              </a:lnSpc>
              <a:spcBef>
                <a:spcPts val="1600"/>
              </a:spcBef>
              <a:spcAft>
                <a:spcPts val="0"/>
              </a:spcAft>
              <a:buSzPts val="1400"/>
              <a:buNone/>
              <a:defRPr sz="1400">
                <a:solidFill>
                  <a:schemeClr val="dk1"/>
                </a:solidFill>
              </a:defRPr>
            </a:lvl3pPr>
            <a:lvl4pPr lvl="3" algn="ctr">
              <a:lnSpc>
                <a:spcPct val="100000"/>
              </a:lnSpc>
              <a:spcBef>
                <a:spcPts val="1600"/>
              </a:spcBef>
              <a:spcAft>
                <a:spcPts val="0"/>
              </a:spcAft>
              <a:buSzPts val="1400"/>
              <a:buNone/>
              <a:defRPr sz="1400">
                <a:solidFill>
                  <a:schemeClr val="dk1"/>
                </a:solidFill>
              </a:defRPr>
            </a:lvl4pPr>
            <a:lvl5pPr lvl="4" algn="ctr">
              <a:lnSpc>
                <a:spcPct val="100000"/>
              </a:lnSpc>
              <a:spcBef>
                <a:spcPts val="1600"/>
              </a:spcBef>
              <a:spcAft>
                <a:spcPts val="0"/>
              </a:spcAft>
              <a:buSzPts val="1400"/>
              <a:buNone/>
              <a:defRPr sz="1400">
                <a:solidFill>
                  <a:schemeClr val="dk1"/>
                </a:solidFill>
              </a:defRPr>
            </a:lvl5pPr>
            <a:lvl6pPr lvl="5" algn="ctr">
              <a:lnSpc>
                <a:spcPct val="100000"/>
              </a:lnSpc>
              <a:spcBef>
                <a:spcPts val="1600"/>
              </a:spcBef>
              <a:spcAft>
                <a:spcPts val="0"/>
              </a:spcAft>
              <a:buSzPts val="1400"/>
              <a:buNone/>
              <a:defRPr sz="1400">
                <a:solidFill>
                  <a:schemeClr val="dk1"/>
                </a:solidFill>
              </a:defRPr>
            </a:lvl6pPr>
            <a:lvl7pPr lvl="6" algn="ctr">
              <a:lnSpc>
                <a:spcPct val="100000"/>
              </a:lnSpc>
              <a:spcBef>
                <a:spcPts val="1600"/>
              </a:spcBef>
              <a:spcAft>
                <a:spcPts val="0"/>
              </a:spcAft>
              <a:buSzPts val="1400"/>
              <a:buNone/>
              <a:defRPr sz="1400">
                <a:solidFill>
                  <a:schemeClr val="dk1"/>
                </a:solidFill>
              </a:defRPr>
            </a:lvl7pPr>
            <a:lvl8pPr lvl="7" algn="ctr">
              <a:lnSpc>
                <a:spcPct val="100000"/>
              </a:lnSpc>
              <a:spcBef>
                <a:spcPts val="1600"/>
              </a:spcBef>
              <a:spcAft>
                <a:spcPts val="0"/>
              </a:spcAft>
              <a:buSzPts val="1400"/>
              <a:buNone/>
              <a:defRPr sz="1400">
                <a:solidFill>
                  <a:schemeClr val="dk1"/>
                </a:solidFill>
              </a:defRPr>
            </a:lvl8pPr>
            <a:lvl9pPr lvl="8" algn="ctr">
              <a:lnSpc>
                <a:spcPct val="100000"/>
              </a:lnSpc>
              <a:spcBef>
                <a:spcPts val="1600"/>
              </a:spcBef>
              <a:spcAft>
                <a:spcPts val="1600"/>
              </a:spcAft>
              <a:buSzPts val="1400"/>
              <a:buNone/>
              <a:defRPr sz="1400">
                <a:solidFill>
                  <a:schemeClr val="dk1"/>
                </a:solidFill>
              </a:defRPr>
            </a:lvl9pPr>
          </a:lstStyle>
          <a:p/>
        </p:txBody>
      </p:sp>
      <p:sp>
        <p:nvSpPr>
          <p:cNvPr id="24" name="Google Shape;24;p49"/>
          <p:cNvSpPr txBox="1"/>
          <p:nvPr>
            <p:ph idx="3" type="subTitle"/>
          </p:nvPr>
        </p:nvSpPr>
        <p:spPr>
          <a:xfrm>
            <a:off x="3441150" y="2390400"/>
            <a:ext cx="2261700" cy="408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a:solidFill>
                  <a:schemeClr val="accent1"/>
                </a:solidFill>
              </a:defRPr>
            </a:lvl1pPr>
            <a:lvl2pPr lvl="1" algn="ctr">
              <a:lnSpc>
                <a:spcPct val="100000"/>
              </a:lnSpc>
              <a:spcBef>
                <a:spcPts val="1600"/>
              </a:spcBef>
              <a:spcAft>
                <a:spcPts val="0"/>
              </a:spcAft>
              <a:buSzPts val="1400"/>
              <a:buNone/>
              <a:defRPr b="1">
                <a:solidFill>
                  <a:schemeClr val="accent1"/>
                </a:solidFill>
              </a:defRPr>
            </a:lvl2pPr>
            <a:lvl3pPr lvl="2" algn="ctr">
              <a:lnSpc>
                <a:spcPct val="100000"/>
              </a:lnSpc>
              <a:spcBef>
                <a:spcPts val="1600"/>
              </a:spcBef>
              <a:spcAft>
                <a:spcPts val="0"/>
              </a:spcAft>
              <a:buSzPts val="1400"/>
              <a:buNone/>
              <a:defRPr b="1">
                <a:solidFill>
                  <a:schemeClr val="accent1"/>
                </a:solidFill>
              </a:defRPr>
            </a:lvl3pPr>
            <a:lvl4pPr lvl="3" algn="ctr">
              <a:lnSpc>
                <a:spcPct val="100000"/>
              </a:lnSpc>
              <a:spcBef>
                <a:spcPts val="1600"/>
              </a:spcBef>
              <a:spcAft>
                <a:spcPts val="0"/>
              </a:spcAft>
              <a:buSzPts val="1400"/>
              <a:buNone/>
              <a:defRPr b="1">
                <a:solidFill>
                  <a:schemeClr val="accent1"/>
                </a:solidFill>
              </a:defRPr>
            </a:lvl4pPr>
            <a:lvl5pPr lvl="4" algn="ctr">
              <a:lnSpc>
                <a:spcPct val="100000"/>
              </a:lnSpc>
              <a:spcBef>
                <a:spcPts val="1600"/>
              </a:spcBef>
              <a:spcAft>
                <a:spcPts val="0"/>
              </a:spcAft>
              <a:buSzPts val="1400"/>
              <a:buNone/>
              <a:defRPr b="1">
                <a:solidFill>
                  <a:schemeClr val="accent1"/>
                </a:solidFill>
              </a:defRPr>
            </a:lvl5pPr>
            <a:lvl6pPr lvl="5" algn="ctr">
              <a:lnSpc>
                <a:spcPct val="100000"/>
              </a:lnSpc>
              <a:spcBef>
                <a:spcPts val="1600"/>
              </a:spcBef>
              <a:spcAft>
                <a:spcPts val="0"/>
              </a:spcAft>
              <a:buSzPts val="1400"/>
              <a:buNone/>
              <a:defRPr b="1">
                <a:solidFill>
                  <a:schemeClr val="accent1"/>
                </a:solidFill>
              </a:defRPr>
            </a:lvl6pPr>
            <a:lvl7pPr lvl="6" algn="ctr">
              <a:lnSpc>
                <a:spcPct val="100000"/>
              </a:lnSpc>
              <a:spcBef>
                <a:spcPts val="1600"/>
              </a:spcBef>
              <a:spcAft>
                <a:spcPts val="0"/>
              </a:spcAft>
              <a:buSzPts val="1400"/>
              <a:buNone/>
              <a:defRPr b="1">
                <a:solidFill>
                  <a:schemeClr val="accent1"/>
                </a:solidFill>
              </a:defRPr>
            </a:lvl7pPr>
            <a:lvl8pPr lvl="7" algn="ctr">
              <a:lnSpc>
                <a:spcPct val="100000"/>
              </a:lnSpc>
              <a:spcBef>
                <a:spcPts val="1600"/>
              </a:spcBef>
              <a:spcAft>
                <a:spcPts val="0"/>
              </a:spcAft>
              <a:buSzPts val="1400"/>
              <a:buNone/>
              <a:defRPr b="1">
                <a:solidFill>
                  <a:schemeClr val="accent1"/>
                </a:solidFill>
              </a:defRPr>
            </a:lvl8pPr>
            <a:lvl9pPr lvl="8" algn="ctr">
              <a:lnSpc>
                <a:spcPct val="100000"/>
              </a:lnSpc>
              <a:spcBef>
                <a:spcPts val="1600"/>
              </a:spcBef>
              <a:spcAft>
                <a:spcPts val="1600"/>
              </a:spcAft>
              <a:buSzPts val="1400"/>
              <a:buNone/>
              <a:defRPr b="1">
                <a:solidFill>
                  <a:schemeClr val="accent1"/>
                </a:solidFill>
              </a:defRPr>
            </a:lvl9pPr>
          </a:lstStyle>
          <a:p/>
        </p:txBody>
      </p:sp>
      <p:sp>
        <p:nvSpPr>
          <p:cNvPr id="25" name="Google Shape;25;p49"/>
          <p:cNvSpPr txBox="1"/>
          <p:nvPr>
            <p:ph idx="4" type="subTitle"/>
          </p:nvPr>
        </p:nvSpPr>
        <p:spPr>
          <a:xfrm>
            <a:off x="3441150" y="2765850"/>
            <a:ext cx="2261700" cy="723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solidFill>
                  <a:schemeClr val="dk1"/>
                </a:solidFill>
              </a:defRPr>
            </a:lvl1pPr>
            <a:lvl2pPr lvl="1" algn="ctr">
              <a:lnSpc>
                <a:spcPct val="100000"/>
              </a:lnSpc>
              <a:spcBef>
                <a:spcPts val="1600"/>
              </a:spcBef>
              <a:spcAft>
                <a:spcPts val="0"/>
              </a:spcAft>
              <a:buSzPts val="1400"/>
              <a:buNone/>
              <a:defRPr sz="1400">
                <a:solidFill>
                  <a:schemeClr val="dk1"/>
                </a:solidFill>
              </a:defRPr>
            </a:lvl2pPr>
            <a:lvl3pPr lvl="2" algn="ctr">
              <a:lnSpc>
                <a:spcPct val="100000"/>
              </a:lnSpc>
              <a:spcBef>
                <a:spcPts val="1600"/>
              </a:spcBef>
              <a:spcAft>
                <a:spcPts val="0"/>
              </a:spcAft>
              <a:buSzPts val="1400"/>
              <a:buNone/>
              <a:defRPr sz="1400">
                <a:solidFill>
                  <a:schemeClr val="dk1"/>
                </a:solidFill>
              </a:defRPr>
            </a:lvl3pPr>
            <a:lvl4pPr lvl="3" algn="ctr">
              <a:lnSpc>
                <a:spcPct val="100000"/>
              </a:lnSpc>
              <a:spcBef>
                <a:spcPts val="1600"/>
              </a:spcBef>
              <a:spcAft>
                <a:spcPts val="0"/>
              </a:spcAft>
              <a:buSzPts val="1400"/>
              <a:buNone/>
              <a:defRPr sz="1400">
                <a:solidFill>
                  <a:schemeClr val="dk1"/>
                </a:solidFill>
              </a:defRPr>
            </a:lvl4pPr>
            <a:lvl5pPr lvl="4" algn="ctr">
              <a:lnSpc>
                <a:spcPct val="100000"/>
              </a:lnSpc>
              <a:spcBef>
                <a:spcPts val="1600"/>
              </a:spcBef>
              <a:spcAft>
                <a:spcPts val="0"/>
              </a:spcAft>
              <a:buSzPts val="1400"/>
              <a:buNone/>
              <a:defRPr sz="1400">
                <a:solidFill>
                  <a:schemeClr val="dk1"/>
                </a:solidFill>
              </a:defRPr>
            </a:lvl5pPr>
            <a:lvl6pPr lvl="5" algn="ctr">
              <a:lnSpc>
                <a:spcPct val="100000"/>
              </a:lnSpc>
              <a:spcBef>
                <a:spcPts val="1600"/>
              </a:spcBef>
              <a:spcAft>
                <a:spcPts val="0"/>
              </a:spcAft>
              <a:buSzPts val="1400"/>
              <a:buNone/>
              <a:defRPr sz="1400">
                <a:solidFill>
                  <a:schemeClr val="dk1"/>
                </a:solidFill>
              </a:defRPr>
            </a:lvl6pPr>
            <a:lvl7pPr lvl="6" algn="ctr">
              <a:lnSpc>
                <a:spcPct val="100000"/>
              </a:lnSpc>
              <a:spcBef>
                <a:spcPts val="1600"/>
              </a:spcBef>
              <a:spcAft>
                <a:spcPts val="0"/>
              </a:spcAft>
              <a:buSzPts val="1400"/>
              <a:buNone/>
              <a:defRPr sz="1400">
                <a:solidFill>
                  <a:schemeClr val="dk1"/>
                </a:solidFill>
              </a:defRPr>
            </a:lvl7pPr>
            <a:lvl8pPr lvl="7" algn="ctr">
              <a:lnSpc>
                <a:spcPct val="100000"/>
              </a:lnSpc>
              <a:spcBef>
                <a:spcPts val="1600"/>
              </a:spcBef>
              <a:spcAft>
                <a:spcPts val="0"/>
              </a:spcAft>
              <a:buSzPts val="1400"/>
              <a:buNone/>
              <a:defRPr sz="1400">
                <a:solidFill>
                  <a:schemeClr val="dk1"/>
                </a:solidFill>
              </a:defRPr>
            </a:lvl8pPr>
            <a:lvl9pPr lvl="8" algn="ctr">
              <a:lnSpc>
                <a:spcPct val="100000"/>
              </a:lnSpc>
              <a:spcBef>
                <a:spcPts val="1600"/>
              </a:spcBef>
              <a:spcAft>
                <a:spcPts val="1600"/>
              </a:spcAft>
              <a:buSzPts val="1400"/>
              <a:buNone/>
              <a:defRPr sz="1400">
                <a:solidFill>
                  <a:schemeClr val="dk1"/>
                </a:solidFill>
              </a:defRPr>
            </a:lvl9pPr>
          </a:lstStyle>
          <a:p/>
        </p:txBody>
      </p:sp>
      <p:sp>
        <p:nvSpPr>
          <p:cNvPr id="26" name="Google Shape;26;p49"/>
          <p:cNvSpPr txBox="1"/>
          <p:nvPr>
            <p:ph idx="5" type="subTitle"/>
          </p:nvPr>
        </p:nvSpPr>
        <p:spPr>
          <a:xfrm>
            <a:off x="6094200" y="2390400"/>
            <a:ext cx="2261700" cy="408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a:solidFill>
                  <a:schemeClr val="accent1"/>
                </a:solidFill>
              </a:defRPr>
            </a:lvl1pPr>
            <a:lvl2pPr lvl="1" algn="ctr">
              <a:lnSpc>
                <a:spcPct val="100000"/>
              </a:lnSpc>
              <a:spcBef>
                <a:spcPts val="1600"/>
              </a:spcBef>
              <a:spcAft>
                <a:spcPts val="0"/>
              </a:spcAft>
              <a:buSzPts val="1400"/>
              <a:buNone/>
              <a:defRPr b="1">
                <a:solidFill>
                  <a:schemeClr val="accent1"/>
                </a:solidFill>
              </a:defRPr>
            </a:lvl2pPr>
            <a:lvl3pPr lvl="2" algn="ctr">
              <a:lnSpc>
                <a:spcPct val="100000"/>
              </a:lnSpc>
              <a:spcBef>
                <a:spcPts val="1600"/>
              </a:spcBef>
              <a:spcAft>
                <a:spcPts val="0"/>
              </a:spcAft>
              <a:buSzPts val="1400"/>
              <a:buNone/>
              <a:defRPr b="1">
                <a:solidFill>
                  <a:schemeClr val="accent1"/>
                </a:solidFill>
              </a:defRPr>
            </a:lvl3pPr>
            <a:lvl4pPr lvl="3" algn="ctr">
              <a:lnSpc>
                <a:spcPct val="100000"/>
              </a:lnSpc>
              <a:spcBef>
                <a:spcPts val="1600"/>
              </a:spcBef>
              <a:spcAft>
                <a:spcPts val="0"/>
              </a:spcAft>
              <a:buSzPts val="1400"/>
              <a:buNone/>
              <a:defRPr b="1">
                <a:solidFill>
                  <a:schemeClr val="accent1"/>
                </a:solidFill>
              </a:defRPr>
            </a:lvl4pPr>
            <a:lvl5pPr lvl="4" algn="ctr">
              <a:lnSpc>
                <a:spcPct val="100000"/>
              </a:lnSpc>
              <a:spcBef>
                <a:spcPts val="1600"/>
              </a:spcBef>
              <a:spcAft>
                <a:spcPts val="0"/>
              </a:spcAft>
              <a:buSzPts val="1400"/>
              <a:buNone/>
              <a:defRPr b="1">
                <a:solidFill>
                  <a:schemeClr val="accent1"/>
                </a:solidFill>
              </a:defRPr>
            </a:lvl5pPr>
            <a:lvl6pPr lvl="5" algn="ctr">
              <a:lnSpc>
                <a:spcPct val="100000"/>
              </a:lnSpc>
              <a:spcBef>
                <a:spcPts val="1600"/>
              </a:spcBef>
              <a:spcAft>
                <a:spcPts val="0"/>
              </a:spcAft>
              <a:buSzPts val="1400"/>
              <a:buNone/>
              <a:defRPr b="1">
                <a:solidFill>
                  <a:schemeClr val="accent1"/>
                </a:solidFill>
              </a:defRPr>
            </a:lvl6pPr>
            <a:lvl7pPr lvl="6" algn="ctr">
              <a:lnSpc>
                <a:spcPct val="100000"/>
              </a:lnSpc>
              <a:spcBef>
                <a:spcPts val="1600"/>
              </a:spcBef>
              <a:spcAft>
                <a:spcPts val="0"/>
              </a:spcAft>
              <a:buSzPts val="1400"/>
              <a:buNone/>
              <a:defRPr b="1">
                <a:solidFill>
                  <a:schemeClr val="accent1"/>
                </a:solidFill>
              </a:defRPr>
            </a:lvl7pPr>
            <a:lvl8pPr lvl="7" algn="ctr">
              <a:lnSpc>
                <a:spcPct val="100000"/>
              </a:lnSpc>
              <a:spcBef>
                <a:spcPts val="1600"/>
              </a:spcBef>
              <a:spcAft>
                <a:spcPts val="0"/>
              </a:spcAft>
              <a:buSzPts val="1400"/>
              <a:buNone/>
              <a:defRPr b="1">
                <a:solidFill>
                  <a:schemeClr val="accent1"/>
                </a:solidFill>
              </a:defRPr>
            </a:lvl8pPr>
            <a:lvl9pPr lvl="8" algn="ctr">
              <a:lnSpc>
                <a:spcPct val="100000"/>
              </a:lnSpc>
              <a:spcBef>
                <a:spcPts val="1600"/>
              </a:spcBef>
              <a:spcAft>
                <a:spcPts val="1600"/>
              </a:spcAft>
              <a:buSzPts val="1400"/>
              <a:buNone/>
              <a:defRPr b="1">
                <a:solidFill>
                  <a:schemeClr val="accent1"/>
                </a:solidFill>
              </a:defRPr>
            </a:lvl9pPr>
          </a:lstStyle>
          <a:p/>
        </p:txBody>
      </p:sp>
      <p:sp>
        <p:nvSpPr>
          <p:cNvPr id="27" name="Google Shape;27;p49"/>
          <p:cNvSpPr txBox="1"/>
          <p:nvPr>
            <p:ph idx="6" type="subTitle"/>
          </p:nvPr>
        </p:nvSpPr>
        <p:spPr>
          <a:xfrm>
            <a:off x="6094200" y="2765850"/>
            <a:ext cx="2261700" cy="723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solidFill>
                  <a:schemeClr val="dk1"/>
                </a:solidFill>
              </a:defRPr>
            </a:lvl1pPr>
            <a:lvl2pPr lvl="1" algn="ctr">
              <a:lnSpc>
                <a:spcPct val="100000"/>
              </a:lnSpc>
              <a:spcBef>
                <a:spcPts val="1600"/>
              </a:spcBef>
              <a:spcAft>
                <a:spcPts val="0"/>
              </a:spcAft>
              <a:buSzPts val="1400"/>
              <a:buNone/>
              <a:defRPr sz="1400">
                <a:solidFill>
                  <a:schemeClr val="dk1"/>
                </a:solidFill>
              </a:defRPr>
            </a:lvl2pPr>
            <a:lvl3pPr lvl="2" algn="ctr">
              <a:lnSpc>
                <a:spcPct val="100000"/>
              </a:lnSpc>
              <a:spcBef>
                <a:spcPts val="1600"/>
              </a:spcBef>
              <a:spcAft>
                <a:spcPts val="0"/>
              </a:spcAft>
              <a:buSzPts val="1400"/>
              <a:buNone/>
              <a:defRPr sz="1400">
                <a:solidFill>
                  <a:schemeClr val="dk1"/>
                </a:solidFill>
              </a:defRPr>
            </a:lvl3pPr>
            <a:lvl4pPr lvl="3" algn="ctr">
              <a:lnSpc>
                <a:spcPct val="100000"/>
              </a:lnSpc>
              <a:spcBef>
                <a:spcPts val="1600"/>
              </a:spcBef>
              <a:spcAft>
                <a:spcPts val="0"/>
              </a:spcAft>
              <a:buSzPts val="1400"/>
              <a:buNone/>
              <a:defRPr sz="1400">
                <a:solidFill>
                  <a:schemeClr val="dk1"/>
                </a:solidFill>
              </a:defRPr>
            </a:lvl4pPr>
            <a:lvl5pPr lvl="4" algn="ctr">
              <a:lnSpc>
                <a:spcPct val="100000"/>
              </a:lnSpc>
              <a:spcBef>
                <a:spcPts val="1600"/>
              </a:spcBef>
              <a:spcAft>
                <a:spcPts val="0"/>
              </a:spcAft>
              <a:buSzPts val="1400"/>
              <a:buNone/>
              <a:defRPr sz="1400">
                <a:solidFill>
                  <a:schemeClr val="dk1"/>
                </a:solidFill>
              </a:defRPr>
            </a:lvl5pPr>
            <a:lvl6pPr lvl="5" algn="ctr">
              <a:lnSpc>
                <a:spcPct val="100000"/>
              </a:lnSpc>
              <a:spcBef>
                <a:spcPts val="1600"/>
              </a:spcBef>
              <a:spcAft>
                <a:spcPts val="0"/>
              </a:spcAft>
              <a:buSzPts val="1400"/>
              <a:buNone/>
              <a:defRPr sz="1400">
                <a:solidFill>
                  <a:schemeClr val="dk1"/>
                </a:solidFill>
              </a:defRPr>
            </a:lvl6pPr>
            <a:lvl7pPr lvl="6" algn="ctr">
              <a:lnSpc>
                <a:spcPct val="100000"/>
              </a:lnSpc>
              <a:spcBef>
                <a:spcPts val="1600"/>
              </a:spcBef>
              <a:spcAft>
                <a:spcPts val="0"/>
              </a:spcAft>
              <a:buSzPts val="1400"/>
              <a:buNone/>
              <a:defRPr sz="1400">
                <a:solidFill>
                  <a:schemeClr val="dk1"/>
                </a:solidFill>
              </a:defRPr>
            </a:lvl7pPr>
            <a:lvl8pPr lvl="7" algn="ctr">
              <a:lnSpc>
                <a:spcPct val="100000"/>
              </a:lnSpc>
              <a:spcBef>
                <a:spcPts val="1600"/>
              </a:spcBef>
              <a:spcAft>
                <a:spcPts val="0"/>
              </a:spcAft>
              <a:buSzPts val="1400"/>
              <a:buNone/>
              <a:defRPr sz="1400">
                <a:solidFill>
                  <a:schemeClr val="dk1"/>
                </a:solidFill>
              </a:defRPr>
            </a:lvl8pPr>
            <a:lvl9pPr lvl="8" algn="ctr">
              <a:lnSpc>
                <a:spcPct val="100000"/>
              </a:lnSpc>
              <a:spcBef>
                <a:spcPts val="1600"/>
              </a:spcBef>
              <a:spcAft>
                <a:spcPts val="1600"/>
              </a:spcAft>
              <a:buSzPts val="1400"/>
              <a:buNone/>
              <a:defRPr sz="1400">
                <a:solidFill>
                  <a:schemeClr val="dk1"/>
                </a:solidFill>
              </a:defRPr>
            </a:lvl9pPr>
          </a:lstStyle>
          <a:p/>
        </p:txBody>
      </p:sp>
      <p:sp>
        <p:nvSpPr>
          <p:cNvPr id="28" name="Google Shape;28;p49"/>
          <p:cNvSpPr/>
          <p:nvPr/>
        </p:nvSpPr>
        <p:spPr>
          <a:xfrm flipH="1">
            <a:off x="4572000" y="4834275"/>
            <a:ext cx="4572000" cy="309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9"/>
          <p:cNvSpPr/>
          <p:nvPr/>
        </p:nvSpPr>
        <p:spPr>
          <a:xfrm flipH="1">
            <a:off x="50" y="4834275"/>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4" name="Shape 3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1pPr>
            <a:lvl2pPr lvl="1"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2pPr>
            <a:lvl3pPr lvl="2"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3pPr>
            <a:lvl4pPr lvl="3"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4pPr>
            <a:lvl5pPr lvl="4"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5pPr>
            <a:lvl6pPr lvl="5"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6pPr>
            <a:lvl7pPr lvl="6"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7pPr>
            <a:lvl8pPr lvl="7"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8pPr>
            <a:lvl9pPr lvl="8"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9pPr>
          </a:lstStyle>
          <a:p/>
        </p:txBody>
      </p:sp>
      <p:sp>
        <p:nvSpPr>
          <p:cNvPr id="7" name="Google Shape;7;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00000"/>
              </a:lnSpc>
              <a:spcBef>
                <a:spcPts val="0"/>
              </a:spcBef>
              <a:spcAft>
                <a:spcPts val="0"/>
              </a:spcAft>
              <a:buClr>
                <a:schemeClr val="dk2"/>
              </a:buClr>
              <a:buSzPts val="1800"/>
              <a:buFont typeface="Montserrat"/>
              <a:buChar char="●"/>
              <a:defRPr b="0" i="0" sz="1800" u="none" cap="none" strike="noStrike">
                <a:solidFill>
                  <a:schemeClr val="dk2"/>
                </a:solidFill>
                <a:latin typeface="Montserrat"/>
                <a:ea typeface="Montserrat"/>
                <a:cs typeface="Montserrat"/>
                <a:sym typeface="Montserrat"/>
              </a:defRPr>
            </a:lvl1pPr>
            <a:lvl2pPr indent="-317500" lvl="1" marL="914400" marR="0" rtl="0" algn="l">
              <a:lnSpc>
                <a:spcPct val="100000"/>
              </a:lnSpc>
              <a:spcBef>
                <a:spcPts val="160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2pPr>
            <a:lvl3pPr indent="-317500" lvl="2" marL="1371600" marR="0" rtl="0" algn="l">
              <a:lnSpc>
                <a:spcPct val="100000"/>
              </a:lnSpc>
              <a:spcBef>
                <a:spcPts val="160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3pPr>
            <a:lvl4pPr indent="-317500" lvl="3" marL="1828800" marR="0" rtl="0" algn="l">
              <a:lnSpc>
                <a:spcPct val="100000"/>
              </a:lnSpc>
              <a:spcBef>
                <a:spcPts val="160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4pPr>
            <a:lvl5pPr indent="-317500" lvl="4" marL="2286000" marR="0" rtl="0" algn="l">
              <a:lnSpc>
                <a:spcPct val="100000"/>
              </a:lnSpc>
              <a:spcBef>
                <a:spcPts val="160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5pPr>
            <a:lvl6pPr indent="-317500" lvl="5" marL="2743200" marR="0" rtl="0" algn="l">
              <a:lnSpc>
                <a:spcPct val="100000"/>
              </a:lnSpc>
              <a:spcBef>
                <a:spcPts val="160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6pPr>
            <a:lvl7pPr indent="-317500" lvl="6" marL="3200400" marR="0" rtl="0" algn="l">
              <a:lnSpc>
                <a:spcPct val="100000"/>
              </a:lnSpc>
              <a:spcBef>
                <a:spcPts val="160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7pPr>
            <a:lvl8pPr indent="-317500" lvl="7" marL="3657600" marR="0" rtl="0" algn="l">
              <a:lnSpc>
                <a:spcPct val="100000"/>
              </a:lnSpc>
              <a:spcBef>
                <a:spcPts val="160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8pPr>
            <a:lvl9pPr indent="-317500" lvl="8" marL="4114800" marR="0" rtl="0" algn="l">
              <a:lnSpc>
                <a:spcPct val="100000"/>
              </a:lnSpc>
              <a:spcBef>
                <a:spcPts val="1600"/>
              </a:spcBef>
              <a:spcAft>
                <a:spcPts val="160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31" name="Shape 31"/>
        <p:cNvGrpSpPr/>
        <p:nvPr/>
      </p:nvGrpSpPr>
      <p:grpSpPr>
        <a:xfrm>
          <a:off x="0" y="0"/>
          <a:ext cx="0" cy="0"/>
          <a:chOff x="0" y="0"/>
          <a:chExt cx="0" cy="0"/>
        </a:xfrm>
      </p:grpSpPr>
      <p:sp>
        <p:nvSpPr>
          <p:cNvPr id="32" name="Google Shape;32;p50"/>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1pPr>
            <a:lvl2pPr lvl="1"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2pPr>
            <a:lvl3pPr lvl="2"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3pPr>
            <a:lvl4pPr lvl="3"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4pPr>
            <a:lvl5pPr lvl="4"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5pPr>
            <a:lvl6pPr lvl="5"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6pPr>
            <a:lvl7pPr lvl="6"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7pPr>
            <a:lvl8pPr lvl="7"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8pPr>
            <a:lvl9pPr lvl="8"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9pPr>
          </a:lstStyle>
          <a:p/>
        </p:txBody>
      </p:sp>
      <p:sp>
        <p:nvSpPr>
          <p:cNvPr id="33" name="Google Shape;33;p50"/>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1pPr>
            <a:lvl2pPr indent="-298450" lvl="1" marL="9144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2pPr>
            <a:lvl3pPr indent="-298450" lvl="2" marL="13716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3pPr>
            <a:lvl4pPr indent="-298450" lvl="3" marL="18288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4pPr>
            <a:lvl5pPr indent="-298450" lvl="4" marL="22860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5pPr>
            <a:lvl6pPr indent="-298450" lvl="5" marL="27432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6pPr>
            <a:lvl7pPr indent="-298450" lvl="6" marL="32004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7pPr>
            <a:lvl8pPr indent="-298450" lvl="7" marL="36576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8pPr>
            <a:lvl9pPr indent="-298450" lvl="8" marL="41148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5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12.png"/><Relationship Id="rId4" Type="http://schemas.openxmlformats.org/officeDocument/2006/relationships/image" Target="../media/image29.png"/><Relationship Id="rId5" Type="http://schemas.openxmlformats.org/officeDocument/2006/relationships/image" Target="../media/image17.png"/><Relationship Id="rId6"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2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2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1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2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2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2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2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23.png"/><Relationship Id="rId4" Type="http://schemas.openxmlformats.org/officeDocument/2006/relationships/image" Target="../media/image3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3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 Id="rId3" Type="http://schemas.openxmlformats.org/officeDocument/2006/relationships/hyperlink" Target="http://bit.ly/2PfT4lq" TargetMode="Externa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p1"/>
          <p:cNvSpPr txBox="1"/>
          <p:nvPr>
            <p:ph type="ctrTitle"/>
          </p:nvPr>
        </p:nvSpPr>
        <p:spPr>
          <a:xfrm>
            <a:off x="1643858" y="1172225"/>
            <a:ext cx="6770700" cy="20526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SzPts val="5200"/>
              <a:buNone/>
            </a:pPr>
            <a:r>
              <a:rPr lang="es-ES">
                <a:solidFill>
                  <a:schemeClr val="accent1"/>
                </a:solidFill>
              </a:rPr>
              <a:t>Lógica de proposiciones</a:t>
            </a:r>
            <a:endParaRPr>
              <a:solidFill>
                <a:srgbClr val="4A8CFF"/>
              </a:solidFill>
            </a:endParaRPr>
          </a:p>
        </p:txBody>
      </p:sp>
      <p:sp>
        <p:nvSpPr>
          <p:cNvPr id="40" name="Google Shape;40;p1"/>
          <p:cNvSpPr txBox="1"/>
          <p:nvPr>
            <p:ph idx="1" type="subTitle"/>
          </p:nvPr>
        </p:nvSpPr>
        <p:spPr>
          <a:xfrm>
            <a:off x="1643852" y="3261775"/>
            <a:ext cx="6770700" cy="5571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es-ES"/>
              <a:t>Tablas de verdad, álgebra de Boole, Agente Basado en Conocimiento</a:t>
            </a:r>
            <a:endParaRPr/>
          </a:p>
          <a:p>
            <a:pPr indent="0" lvl="0" marL="0" rtl="0" algn="r">
              <a:lnSpc>
                <a:spcPct val="100000"/>
              </a:lnSpc>
              <a:spcBef>
                <a:spcPts val="0"/>
              </a:spcBef>
              <a:spcAft>
                <a:spcPts val="0"/>
              </a:spcAft>
              <a:buSzPts val="2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 name="Shape 44"/>
        <p:cNvGrpSpPr/>
        <p:nvPr/>
      </p:nvGrpSpPr>
      <p:grpSpPr>
        <a:xfrm>
          <a:off x="0" y="0"/>
          <a:ext cx="0" cy="0"/>
          <a:chOff x="0" y="0"/>
          <a:chExt cx="0" cy="0"/>
        </a:xfrm>
      </p:grpSpPr>
      <p:sp>
        <p:nvSpPr>
          <p:cNvPr id="45" name="Google Shape;45;p2"/>
          <p:cNvSpPr txBox="1"/>
          <p:nvPr>
            <p:ph type="title"/>
          </p:nvPr>
        </p:nvSpPr>
        <p:spPr>
          <a:xfrm>
            <a:off x="713225" y="151911"/>
            <a:ext cx="77175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s-ES"/>
              <a:t>Ejemplo de clase</a:t>
            </a:r>
            <a:endParaRPr/>
          </a:p>
        </p:txBody>
      </p:sp>
      <p:sp>
        <p:nvSpPr>
          <p:cNvPr id="46" name="Google Shape;46;p2"/>
          <p:cNvSpPr txBox="1"/>
          <p:nvPr>
            <p:ph idx="1" type="body"/>
          </p:nvPr>
        </p:nvSpPr>
        <p:spPr>
          <a:xfrm>
            <a:off x="713225" y="927657"/>
            <a:ext cx="7717500" cy="2984096"/>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Programa que diga si el número decimal ingresado pertenece al intervalo [3, 8]</a:t>
            </a:r>
            <a:endParaRPr/>
          </a:p>
          <a:p>
            <a:pPr indent="0" lvl="0" marL="0" rtl="0" algn="just">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INICIO</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Definir numero : DECIMAL</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Escribir “Ingrese un número decimal”</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Lea numero </a:t>
            </a:r>
            <a:r>
              <a:rPr lang="es-ES" sz="1400">
                <a:solidFill>
                  <a:srgbClr val="FF0000"/>
                </a:solidFill>
                <a:latin typeface="Arial"/>
                <a:ea typeface="Arial"/>
                <a:cs typeface="Arial"/>
                <a:sym typeface="Arial"/>
              </a:rPr>
              <a:t>–&gt; 10,5</a:t>
            </a:r>
            <a:endParaRPr sz="1400">
              <a:solidFill>
                <a:schemeClr val="dk1"/>
              </a:solidFill>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INICIO SI</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SI (</a:t>
            </a:r>
            <a:r>
              <a:rPr lang="es-ES" sz="1400">
                <a:solidFill>
                  <a:srgbClr val="00B050"/>
                </a:solidFill>
                <a:latin typeface="Arial"/>
                <a:ea typeface="Arial"/>
                <a:cs typeface="Arial"/>
                <a:sym typeface="Arial"/>
              </a:rPr>
              <a:t>numero &gt;= 3</a:t>
            </a:r>
            <a:r>
              <a:rPr lang="es-ES" sz="1400">
                <a:solidFill>
                  <a:schemeClr val="dk1"/>
                </a:solidFill>
                <a:latin typeface="Arial"/>
                <a:ea typeface="Arial"/>
                <a:cs typeface="Arial"/>
                <a:sym typeface="Arial"/>
              </a:rPr>
              <a:t>) </a:t>
            </a:r>
            <a:r>
              <a:rPr b="1" lang="es-ES" sz="1400">
                <a:solidFill>
                  <a:schemeClr val="dk1"/>
                </a:solidFill>
                <a:latin typeface="Arial"/>
                <a:ea typeface="Arial"/>
                <a:cs typeface="Arial"/>
                <a:sym typeface="Arial"/>
              </a:rPr>
              <a:t>&amp;</a:t>
            </a:r>
            <a:r>
              <a:rPr lang="es-ES" sz="1400">
                <a:solidFill>
                  <a:schemeClr val="dk1"/>
                </a:solidFill>
                <a:latin typeface="Arial"/>
                <a:ea typeface="Arial"/>
                <a:cs typeface="Arial"/>
                <a:sym typeface="Arial"/>
              </a:rPr>
              <a:t> (</a:t>
            </a:r>
            <a:r>
              <a:rPr lang="es-ES" sz="1400">
                <a:solidFill>
                  <a:srgbClr val="FF0000"/>
                </a:solidFill>
                <a:latin typeface="Arial"/>
                <a:ea typeface="Arial"/>
                <a:cs typeface="Arial"/>
                <a:sym typeface="Arial"/>
              </a:rPr>
              <a:t>numero &lt;= 8</a:t>
            </a:r>
            <a:r>
              <a:rPr lang="es-ES" sz="1400">
                <a:solidFill>
                  <a:schemeClr val="dk1"/>
                </a:solidFill>
                <a:latin typeface="Arial"/>
                <a:ea typeface="Arial"/>
                <a:cs typeface="Arial"/>
                <a:sym typeface="Arial"/>
              </a:rPr>
              <a:t>) Entonces:</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Escribir “Número pertenece al intervalo [3, 8]”</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SINO</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Escribir “Número NO pertenece al intervalo [3, 8]”</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FIN SI</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FIN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 name="Shape 50"/>
        <p:cNvGrpSpPr/>
        <p:nvPr/>
      </p:nvGrpSpPr>
      <p:grpSpPr>
        <a:xfrm>
          <a:off x="0" y="0"/>
          <a:ext cx="0" cy="0"/>
          <a:chOff x="0" y="0"/>
          <a:chExt cx="0" cy="0"/>
        </a:xfrm>
      </p:grpSpPr>
      <p:sp>
        <p:nvSpPr>
          <p:cNvPr id="51" name="Google Shape;51;p3"/>
          <p:cNvSpPr txBox="1"/>
          <p:nvPr>
            <p:ph type="title"/>
          </p:nvPr>
        </p:nvSpPr>
        <p:spPr>
          <a:xfrm>
            <a:off x="713225" y="151911"/>
            <a:ext cx="77175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s-ES"/>
              <a:t>Ejemplo de clase</a:t>
            </a:r>
            <a:endParaRPr/>
          </a:p>
        </p:txBody>
      </p:sp>
      <p:sp>
        <p:nvSpPr>
          <p:cNvPr id="52" name="Google Shape;52;p3"/>
          <p:cNvSpPr txBox="1"/>
          <p:nvPr>
            <p:ph idx="1" type="body"/>
          </p:nvPr>
        </p:nvSpPr>
        <p:spPr>
          <a:xfrm>
            <a:off x="713225" y="927657"/>
            <a:ext cx="7717500" cy="2984096"/>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Programa que diga si el número decimal ingresado pertenece al intervalo [3, 8]</a:t>
            </a:r>
            <a:endParaRPr/>
          </a:p>
          <a:p>
            <a:pPr indent="0" lvl="0" marL="0" rtl="0" algn="just">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INICIO</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Definir numero : DECIMAL</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Escribir “Ingrese un número decimal”</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Lea numero </a:t>
            </a:r>
            <a:r>
              <a:rPr lang="es-ES" sz="1400">
                <a:solidFill>
                  <a:srgbClr val="FF0000"/>
                </a:solidFill>
                <a:latin typeface="Arial"/>
                <a:ea typeface="Arial"/>
                <a:cs typeface="Arial"/>
                <a:sym typeface="Arial"/>
              </a:rPr>
              <a:t>–&gt; 10,5</a:t>
            </a:r>
            <a:endParaRPr sz="1400">
              <a:solidFill>
                <a:schemeClr val="dk1"/>
              </a:solidFill>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INICIO SI</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SI (</a:t>
            </a:r>
            <a:r>
              <a:rPr lang="es-ES" sz="1400">
                <a:solidFill>
                  <a:srgbClr val="00B050"/>
                </a:solidFill>
                <a:latin typeface="Arial"/>
                <a:ea typeface="Arial"/>
                <a:cs typeface="Arial"/>
                <a:sym typeface="Arial"/>
              </a:rPr>
              <a:t>numero &gt;= 3</a:t>
            </a:r>
            <a:r>
              <a:rPr lang="es-ES" sz="1400">
                <a:solidFill>
                  <a:schemeClr val="dk1"/>
                </a:solidFill>
                <a:latin typeface="Arial"/>
                <a:ea typeface="Arial"/>
                <a:cs typeface="Arial"/>
                <a:sym typeface="Arial"/>
              </a:rPr>
              <a:t>) </a:t>
            </a:r>
            <a:r>
              <a:rPr b="1" lang="es-ES" sz="1400">
                <a:solidFill>
                  <a:schemeClr val="dk1"/>
                </a:solidFill>
                <a:latin typeface="Arial"/>
                <a:ea typeface="Arial"/>
                <a:cs typeface="Arial"/>
                <a:sym typeface="Arial"/>
              </a:rPr>
              <a:t>&amp;</a:t>
            </a:r>
            <a:r>
              <a:rPr lang="es-ES" sz="1400">
                <a:solidFill>
                  <a:schemeClr val="dk1"/>
                </a:solidFill>
                <a:latin typeface="Arial"/>
                <a:ea typeface="Arial"/>
                <a:cs typeface="Arial"/>
                <a:sym typeface="Arial"/>
              </a:rPr>
              <a:t> (</a:t>
            </a:r>
            <a:r>
              <a:rPr lang="es-ES" sz="1400">
                <a:solidFill>
                  <a:srgbClr val="FF0000"/>
                </a:solidFill>
                <a:latin typeface="Arial"/>
                <a:ea typeface="Arial"/>
                <a:cs typeface="Arial"/>
                <a:sym typeface="Arial"/>
              </a:rPr>
              <a:t>numero &lt;= 8</a:t>
            </a:r>
            <a:r>
              <a:rPr lang="es-ES" sz="1400">
                <a:solidFill>
                  <a:schemeClr val="dk1"/>
                </a:solidFill>
                <a:latin typeface="Arial"/>
                <a:ea typeface="Arial"/>
                <a:cs typeface="Arial"/>
                <a:sym typeface="Arial"/>
              </a:rPr>
              <a:t>) Entonces:</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Escribir “Número pertenece al intervalo [3, 8]”</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SINO</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Escribir “Número NO pertenece al intervalo [3, 8]”</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   FIN SI</a:t>
            </a:r>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latin typeface="Arial"/>
                <a:ea typeface="Arial"/>
                <a:cs typeface="Arial"/>
                <a:sym typeface="Arial"/>
              </a:rPr>
              <a:t>FIN</a:t>
            </a:r>
            <a:endParaRPr/>
          </a:p>
        </p:txBody>
      </p:sp>
      <p:sp>
        <p:nvSpPr>
          <p:cNvPr id="53" name="Google Shape;53;p3"/>
          <p:cNvSpPr txBox="1"/>
          <p:nvPr/>
        </p:nvSpPr>
        <p:spPr>
          <a:xfrm>
            <a:off x="713225" y="4040903"/>
            <a:ext cx="7717500" cy="950686"/>
          </a:xfrm>
          <a:prstGeom prst="rect">
            <a:avLst/>
          </a:prstGeom>
          <a:blipFill rotWithShape="1">
            <a:blip r:embed="rId3">
              <a:alphaModFix/>
            </a:blip>
            <a:stretch>
              <a:fillRect b="-1247"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4"/>
          <p:cNvSpPr txBox="1"/>
          <p:nvPr>
            <p:ph type="title"/>
          </p:nvPr>
        </p:nvSpPr>
        <p:spPr>
          <a:xfrm>
            <a:off x="713225" y="384048"/>
            <a:ext cx="77175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s-ES"/>
              <a:t>Objetivos generales</a:t>
            </a:r>
            <a:endParaRPr/>
          </a:p>
        </p:txBody>
      </p:sp>
      <p:sp>
        <p:nvSpPr>
          <p:cNvPr id="59" name="Google Shape;59;p4"/>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rPr>
              <a:t>Presentar intuitivamente los principios del razonamiento lógico e introducir los conceptos de teorema y demostración matemática en ámbitos variados; particularmente en:</a:t>
            </a:r>
            <a:endParaRPr/>
          </a:p>
          <a:p>
            <a:pPr indent="0" lvl="0" marL="0" rtl="0" algn="just">
              <a:lnSpc>
                <a:spcPct val="100000"/>
              </a:lnSpc>
              <a:spcBef>
                <a:spcPts val="0"/>
              </a:spcBef>
              <a:spcAft>
                <a:spcPts val="0"/>
              </a:spcAft>
              <a:buClr>
                <a:schemeClr val="dk1"/>
              </a:buClr>
              <a:buSzPts val="1100"/>
              <a:buFont typeface="Arial"/>
              <a:buNone/>
            </a:pPr>
            <a:r>
              <a:t/>
            </a:r>
            <a:endParaRPr sz="1400">
              <a:solidFill>
                <a:schemeClr val="dk1"/>
              </a:solidFill>
            </a:endParaRPr>
          </a:p>
          <a:p>
            <a:pPr indent="-285750" lvl="0" marL="285750" rtl="0" algn="just">
              <a:lnSpc>
                <a:spcPct val="100000"/>
              </a:lnSpc>
              <a:spcBef>
                <a:spcPts val="0"/>
              </a:spcBef>
              <a:spcAft>
                <a:spcPts val="0"/>
              </a:spcAft>
              <a:buClr>
                <a:schemeClr val="dk1"/>
              </a:buClr>
              <a:buSzPts val="1100"/>
              <a:buChar char="●"/>
            </a:pPr>
            <a:r>
              <a:rPr lang="es-ES" sz="1400">
                <a:solidFill>
                  <a:schemeClr val="dk1"/>
                </a:solidFill>
              </a:rPr>
              <a:t>La lógica simbólica (o modelo de los enunciados)</a:t>
            </a:r>
            <a:endParaRPr/>
          </a:p>
          <a:p>
            <a:pPr indent="-215900" lvl="0" marL="285750" rtl="0" algn="just">
              <a:lnSpc>
                <a:spcPct val="100000"/>
              </a:lnSpc>
              <a:spcBef>
                <a:spcPts val="0"/>
              </a:spcBef>
              <a:spcAft>
                <a:spcPts val="0"/>
              </a:spcAft>
              <a:buClr>
                <a:schemeClr val="dk1"/>
              </a:buClr>
              <a:buSzPts val="1100"/>
              <a:buNone/>
            </a:pPr>
            <a:r>
              <a:t/>
            </a:r>
            <a:endParaRPr sz="1400">
              <a:solidFill>
                <a:schemeClr val="dk1"/>
              </a:solidFill>
            </a:endParaRPr>
          </a:p>
          <a:p>
            <a:pPr indent="-285750" lvl="0" marL="285750" rtl="0" algn="just">
              <a:lnSpc>
                <a:spcPct val="100000"/>
              </a:lnSpc>
              <a:spcBef>
                <a:spcPts val="0"/>
              </a:spcBef>
              <a:spcAft>
                <a:spcPts val="0"/>
              </a:spcAft>
              <a:buClr>
                <a:schemeClr val="dk1"/>
              </a:buClr>
              <a:buSzPts val="1100"/>
              <a:buChar char="●"/>
            </a:pPr>
            <a:r>
              <a:rPr lang="es-ES" sz="1400">
                <a:solidFill>
                  <a:schemeClr val="dk1"/>
                </a:solidFill>
              </a:rPr>
              <a:t>La teoría de conjunto (o modelo cualitativo del universo)</a:t>
            </a:r>
            <a:endParaRPr/>
          </a:p>
          <a:p>
            <a:pPr indent="-215900" lvl="0" marL="285750" rtl="0" algn="just">
              <a:lnSpc>
                <a:spcPct val="100000"/>
              </a:lnSpc>
              <a:spcBef>
                <a:spcPts val="0"/>
              </a:spcBef>
              <a:spcAft>
                <a:spcPts val="0"/>
              </a:spcAft>
              <a:buClr>
                <a:schemeClr val="dk1"/>
              </a:buClr>
              <a:buSzPts val="1100"/>
              <a:buNone/>
            </a:pPr>
            <a:r>
              <a:t/>
            </a:r>
            <a:endParaRPr sz="1400">
              <a:solidFill>
                <a:schemeClr val="dk1"/>
              </a:solidFill>
            </a:endParaRPr>
          </a:p>
          <a:p>
            <a:pPr indent="-285750" lvl="0" marL="285750" rtl="0" algn="just">
              <a:lnSpc>
                <a:spcPct val="100000"/>
              </a:lnSpc>
              <a:spcBef>
                <a:spcPts val="0"/>
              </a:spcBef>
              <a:spcAft>
                <a:spcPts val="0"/>
              </a:spcAft>
              <a:buClr>
                <a:schemeClr val="dk1"/>
              </a:buClr>
              <a:buSzPts val="1100"/>
              <a:buChar char="●"/>
            </a:pPr>
            <a:r>
              <a:rPr lang="es-ES" sz="1400">
                <a:solidFill>
                  <a:schemeClr val="dk1"/>
                </a:solidFill>
              </a:rPr>
              <a:t>Los conjuntos numéricos conocidos.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5"/>
          <p:cNvSpPr txBox="1"/>
          <p:nvPr>
            <p:ph type="title"/>
          </p:nvPr>
        </p:nvSpPr>
        <p:spPr>
          <a:xfrm>
            <a:off x="713225" y="384048"/>
            <a:ext cx="77175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s-ES"/>
              <a:t>Introducción</a:t>
            </a:r>
            <a:endParaRPr/>
          </a:p>
        </p:txBody>
      </p:sp>
      <p:sp>
        <p:nvSpPr>
          <p:cNvPr id="65" name="Google Shape;65;p5"/>
          <p:cNvSpPr txBox="1"/>
          <p:nvPr>
            <p:ph idx="1" type="body"/>
          </p:nvPr>
        </p:nvSpPr>
        <p:spPr>
          <a:xfrm>
            <a:off x="713225" y="1152475"/>
            <a:ext cx="5539500" cy="3416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just">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rPr>
              <a:t>La matemática estudia las propiedades de ciertos objetos, tales como números, operaciones, conjuntos, etc.</a:t>
            </a:r>
            <a:endParaRPr/>
          </a:p>
          <a:p>
            <a:pPr indent="0" lvl="0" marL="0" rtl="0" algn="just">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rPr>
              <a:t>Es necesario por lo tanto contar con un lenguaje apropiado para expresar estas propiedades de manera precisa.</a:t>
            </a:r>
            <a:endParaRPr/>
          </a:p>
          <a:p>
            <a:pPr indent="0" lvl="0" marL="0" rtl="0" algn="just">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rPr>
              <a:t>Desarrollaremos aquí un lenguaje que cumpla estos requisitos, al cuál llamaremos lenguaje matemático.</a:t>
            </a:r>
            <a:endParaRPr sz="1400">
              <a:solidFill>
                <a:schemeClr val="dk1"/>
              </a:solidFill>
            </a:endParaRPr>
          </a:p>
        </p:txBody>
      </p:sp>
      <p:pic>
        <p:nvPicPr>
          <p:cNvPr id="66" name="Google Shape;66;p5"/>
          <p:cNvPicPr preferRelativeResize="0"/>
          <p:nvPr/>
        </p:nvPicPr>
        <p:blipFill>
          <a:blip r:embed="rId3">
            <a:alphaModFix/>
          </a:blip>
          <a:stretch>
            <a:fillRect/>
          </a:stretch>
        </p:blipFill>
        <p:spPr>
          <a:xfrm>
            <a:off x="6146525" y="1425350"/>
            <a:ext cx="2528750" cy="2528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6"/>
          <p:cNvSpPr txBox="1"/>
          <p:nvPr>
            <p:ph type="title"/>
          </p:nvPr>
        </p:nvSpPr>
        <p:spPr>
          <a:xfrm>
            <a:off x="713225" y="384048"/>
            <a:ext cx="77175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s-ES"/>
              <a:t>Lenguaje matemático</a:t>
            </a:r>
            <a:endParaRPr/>
          </a:p>
        </p:txBody>
      </p:sp>
      <p:sp>
        <p:nvSpPr>
          <p:cNvPr id="72" name="Google Shape;72;p6"/>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rPr>
              <a:t>El lenguaje matemático está formado por una parte del lenguaje natural, al cuál se le agregan variables y símbolos lógicos que permiten una interpretación precisa de cada frase.</a:t>
            </a:r>
            <a:endParaRPr sz="1400">
              <a:solidFill>
                <a:schemeClr val="dk1"/>
              </a:solidFill>
            </a:endParaRPr>
          </a:p>
        </p:txBody>
      </p:sp>
      <p:pic>
        <p:nvPicPr>
          <p:cNvPr id="73" name="Google Shape;73;p6"/>
          <p:cNvPicPr preferRelativeResize="0"/>
          <p:nvPr/>
        </p:nvPicPr>
        <p:blipFill>
          <a:blip r:embed="rId3">
            <a:alphaModFix/>
          </a:blip>
          <a:stretch>
            <a:fillRect/>
          </a:stretch>
        </p:blipFill>
        <p:spPr>
          <a:xfrm>
            <a:off x="3580925" y="2319875"/>
            <a:ext cx="1982100" cy="1982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7"/>
          <p:cNvSpPr txBox="1"/>
          <p:nvPr>
            <p:ph type="title"/>
          </p:nvPr>
        </p:nvSpPr>
        <p:spPr>
          <a:xfrm>
            <a:off x="713225" y="384048"/>
            <a:ext cx="77175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s-ES"/>
              <a:t>Proposiciones</a:t>
            </a:r>
            <a:endParaRPr/>
          </a:p>
        </p:txBody>
      </p:sp>
      <p:sp>
        <p:nvSpPr>
          <p:cNvPr id="79" name="Google Shape;79;p7"/>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lang="es-ES" sz="1400">
                <a:solidFill>
                  <a:schemeClr val="dk1"/>
                </a:solidFill>
              </a:rPr>
              <a:t>Llamaremos proposiciones a aquellas frases del lenguaje natural, las cuales podamos afirmar que son </a:t>
            </a:r>
            <a:r>
              <a:rPr b="1" lang="es-ES" sz="1400">
                <a:solidFill>
                  <a:schemeClr val="dk1"/>
                </a:solidFill>
              </a:rPr>
              <a:t>verdaderas</a:t>
            </a:r>
            <a:r>
              <a:rPr lang="es-ES" sz="1400">
                <a:solidFill>
                  <a:schemeClr val="dk1"/>
                </a:solidFill>
              </a:rPr>
              <a:t> o </a:t>
            </a:r>
            <a:r>
              <a:rPr b="1" lang="es-ES" sz="1400">
                <a:solidFill>
                  <a:schemeClr val="dk1"/>
                </a:solidFill>
              </a:rPr>
              <a:t>falsas</a:t>
            </a:r>
            <a:r>
              <a:rPr lang="es-ES" sz="1400">
                <a:solidFill>
                  <a:schemeClr val="dk1"/>
                </a:solidFill>
              </a:rPr>
              <a:t>.</a:t>
            </a:r>
            <a:endParaRPr/>
          </a:p>
          <a:p>
            <a:pPr indent="0" lvl="0" marL="0" rtl="0" algn="just">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just">
              <a:lnSpc>
                <a:spcPct val="100000"/>
              </a:lnSpc>
              <a:spcBef>
                <a:spcPts val="0"/>
              </a:spcBef>
              <a:spcAft>
                <a:spcPts val="0"/>
              </a:spcAft>
              <a:buClr>
                <a:schemeClr val="dk1"/>
              </a:buClr>
              <a:buSzPts val="1100"/>
              <a:buFont typeface="Arial"/>
              <a:buNone/>
            </a:pPr>
            <a:r>
              <a:rPr b="1" lang="es-ES" sz="1400">
                <a:solidFill>
                  <a:schemeClr val="dk1"/>
                </a:solidFill>
              </a:rPr>
              <a:t>Ejemplo de proposiciones:</a:t>
            </a:r>
            <a:endParaRPr/>
          </a:p>
          <a:p>
            <a:pPr indent="0" lvl="0" marL="0" rtl="0" algn="just">
              <a:lnSpc>
                <a:spcPct val="100000"/>
              </a:lnSpc>
              <a:spcBef>
                <a:spcPts val="0"/>
              </a:spcBef>
              <a:spcAft>
                <a:spcPts val="0"/>
              </a:spcAft>
              <a:buClr>
                <a:schemeClr val="dk1"/>
              </a:buClr>
              <a:buSzPts val="1100"/>
              <a:buFont typeface="Arial"/>
              <a:buNone/>
            </a:pPr>
            <a:r>
              <a:t/>
            </a:r>
            <a:endParaRPr b="1" sz="1400">
              <a:solidFill>
                <a:schemeClr val="dk1"/>
              </a:solidFill>
            </a:endParaRPr>
          </a:p>
          <a:p>
            <a:pPr indent="-285750" lvl="0" marL="285750" rtl="0" algn="just">
              <a:lnSpc>
                <a:spcPct val="100000"/>
              </a:lnSpc>
              <a:spcBef>
                <a:spcPts val="0"/>
              </a:spcBef>
              <a:spcAft>
                <a:spcPts val="0"/>
              </a:spcAft>
              <a:buClr>
                <a:schemeClr val="dk1"/>
              </a:buClr>
              <a:buSzPts val="1100"/>
              <a:buChar char="●"/>
            </a:pPr>
            <a:r>
              <a:rPr lang="es-ES" sz="1400">
                <a:solidFill>
                  <a:schemeClr val="dk1"/>
                </a:solidFill>
              </a:rPr>
              <a:t>Dos es número par</a:t>
            </a:r>
            <a:endParaRPr/>
          </a:p>
          <a:p>
            <a:pPr indent="-285750" lvl="0" marL="285750" rtl="0" algn="just">
              <a:lnSpc>
                <a:spcPct val="100000"/>
              </a:lnSpc>
              <a:spcBef>
                <a:spcPts val="0"/>
              </a:spcBef>
              <a:spcAft>
                <a:spcPts val="0"/>
              </a:spcAft>
              <a:buClr>
                <a:schemeClr val="dk1"/>
              </a:buClr>
              <a:buSzPts val="1100"/>
              <a:buChar char="●"/>
            </a:pPr>
            <a:r>
              <a:rPr lang="es-ES" sz="1400">
                <a:solidFill>
                  <a:schemeClr val="dk1"/>
                </a:solidFill>
              </a:rPr>
              <a:t>Tres es mayor que diez</a:t>
            </a:r>
            <a:endParaRPr/>
          </a:p>
          <a:p>
            <a:pPr indent="-285750" lvl="0" marL="285750" rtl="0" algn="just">
              <a:lnSpc>
                <a:spcPct val="100000"/>
              </a:lnSpc>
              <a:spcBef>
                <a:spcPts val="0"/>
              </a:spcBef>
              <a:spcAft>
                <a:spcPts val="0"/>
              </a:spcAft>
              <a:buClr>
                <a:schemeClr val="dk1"/>
              </a:buClr>
              <a:buSzPts val="1100"/>
              <a:buChar char="●"/>
            </a:pPr>
            <a:r>
              <a:rPr lang="es-ES" sz="1400">
                <a:solidFill>
                  <a:schemeClr val="dk1"/>
                </a:solidFill>
              </a:rPr>
              <a:t>Tres más cuatro es nueve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8"/>
          <p:cNvSpPr txBox="1"/>
          <p:nvPr>
            <p:ph idx="1" type="body"/>
          </p:nvPr>
        </p:nvSpPr>
        <p:spPr>
          <a:xfrm>
            <a:off x="1156525" y="1204686"/>
            <a:ext cx="5062846" cy="2903214"/>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ES"/>
              <a:t>Una </a:t>
            </a:r>
            <a:r>
              <a:rPr b="1" lang="es-ES"/>
              <a:t>proposición</a:t>
            </a:r>
            <a:r>
              <a:rPr lang="es-ES"/>
              <a:t> es </a:t>
            </a:r>
            <a:r>
              <a:rPr b="1" lang="es-ES"/>
              <a:t>simple o atómica</a:t>
            </a:r>
            <a:r>
              <a:rPr lang="es-ES"/>
              <a:t>, si ninguna parte de ella es a su vez una proposición.</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s-ES"/>
              <a:t>Ejemplos de proposiciones simple o atómicas:</a:t>
            </a:r>
            <a:endParaRPr/>
          </a:p>
          <a:p>
            <a:pPr indent="0" lvl="0" marL="0" rtl="0" algn="l">
              <a:lnSpc>
                <a:spcPct val="100000"/>
              </a:lnSpc>
              <a:spcBef>
                <a:spcPts val="0"/>
              </a:spcBef>
              <a:spcAft>
                <a:spcPts val="0"/>
              </a:spcAft>
              <a:buClr>
                <a:schemeClr val="dk1"/>
              </a:buClr>
              <a:buSzPts val="1100"/>
              <a:buFont typeface="Arial"/>
              <a:buNone/>
            </a:pPr>
            <a:r>
              <a:t/>
            </a:r>
            <a:endParaRPr/>
          </a:p>
          <a:p>
            <a:pPr indent="-285750" lvl="0" marL="285750" rtl="0" algn="l">
              <a:lnSpc>
                <a:spcPct val="100000"/>
              </a:lnSpc>
              <a:spcBef>
                <a:spcPts val="0"/>
              </a:spcBef>
              <a:spcAft>
                <a:spcPts val="0"/>
              </a:spcAft>
              <a:buClr>
                <a:schemeClr val="dk1"/>
              </a:buClr>
              <a:buSzPts val="1100"/>
              <a:buChar char="●"/>
            </a:pPr>
            <a:r>
              <a:rPr lang="es-ES"/>
              <a:t>Dos es un número par</a:t>
            </a:r>
            <a:endParaRPr/>
          </a:p>
          <a:p>
            <a:pPr indent="-285750" lvl="0" marL="285750" rtl="0" algn="l">
              <a:lnSpc>
                <a:spcPct val="100000"/>
              </a:lnSpc>
              <a:spcBef>
                <a:spcPts val="0"/>
              </a:spcBef>
              <a:spcAft>
                <a:spcPts val="0"/>
              </a:spcAft>
              <a:buClr>
                <a:schemeClr val="dk1"/>
              </a:buClr>
              <a:buSzPts val="1100"/>
              <a:buChar char="●"/>
            </a:pPr>
            <a:r>
              <a:rPr lang="es-ES"/>
              <a:t>Tres es mayor que cuatro</a:t>
            </a:r>
            <a:endParaRPr/>
          </a:p>
          <a:p>
            <a:pPr indent="-285750" lvl="0" marL="285750" rtl="0" algn="l">
              <a:lnSpc>
                <a:spcPct val="100000"/>
              </a:lnSpc>
              <a:spcBef>
                <a:spcPts val="0"/>
              </a:spcBef>
              <a:spcAft>
                <a:spcPts val="0"/>
              </a:spcAft>
              <a:buClr>
                <a:schemeClr val="dk1"/>
              </a:buClr>
              <a:buSzPts val="1100"/>
              <a:buChar char="●"/>
            </a:pPr>
            <a:r>
              <a:rPr lang="es-ES"/>
              <a:t>Tres más cinco es mayor que cuatro</a:t>
            </a:r>
            <a:endParaRPr/>
          </a:p>
          <a:p>
            <a:pPr indent="-215900" lvl="0" marL="285750" rtl="0" algn="l">
              <a:lnSpc>
                <a:spcPct val="100000"/>
              </a:lnSpc>
              <a:spcBef>
                <a:spcPts val="0"/>
              </a:spcBef>
              <a:spcAft>
                <a:spcPts val="0"/>
              </a:spcAft>
              <a:buClr>
                <a:schemeClr val="dk1"/>
              </a:buClr>
              <a:buSzPts val="1100"/>
              <a:buNone/>
            </a:pPr>
            <a:r>
              <a:t/>
            </a:r>
            <a:endParaRPr/>
          </a:p>
          <a:p>
            <a:pPr indent="0" lvl="0" marL="0" rtl="0" algn="l">
              <a:lnSpc>
                <a:spcPct val="100000"/>
              </a:lnSpc>
              <a:spcBef>
                <a:spcPts val="0"/>
              </a:spcBef>
              <a:spcAft>
                <a:spcPts val="0"/>
              </a:spcAft>
              <a:buClr>
                <a:schemeClr val="dk1"/>
              </a:buClr>
              <a:buSzPts val="1100"/>
              <a:buNone/>
            </a:pPr>
            <a:r>
              <a:rPr lang="es-ES"/>
              <a:t>Se usan letras minúsculas p, q, r, s,... etc., para denotar proposiciones simples o atómicas.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85" name="Google Shape;85;p8"/>
          <p:cNvSpPr/>
          <p:nvPr/>
        </p:nvSpPr>
        <p:spPr>
          <a:xfrm>
            <a:off x="6732125"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8"/>
          <p:cNvSpPr/>
          <p:nvPr/>
        </p:nvSpPr>
        <p:spPr>
          <a:xfrm>
            <a:off x="7951325" y="257175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9"/>
          <p:cNvSpPr txBox="1"/>
          <p:nvPr>
            <p:ph idx="1" type="body"/>
          </p:nvPr>
        </p:nvSpPr>
        <p:spPr>
          <a:xfrm>
            <a:off x="1156525" y="1262743"/>
            <a:ext cx="5062846" cy="2845157"/>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ES"/>
              <a:t>La propiedad fundamental de una proposición es que ella puede ser </a:t>
            </a:r>
            <a:r>
              <a:rPr b="1" lang="es-ES"/>
              <a:t>verdadera</a:t>
            </a:r>
            <a:r>
              <a:rPr lang="es-ES"/>
              <a:t> o </a:t>
            </a:r>
            <a:r>
              <a:rPr b="1" lang="es-ES"/>
              <a:t>falsa</a:t>
            </a:r>
            <a:r>
              <a:rPr lang="es-ES"/>
              <a:t>, pero no ambas cosas a la vez.</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s-ES"/>
              <a:t>El valor de verdad de una </a:t>
            </a:r>
            <a:r>
              <a:rPr b="1" lang="es-ES"/>
              <a:t>proposición</a:t>
            </a:r>
            <a:r>
              <a:rPr lang="es-ES"/>
              <a:t> simple depende exclusivamente del enunciado de la proposición.</a:t>
            </a:r>
            <a:endParaRPr/>
          </a:p>
          <a:p>
            <a:pPr indent="0" lvl="0" marL="0" rtl="0" algn="l">
              <a:lnSpc>
                <a:spcPct val="100000"/>
              </a:lnSpc>
              <a:spcBef>
                <a:spcPts val="0"/>
              </a:spcBef>
              <a:spcAft>
                <a:spcPts val="0"/>
              </a:spcAft>
              <a:buClr>
                <a:schemeClr val="dk1"/>
              </a:buClr>
              <a:buSzPts val="1100"/>
              <a:buFont typeface="Arial"/>
              <a:buNone/>
            </a:pPr>
            <a:r>
              <a:t/>
            </a:r>
            <a:endParaRPr/>
          </a:p>
          <a:p>
            <a:pPr indent="-285750" lvl="0" marL="285750" rtl="0" algn="l">
              <a:lnSpc>
                <a:spcPct val="100000"/>
              </a:lnSpc>
              <a:spcBef>
                <a:spcPts val="0"/>
              </a:spcBef>
              <a:spcAft>
                <a:spcPts val="0"/>
              </a:spcAft>
              <a:buClr>
                <a:schemeClr val="dk1"/>
              </a:buClr>
              <a:buSzPts val="1100"/>
              <a:buChar char="●"/>
            </a:pPr>
            <a:r>
              <a:rPr lang="es-ES"/>
              <a:t>Dos es un número par -- V</a:t>
            </a:r>
            <a:endParaRPr/>
          </a:p>
          <a:p>
            <a:pPr indent="-285750" lvl="0" marL="285750" rtl="0" algn="l">
              <a:lnSpc>
                <a:spcPct val="100000"/>
              </a:lnSpc>
              <a:spcBef>
                <a:spcPts val="0"/>
              </a:spcBef>
              <a:spcAft>
                <a:spcPts val="0"/>
              </a:spcAft>
              <a:buClr>
                <a:schemeClr val="dk1"/>
              </a:buClr>
              <a:buSzPts val="1100"/>
              <a:buChar char="●"/>
            </a:pPr>
            <a:r>
              <a:rPr lang="es-ES"/>
              <a:t>Tres es mayor que cuatro -- F</a:t>
            </a:r>
            <a:endParaRPr/>
          </a:p>
          <a:p>
            <a:pPr indent="-285750" lvl="0" marL="285750" rtl="0" algn="l">
              <a:lnSpc>
                <a:spcPct val="100000"/>
              </a:lnSpc>
              <a:spcBef>
                <a:spcPts val="0"/>
              </a:spcBef>
              <a:spcAft>
                <a:spcPts val="0"/>
              </a:spcAft>
              <a:buClr>
                <a:schemeClr val="dk1"/>
              </a:buClr>
              <a:buSzPts val="1100"/>
              <a:buChar char="●"/>
            </a:pPr>
            <a:r>
              <a:rPr lang="es-ES"/>
              <a:t>Tres más cinco es mayor que cuatro -- V</a:t>
            </a:r>
            <a:endParaRPr/>
          </a:p>
        </p:txBody>
      </p:sp>
      <p:sp>
        <p:nvSpPr>
          <p:cNvPr id="92" name="Google Shape;92;p9"/>
          <p:cNvSpPr/>
          <p:nvPr/>
        </p:nvSpPr>
        <p:spPr>
          <a:xfrm>
            <a:off x="6732125"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9"/>
          <p:cNvSpPr/>
          <p:nvPr/>
        </p:nvSpPr>
        <p:spPr>
          <a:xfrm>
            <a:off x="7951325" y="257175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0"/>
          <p:cNvSpPr txBox="1"/>
          <p:nvPr>
            <p:ph type="title"/>
          </p:nvPr>
        </p:nvSpPr>
        <p:spPr>
          <a:xfrm>
            <a:off x="1156525" y="1340400"/>
            <a:ext cx="4232100" cy="75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s-ES" sz="1800"/>
              <a:t>Algunos enunciados o proposiciones son compuestos, es decir, están formados de proposiciones simples y de conectivos que los unen.</a:t>
            </a:r>
            <a:endParaRPr sz="1800"/>
          </a:p>
        </p:txBody>
      </p:sp>
      <p:sp>
        <p:nvSpPr>
          <p:cNvPr id="99" name="Google Shape;99;p10"/>
          <p:cNvSpPr txBox="1"/>
          <p:nvPr>
            <p:ph idx="1" type="body"/>
          </p:nvPr>
        </p:nvSpPr>
        <p:spPr>
          <a:xfrm>
            <a:off x="1156524" y="2271486"/>
            <a:ext cx="4736275" cy="1836414"/>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ES"/>
              <a:t>2 es un número entero y es positivo</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s-ES"/>
              <a:t>Si llueve, el piso se moja</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s-ES"/>
              <a:t>Si es un entero, entonces es real</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s-ES"/>
              <a:t>Si estudio y hago los ejercicios, entonces apruebo y paso de curso</a:t>
            </a:r>
            <a:endParaRPr/>
          </a:p>
        </p:txBody>
      </p:sp>
      <p:sp>
        <p:nvSpPr>
          <p:cNvPr id="100" name="Google Shape;100;p10"/>
          <p:cNvSpPr/>
          <p:nvPr/>
        </p:nvSpPr>
        <p:spPr>
          <a:xfrm>
            <a:off x="6732125"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0"/>
          <p:cNvSpPr/>
          <p:nvPr/>
        </p:nvSpPr>
        <p:spPr>
          <a:xfrm>
            <a:off x="7951325" y="257175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1"/>
          <p:cNvSpPr txBox="1"/>
          <p:nvPr>
            <p:ph idx="1" type="body"/>
          </p:nvPr>
        </p:nvSpPr>
        <p:spPr>
          <a:xfrm>
            <a:off x="1156525" y="1262743"/>
            <a:ext cx="5062846" cy="2845157"/>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ES"/>
              <a:t>El valor de verdad de una proposición compuesta depende completamente del valor de verdad de cada proposición simple y del modo como se les reúne o conecta para formar la proposición compuesta</a:t>
            </a:r>
            <a:endParaRPr/>
          </a:p>
        </p:txBody>
      </p:sp>
      <p:sp>
        <p:nvSpPr>
          <p:cNvPr id="107" name="Google Shape;107;p11"/>
          <p:cNvSpPr/>
          <p:nvPr/>
        </p:nvSpPr>
        <p:spPr>
          <a:xfrm>
            <a:off x="6732125"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1"/>
          <p:cNvSpPr/>
          <p:nvPr/>
        </p:nvSpPr>
        <p:spPr>
          <a:xfrm>
            <a:off x="7951325" y="257175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9" name="Google Shape;109;p11"/>
          <p:cNvPicPr preferRelativeResize="0"/>
          <p:nvPr/>
        </p:nvPicPr>
        <p:blipFill>
          <a:blip r:embed="rId3">
            <a:alphaModFix/>
          </a:blip>
          <a:stretch>
            <a:fillRect/>
          </a:stretch>
        </p:blipFill>
        <p:spPr>
          <a:xfrm>
            <a:off x="2515625" y="2571750"/>
            <a:ext cx="2344650" cy="2344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2"/>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Conectivos</a:t>
            </a:r>
            <a:endParaRPr/>
          </a:p>
        </p:txBody>
      </p:sp>
      <p:sp>
        <p:nvSpPr>
          <p:cNvPr id="115" name="Google Shape;115;p12"/>
          <p:cNvSpPr txBox="1"/>
          <p:nvPr>
            <p:ph idx="2" type="subTitle"/>
          </p:nvPr>
        </p:nvSpPr>
        <p:spPr>
          <a:xfrm>
            <a:off x="1290207" y="1038649"/>
            <a:ext cx="6563385" cy="723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Clr>
                <a:schemeClr val="dk1"/>
              </a:buClr>
              <a:buSzPts val="1100"/>
              <a:buFont typeface="Arial"/>
              <a:buNone/>
            </a:pPr>
            <a:r>
              <a:rPr b="1" lang="es-ES"/>
              <a:t>Negación.  </a:t>
            </a:r>
            <a:r>
              <a:rPr lang="es-ES"/>
              <a:t>Es aquel conectivo que niega la proposición, y normalmente se utiliza anteponiendo  “no”,  o anteponiendo la frase es falso que. </a:t>
            </a:r>
            <a:endParaRPr/>
          </a:p>
        </p:txBody>
      </p:sp>
      <p:sp>
        <p:nvSpPr>
          <p:cNvPr id="116" name="Google Shape;116;p12"/>
          <p:cNvSpPr txBox="1"/>
          <p:nvPr/>
        </p:nvSpPr>
        <p:spPr>
          <a:xfrm>
            <a:off x="1290207" y="2049100"/>
            <a:ext cx="6563385" cy="221084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3"/>
          <p:cNvSpPr txBox="1"/>
          <p:nvPr/>
        </p:nvSpPr>
        <p:spPr>
          <a:xfrm>
            <a:off x="1290307" y="611399"/>
            <a:ext cx="6563385" cy="3721115"/>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s-ES" sz="1400" u="none" cap="none" strike="noStrike">
                <a:solidFill>
                  <a:schemeClr val="dk1"/>
                </a:solidFill>
                <a:latin typeface="Montserrat"/>
                <a:ea typeface="Montserrat"/>
                <a:cs typeface="Montserrat"/>
                <a:sym typeface="Montserrat"/>
              </a:rPr>
              <a:t>Conjunción. </a:t>
            </a:r>
            <a:r>
              <a:rPr b="0" i="0" lang="es-ES" sz="1400" u="none" cap="none" strike="noStrike">
                <a:solidFill>
                  <a:schemeClr val="dk1"/>
                </a:solidFill>
                <a:latin typeface="Montserrat"/>
                <a:ea typeface="Montserrat"/>
                <a:cs typeface="Montserrat"/>
                <a:sym typeface="Montserrat"/>
              </a:rPr>
              <a:t>Es  aquel conectivo que une dos proposiciones, incluyéndolas obligatoriamente a ambas.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600"/>
              </a:spcBef>
              <a:spcAft>
                <a:spcPts val="0"/>
              </a:spcAft>
              <a:buClr>
                <a:schemeClr val="dk1"/>
              </a:buClr>
              <a:buSzPts val="1100"/>
              <a:buFont typeface="Arial"/>
              <a:buNone/>
            </a:pPr>
            <a:r>
              <a:rPr b="0" i="0" lang="es-ES" sz="1400" u="none" cap="none" strike="noStrike">
                <a:solidFill>
                  <a:schemeClr val="dk1"/>
                </a:solidFill>
                <a:latin typeface="Montserrat"/>
                <a:ea typeface="Montserrat"/>
                <a:cs typeface="Montserrat"/>
                <a:sym typeface="Montserrat"/>
              </a:rPr>
              <a:t>Se utiliza </a:t>
            </a:r>
            <a:r>
              <a:rPr b="1" i="0" lang="es-ES" sz="1400" u="none" cap="none" strike="noStrike">
                <a:solidFill>
                  <a:schemeClr val="dk1"/>
                </a:solidFill>
                <a:latin typeface="Montserrat"/>
                <a:ea typeface="Montserrat"/>
                <a:cs typeface="Montserrat"/>
                <a:sym typeface="Montserrat"/>
              </a:rPr>
              <a:t>“y”</a:t>
            </a:r>
            <a:r>
              <a:rPr b="0" i="0" lang="es-ES" sz="1400" u="none" cap="none" strike="noStrike">
                <a:solidFill>
                  <a:schemeClr val="dk1"/>
                </a:solidFill>
                <a:latin typeface="Montserrat"/>
                <a:ea typeface="Montserrat"/>
                <a:cs typeface="Montserrat"/>
                <a:sym typeface="Montserrat"/>
              </a:rPr>
              <a:t> como conectivo de conjunción.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600"/>
              </a:spcBef>
              <a:spcAft>
                <a:spcPts val="0"/>
              </a:spcAft>
              <a:buClr>
                <a:schemeClr val="dk1"/>
              </a:buClr>
              <a:buSzPts val="1100"/>
              <a:buFont typeface="Arial"/>
              <a:buNone/>
            </a:pPr>
            <a:r>
              <a:rPr b="0" i="0" lang="es-ES" sz="1400" u="none" cap="none" strike="noStrike">
                <a:solidFill>
                  <a:schemeClr val="dk1"/>
                </a:solidFill>
                <a:latin typeface="Montserrat"/>
                <a:ea typeface="Montserrat"/>
                <a:cs typeface="Montserrat"/>
                <a:sym typeface="Montserrat"/>
              </a:rPr>
              <a:t> "dos es par y tres es impar”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600"/>
              </a:spcBef>
              <a:spcAft>
                <a:spcPts val="0"/>
              </a:spcAft>
              <a:buClr>
                <a:schemeClr val="dk1"/>
              </a:buClr>
              <a:buSzPts val="1100"/>
              <a:buFont typeface="Arial"/>
              <a:buNone/>
            </a:pPr>
            <a:r>
              <a:rPr b="0" i="0" lang="es-ES" sz="1400" u="none" cap="none" strike="noStrike">
                <a:solidFill>
                  <a:schemeClr val="dk1"/>
                </a:solidFill>
                <a:latin typeface="Montserrat"/>
                <a:ea typeface="Montserrat"/>
                <a:cs typeface="Montserrat"/>
                <a:sym typeface="Montserrat"/>
              </a:rPr>
              <a:t>Simbólicamente la conjunción </a:t>
            </a:r>
            <a:r>
              <a:rPr b="1" i="0" lang="es-ES" sz="1400" u="none" cap="none" strike="noStrike">
                <a:solidFill>
                  <a:schemeClr val="dk1"/>
                </a:solidFill>
                <a:latin typeface="Montserrat"/>
                <a:ea typeface="Montserrat"/>
                <a:cs typeface="Montserrat"/>
                <a:sym typeface="Montserrat"/>
              </a:rPr>
              <a:t>“y” </a:t>
            </a:r>
            <a:r>
              <a:rPr b="0" i="0" lang="es-ES" sz="1400" u="none" cap="none" strike="noStrike">
                <a:solidFill>
                  <a:schemeClr val="dk1"/>
                </a:solidFill>
                <a:latin typeface="Montserrat"/>
                <a:ea typeface="Montserrat"/>
                <a:cs typeface="Montserrat"/>
                <a:sym typeface="Montserrat"/>
              </a:rPr>
              <a:t>se representa en lenguaje matemático con el símbolo </a:t>
            </a:r>
            <a:r>
              <a:rPr b="1" i="0" lang="es-ES" sz="1400" u="none" cap="none" strike="noStrike">
                <a:solidFill>
                  <a:schemeClr val="dk1"/>
                </a:solidFill>
                <a:latin typeface="Arial"/>
                <a:ea typeface="Arial"/>
                <a:cs typeface="Arial"/>
                <a:sym typeface="Arial"/>
              </a:rPr>
              <a:t>∧</a:t>
            </a:r>
            <a:endParaRPr b="0" i="0" sz="1400" u="none" cap="none" strike="noStrike">
              <a:solidFill>
                <a:schemeClr val="dk1"/>
              </a:solidFill>
              <a:latin typeface="Montserrat"/>
              <a:ea typeface="Montserrat"/>
              <a:cs typeface="Montserrat"/>
              <a:sym typeface="Montserrat"/>
            </a:endParaRPr>
          </a:p>
          <a:p>
            <a:pPr indent="0" lvl="0" marL="0" marR="0" rtl="0" algn="ctr">
              <a:lnSpc>
                <a:spcPct val="100000"/>
              </a:lnSpc>
              <a:spcBef>
                <a:spcPts val="1600"/>
              </a:spcBef>
              <a:spcAft>
                <a:spcPts val="0"/>
              </a:spcAft>
              <a:buClr>
                <a:schemeClr val="dk1"/>
              </a:buClr>
              <a:buSzPts val="1100"/>
              <a:buFont typeface="Arial"/>
              <a:buNone/>
            </a:pPr>
            <a:r>
              <a:rPr b="0" i="0" lang="es-ES" sz="1400" u="none" cap="none" strike="noStrike">
                <a:solidFill>
                  <a:schemeClr val="dk1"/>
                </a:solidFill>
                <a:latin typeface="Arial"/>
                <a:ea typeface="Arial"/>
                <a:cs typeface="Arial"/>
                <a:sym typeface="Arial"/>
              </a:rPr>
              <a:t>y</a:t>
            </a:r>
            <a:r>
              <a:rPr b="1" i="0" lang="es-ES" sz="1400" u="none" cap="none" strike="noStrike">
                <a:solidFill>
                  <a:schemeClr val="dk1"/>
                </a:solidFill>
                <a:latin typeface="Arial"/>
                <a:ea typeface="Arial"/>
                <a:cs typeface="Arial"/>
                <a:sym typeface="Arial"/>
              </a:rPr>
              <a:t>   ≡  </a:t>
            </a:r>
            <a:r>
              <a:rPr b="1" i="0" lang="es-ES" sz="1600" u="none" cap="none" strike="noStrike">
                <a:solidFill>
                  <a:schemeClr val="dk1"/>
                </a:solidFill>
                <a:latin typeface="Arial"/>
                <a:ea typeface="Arial"/>
                <a:cs typeface="Arial"/>
                <a:sym typeface="Arial"/>
              </a:rPr>
              <a:t>∧</a:t>
            </a:r>
            <a:endParaRPr b="0" i="0" sz="1400" u="none" cap="none" strike="noStrike">
              <a:solidFill>
                <a:schemeClr val="dk1"/>
              </a:solidFill>
              <a:latin typeface="Montserrat"/>
              <a:ea typeface="Montserrat"/>
              <a:cs typeface="Montserrat"/>
              <a:sym typeface="Montserrat"/>
            </a:endParaRPr>
          </a:p>
          <a:p>
            <a:pPr indent="0" lvl="0" marL="0" marR="0" rtl="0" algn="ctr">
              <a:lnSpc>
                <a:spcPct val="100000"/>
              </a:lnSpc>
              <a:spcBef>
                <a:spcPts val="1600"/>
              </a:spcBef>
              <a:spcAft>
                <a:spcPts val="1600"/>
              </a:spcAft>
              <a:buClr>
                <a:schemeClr val="dk1"/>
              </a:buClr>
              <a:buSzPts val="1100"/>
              <a:buFont typeface="Arial"/>
              <a:buNone/>
            </a:pPr>
            <a:r>
              <a:t/>
            </a:r>
            <a:endParaRPr b="0" i="0" sz="14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4"/>
          <p:cNvSpPr txBox="1"/>
          <p:nvPr/>
        </p:nvSpPr>
        <p:spPr>
          <a:xfrm>
            <a:off x="1290307" y="611399"/>
            <a:ext cx="6563385" cy="3721115"/>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s-ES" sz="1400" u="none" cap="none" strike="noStrike">
                <a:solidFill>
                  <a:schemeClr val="dk1"/>
                </a:solidFill>
                <a:latin typeface="Montserrat"/>
                <a:ea typeface="Montserrat"/>
                <a:cs typeface="Montserrat"/>
                <a:sym typeface="Montserrat"/>
              </a:rPr>
              <a:t>Disyunción. </a:t>
            </a:r>
            <a:r>
              <a:rPr b="0" i="0" lang="es-ES" sz="1400" u="none" cap="none" strike="noStrike">
                <a:solidFill>
                  <a:schemeClr val="dk1"/>
                </a:solidFill>
                <a:latin typeface="Montserrat"/>
                <a:ea typeface="Montserrat"/>
                <a:cs typeface="Montserrat"/>
                <a:sym typeface="Montserrat"/>
              </a:rPr>
              <a:t>Es aquel conectivo que une dos proposiciones ofreciendo una alternativa entre una proposición o la otra, así como también ofrece la posibilidad que sean ambas.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600"/>
              </a:spcBef>
              <a:spcAft>
                <a:spcPts val="0"/>
              </a:spcAft>
              <a:buClr>
                <a:schemeClr val="dk1"/>
              </a:buClr>
              <a:buSzPts val="1100"/>
              <a:buFont typeface="Arial"/>
              <a:buNone/>
            </a:pPr>
            <a:r>
              <a:rPr b="0" i="0" lang="es-ES" sz="1400" u="none" cap="none" strike="noStrike">
                <a:solidFill>
                  <a:schemeClr val="dk1"/>
                </a:solidFill>
                <a:latin typeface="Montserrat"/>
                <a:ea typeface="Montserrat"/>
                <a:cs typeface="Montserrat"/>
                <a:sym typeface="Montserrat"/>
              </a:rPr>
              <a:t>"dos es mayor que siete o siete es mayor que dos“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600"/>
              </a:spcBef>
              <a:spcAft>
                <a:spcPts val="0"/>
              </a:spcAft>
              <a:buClr>
                <a:schemeClr val="dk1"/>
              </a:buClr>
              <a:buSzPts val="1100"/>
              <a:buFont typeface="Arial"/>
              <a:buNone/>
            </a:pPr>
            <a:r>
              <a:rPr b="0" i="0" lang="es-ES" sz="1400" u="none" cap="none" strike="noStrike">
                <a:solidFill>
                  <a:schemeClr val="dk1"/>
                </a:solidFill>
                <a:latin typeface="Montserrat"/>
                <a:ea typeface="Montserrat"/>
                <a:cs typeface="Montserrat"/>
                <a:sym typeface="Montserrat"/>
              </a:rPr>
              <a:t>La proposición está compuesta por las proposiciones simples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600"/>
              </a:spcBef>
              <a:spcAft>
                <a:spcPts val="0"/>
              </a:spcAft>
              <a:buClr>
                <a:schemeClr val="dk1"/>
              </a:buClr>
              <a:buSzPts val="1100"/>
              <a:buFont typeface="Arial"/>
              <a:buNone/>
            </a:pPr>
            <a:r>
              <a:rPr b="0" i="0" lang="es-ES" sz="1400" u="none" cap="none" strike="noStrike">
                <a:solidFill>
                  <a:schemeClr val="dk1"/>
                </a:solidFill>
                <a:latin typeface="Montserrat"/>
                <a:ea typeface="Montserrat"/>
                <a:cs typeface="Montserrat"/>
                <a:sym typeface="Montserrat"/>
              </a:rPr>
              <a:t>"dos es mayor que siete"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600"/>
              </a:spcBef>
              <a:spcAft>
                <a:spcPts val="0"/>
              </a:spcAft>
              <a:buClr>
                <a:schemeClr val="dk1"/>
              </a:buClr>
              <a:buSzPts val="1100"/>
              <a:buFont typeface="Arial"/>
              <a:buNone/>
            </a:pPr>
            <a:r>
              <a:rPr b="0" i="0" lang="es-ES" sz="1400" u="none" cap="none" strike="noStrike">
                <a:solidFill>
                  <a:schemeClr val="dk1"/>
                </a:solidFill>
                <a:latin typeface="Montserrat"/>
                <a:ea typeface="Montserrat"/>
                <a:cs typeface="Montserrat"/>
                <a:sym typeface="Montserrat"/>
              </a:rPr>
              <a:t>junto con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600"/>
              </a:spcBef>
              <a:spcAft>
                <a:spcPts val="0"/>
              </a:spcAft>
              <a:buClr>
                <a:schemeClr val="dk1"/>
              </a:buClr>
              <a:buSzPts val="1100"/>
              <a:buFont typeface="Arial"/>
              <a:buNone/>
            </a:pPr>
            <a:r>
              <a:rPr b="0" i="0" lang="es-ES" sz="1400" u="none" cap="none" strike="noStrike">
                <a:solidFill>
                  <a:schemeClr val="dk1"/>
                </a:solidFill>
                <a:latin typeface="Montserrat"/>
                <a:ea typeface="Montserrat"/>
                <a:cs typeface="Montserrat"/>
                <a:sym typeface="Montserrat"/>
              </a:rPr>
              <a:t>"siete es mayor que dos",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600"/>
              </a:spcBef>
              <a:spcAft>
                <a:spcPts val="0"/>
              </a:spcAft>
              <a:buClr>
                <a:schemeClr val="dk1"/>
              </a:buClr>
              <a:buSzPts val="1100"/>
              <a:buFont typeface="Arial"/>
              <a:buNone/>
            </a:pPr>
            <a:r>
              <a:rPr b="0" i="0" lang="es-ES" sz="1400" u="none" cap="none" strike="noStrike">
                <a:solidFill>
                  <a:schemeClr val="dk1"/>
                </a:solidFill>
                <a:latin typeface="Montserrat"/>
                <a:ea typeface="Montserrat"/>
                <a:cs typeface="Montserrat"/>
                <a:sym typeface="Montserrat"/>
              </a:rPr>
              <a:t>conectadas por la palabra </a:t>
            </a:r>
            <a:r>
              <a:rPr b="1" i="0" lang="es-ES" sz="1400" u="none" cap="none" strike="noStrike">
                <a:solidFill>
                  <a:schemeClr val="dk1"/>
                </a:solidFill>
                <a:latin typeface="Montserrat"/>
                <a:ea typeface="Montserrat"/>
                <a:cs typeface="Montserrat"/>
                <a:sym typeface="Montserrat"/>
              </a:rPr>
              <a:t>“o”</a:t>
            </a:r>
            <a:r>
              <a:rPr b="0" i="0" lang="es-ES" sz="1400" u="none" cap="none" strike="noStrike">
                <a:solidFill>
                  <a:schemeClr val="dk1"/>
                </a:solidFill>
                <a:latin typeface="Montserrat"/>
                <a:ea typeface="Montserrat"/>
                <a:cs typeface="Montserrat"/>
                <a:sym typeface="Montserrat"/>
              </a:rPr>
              <a:t>, que constituye el conectivo de disyunción, y su símbolo es </a:t>
            </a:r>
            <a:r>
              <a:rPr b="1" i="0" lang="es-ES" sz="1400" u="none" cap="none" strike="noStrike">
                <a:solidFill>
                  <a:schemeClr val="dk1"/>
                </a:solidFill>
                <a:latin typeface="Montserrat"/>
                <a:ea typeface="Montserrat"/>
                <a:cs typeface="Montserrat"/>
                <a:sym typeface="Montserrat"/>
              </a:rPr>
              <a:t>“</a:t>
            </a:r>
            <a:r>
              <a:rPr b="1" i="0" lang="es-ES" sz="1400" u="none" cap="none" strike="noStrike">
                <a:solidFill>
                  <a:schemeClr val="dk1"/>
                </a:solidFill>
                <a:latin typeface="Arial"/>
                <a:ea typeface="Arial"/>
                <a:cs typeface="Arial"/>
                <a:sym typeface="Arial"/>
              </a:rPr>
              <a:t>∨</a:t>
            </a:r>
            <a:r>
              <a:rPr b="1" i="0" lang="es-ES" sz="1400" u="none" cap="none" strike="noStrike">
                <a:solidFill>
                  <a:schemeClr val="dk1"/>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600"/>
              </a:spcBef>
              <a:spcAft>
                <a:spcPts val="0"/>
              </a:spcAft>
              <a:buClr>
                <a:schemeClr val="dk1"/>
              </a:buClr>
              <a:buSzPts val="1100"/>
              <a:buFont typeface="Arial"/>
              <a:buNone/>
            </a:pPr>
            <a:r>
              <a:t/>
            </a:r>
            <a:endParaRPr b="0" i="0" sz="1400" u="none" cap="none" strike="noStrike">
              <a:solidFill>
                <a:schemeClr val="dk1"/>
              </a:solidFill>
              <a:latin typeface="Montserrat"/>
              <a:ea typeface="Montserrat"/>
              <a:cs typeface="Montserrat"/>
              <a:sym typeface="Montserrat"/>
            </a:endParaRPr>
          </a:p>
          <a:p>
            <a:pPr indent="0" lvl="0" marL="0" marR="0" rtl="0" algn="ctr">
              <a:lnSpc>
                <a:spcPct val="100000"/>
              </a:lnSpc>
              <a:spcBef>
                <a:spcPts val="1600"/>
              </a:spcBef>
              <a:spcAft>
                <a:spcPts val="0"/>
              </a:spcAft>
              <a:buClr>
                <a:schemeClr val="dk1"/>
              </a:buClr>
              <a:buSzPts val="1100"/>
              <a:buFont typeface="Arial"/>
              <a:buNone/>
            </a:pPr>
            <a:r>
              <a:t/>
            </a:r>
            <a:endParaRPr b="0" i="0" sz="1400" u="none" cap="none" strike="noStrike">
              <a:solidFill>
                <a:schemeClr val="dk1"/>
              </a:solidFill>
              <a:latin typeface="Montserrat"/>
              <a:ea typeface="Montserrat"/>
              <a:cs typeface="Montserrat"/>
              <a:sym typeface="Montserrat"/>
            </a:endParaRPr>
          </a:p>
          <a:p>
            <a:pPr indent="0" lvl="0" marL="0" marR="0" rtl="0" algn="ctr">
              <a:lnSpc>
                <a:spcPct val="100000"/>
              </a:lnSpc>
              <a:spcBef>
                <a:spcPts val="1600"/>
              </a:spcBef>
              <a:spcAft>
                <a:spcPts val="1600"/>
              </a:spcAft>
              <a:buClr>
                <a:schemeClr val="dk1"/>
              </a:buClr>
              <a:buSzPts val="1100"/>
              <a:buFont typeface="Arial"/>
              <a:buNone/>
            </a:pPr>
            <a:r>
              <a:t/>
            </a:r>
            <a:endParaRPr b="0" i="0" sz="14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6"/>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Disyunción excluyente</a:t>
            </a:r>
            <a:endParaRPr/>
          </a:p>
        </p:txBody>
      </p:sp>
      <p:sp>
        <p:nvSpPr>
          <p:cNvPr id="132" name="Google Shape;132;p16"/>
          <p:cNvSpPr txBox="1"/>
          <p:nvPr>
            <p:ph idx="2" type="subTitle"/>
          </p:nvPr>
        </p:nvSpPr>
        <p:spPr>
          <a:xfrm>
            <a:off x="1290207" y="1038649"/>
            <a:ext cx="6563385" cy="3003580"/>
          </a:xfrm>
          <a:prstGeom prst="rect">
            <a:avLst/>
          </a:prstGeom>
          <a:noFill/>
          <a:ln>
            <a:noFill/>
          </a:ln>
        </p:spPr>
        <p:txBody>
          <a:bodyPr anchorCtr="0" anchor="t" bIns="91425" lIns="91425" spcFirstLastPara="1" rIns="91425" wrap="square" tIns="91425">
            <a:noAutofit/>
          </a:bodyPr>
          <a:lstStyle/>
          <a:p>
            <a:pPr indent="-285750" lvl="0" marL="285750" rtl="0" algn="ctr">
              <a:lnSpc>
                <a:spcPct val="100000"/>
              </a:lnSpc>
              <a:spcBef>
                <a:spcPts val="0"/>
              </a:spcBef>
              <a:spcAft>
                <a:spcPts val="0"/>
              </a:spcAft>
              <a:buClr>
                <a:schemeClr val="dk1"/>
              </a:buClr>
              <a:buSzPts val="1100"/>
              <a:buFont typeface="Arial"/>
              <a:buChar char="•"/>
            </a:pPr>
            <a:r>
              <a:rPr lang="es-ES"/>
              <a:t>Es la disyunción pero que su valor de verdad acepta una sola proposición como verdadera.</a:t>
            </a:r>
            <a:endParaRPr/>
          </a:p>
          <a:p>
            <a:pPr indent="-285750" lvl="0" marL="285750" rtl="0" algn="ctr">
              <a:lnSpc>
                <a:spcPct val="100000"/>
              </a:lnSpc>
              <a:spcBef>
                <a:spcPts val="1600"/>
              </a:spcBef>
              <a:spcAft>
                <a:spcPts val="0"/>
              </a:spcAft>
              <a:buClr>
                <a:schemeClr val="dk1"/>
              </a:buClr>
              <a:buSzPts val="1100"/>
              <a:buFont typeface="Arial"/>
              <a:buChar char="•"/>
            </a:pPr>
            <a:r>
              <a:rPr lang="es-ES"/>
              <a:t>No pueden ocurrir las dos proposiciones al mismo tiempo.</a:t>
            </a:r>
            <a:endParaRPr/>
          </a:p>
          <a:p>
            <a:pPr indent="0" lvl="0" marL="0" rtl="0" algn="ctr">
              <a:lnSpc>
                <a:spcPct val="100000"/>
              </a:lnSpc>
              <a:spcBef>
                <a:spcPts val="1600"/>
              </a:spcBef>
              <a:spcAft>
                <a:spcPts val="0"/>
              </a:spcAft>
              <a:buClr>
                <a:schemeClr val="dk1"/>
              </a:buClr>
              <a:buSzPts val="1100"/>
              <a:buFont typeface="Arial"/>
              <a:buNone/>
            </a:pPr>
            <a:r>
              <a:rPr lang="es-ES"/>
              <a:t>Ejemplo: Me caso con Rosita o con Doris</a:t>
            </a:r>
            <a:endParaRPr/>
          </a:p>
          <a:p>
            <a:pPr indent="0" lvl="0" marL="0" rtl="0" algn="ctr">
              <a:lnSpc>
                <a:spcPct val="100000"/>
              </a:lnSpc>
              <a:spcBef>
                <a:spcPts val="1600"/>
              </a:spcBef>
              <a:spcAft>
                <a:spcPts val="0"/>
              </a:spcAft>
              <a:buClr>
                <a:schemeClr val="dk1"/>
              </a:buClr>
              <a:buSzPts val="1100"/>
              <a:buNone/>
            </a:pPr>
            <a:r>
              <a:rPr lang="es-ES"/>
              <a:t>Ejemplo: Hoy a las 3 voy al Parque Arauco o al Alto Las Condes. </a:t>
            </a:r>
            <a:endParaRPr/>
          </a:p>
          <a:p>
            <a:pPr indent="0" lvl="0" marL="0" rtl="0" algn="ctr">
              <a:lnSpc>
                <a:spcPct val="100000"/>
              </a:lnSpc>
              <a:spcBef>
                <a:spcPts val="1600"/>
              </a:spcBef>
              <a:spcAft>
                <a:spcPts val="1600"/>
              </a:spcAft>
              <a:buClr>
                <a:schemeClr val="dk1"/>
              </a:buClr>
              <a:buSzPts val="1100"/>
              <a:buFont typeface="Arial"/>
              <a:buNone/>
            </a:pPr>
            <a:r>
              <a:rPr lang="es-ES"/>
              <a:t>Su notación es: </a:t>
            </a:r>
            <a:endParaRPr/>
          </a:p>
        </p:txBody>
      </p:sp>
      <p:pic>
        <p:nvPicPr>
          <p:cNvPr id="133" name="Google Shape;133;p16"/>
          <p:cNvPicPr preferRelativeResize="0"/>
          <p:nvPr/>
        </p:nvPicPr>
        <p:blipFill rotWithShape="1">
          <a:blip r:embed="rId3">
            <a:alphaModFix/>
          </a:blip>
          <a:srcRect b="0" l="0" r="0" t="0"/>
          <a:stretch/>
        </p:blipFill>
        <p:spPr>
          <a:xfrm>
            <a:off x="5294767" y="2869521"/>
            <a:ext cx="244446" cy="367165"/>
          </a:xfrm>
          <a:prstGeom prst="rect">
            <a:avLst/>
          </a:prstGeom>
          <a:noFill/>
          <a:ln>
            <a:noFill/>
          </a:ln>
        </p:spPr>
      </p:pic>
      <p:sp>
        <p:nvSpPr>
          <p:cNvPr id="134" name="Google Shape;134;p16"/>
          <p:cNvSpPr/>
          <p:nvPr/>
        </p:nvSpPr>
        <p:spPr>
          <a:xfrm>
            <a:off x="4070804" y="3315607"/>
            <a:ext cx="1223963" cy="6477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rgbClr val="000000"/>
              </a:buClr>
              <a:buSzPts val="1800"/>
              <a:buFont typeface="Arial"/>
              <a:buNone/>
            </a:pPr>
            <a:r>
              <a:rPr b="1" i="0" lang="es-ES" sz="1800" u="none" cap="none" strike="noStrike">
                <a:solidFill>
                  <a:srgbClr val="000000"/>
                </a:solidFill>
                <a:latin typeface="Calibri"/>
                <a:ea typeface="Calibri"/>
                <a:cs typeface="Calibri"/>
                <a:sym typeface="Calibri"/>
              </a:rPr>
              <a:t>p        q</a:t>
            </a:r>
            <a:endParaRPr b="1" i="0" sz="1800" u="none" cap="none" strike="noStrike">
              <a:solidFill>
                <a:srgbClr val="000000"/>
              </a:solidFill>
              <a:latin typeface="Calibri"/>
              <a:ea typeface="Calibri"/>
              <a:cs typeface="Calibri"/>
              <a:sym typeface="Calibri"/>
            </a:endParaRPr>
          </a:p>
        </p:txBody>
      </p:sp>
      <p:pic>
        <p:nvPicPr>
          <p:cNvPr id="135" name="Google Shape;135;p16"/>
          <p:cNvPicPr preferRelativeResize="0"/>
          <p:nvPr/>
        </p:nvPicPr>
        <p:blipFill rotWithShape="1">
          <a:blip r:embed="rId3">
            <a:alphaModFix/>
          </a:blip>
          <a:srcRect b="0" l="0" r="0" t="0"/>
          <a:stretch/>
        </p:blipFill>
        <p:spPr>
          <a:xfrm>
            <a:off x="4560562" y="3337379"/>
            <a:ext cx="244446" cy="36716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7"/>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Implicación o condicional</a:t>
            </a:r>
            <a:endParaRPr/>
          </a:p>
        </p:txBody>
      </p:sp>
      <p:sp>
        <p:nvSpPr>
          <p:cNvPr id="141" name="Google Shape;141;p17"/>
          <p:cNvSpPr txBox="1"/>
          <p:nvPr>
            <p:ph idx="2" type="subTitle"/>
          </p:nvPr>
        </p:nvSpPr>
        <p:spPr>
          <a:xfrm>
            <a:off x="1290207" y="1038649"/>
            <a:ext cx="6563385" cy="300358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None/>
            </a:pPr>
            <a:r>
              <a:rPr lang="es-ES"/>
              <a:t>Es aquél conectivo en el que se establece una condición para que se cumpla la otra proposición. </a:t>
            </a:r>
            <a:endParaRPr/>
          </a:p>
          <a:p>
            <a:pPr indent="0" lvl="0" marL="0" rtl="0" algn="ctr">
              <a:lnSpc>
                <a:spcPct val="100000"/>
              </a:lnSpc>
              <a:spcBef>
                <a:spcPts val="1600"/>
              </a:spcBef>
              <a:spcAft>
                <a:spcPts val="0"/>
              </a:spcAft>
              <a:buClr>
                <a:schemeClr val="dk1"/>
              </a:buClr>
              <a:buSzPts val="1100"/>
              <a:buNone/>
            </a:pPr>
            <a:r>
              <a:rPr lang="es-ES"/>
              <a:t>Normalmente se establece como:</a:t>
            </a:r>
            <a:endParaRPr/>
          </a:p>
          <a:p>
            <a:pPr indent="0" lvl="0" marL="0" rtl="0" algn="ctr">
              <a:lnSpc>
                <a:spcPct val="100000"/>
              </a:lnSpc>
              <a:spcBef>
                <a:spcPts val="1600"/>
              </a:spcBef>
              <a:spcAft>
                <a:spcPts val="0"/>
              </a:spcAft>
              <a:buClr>
                <a:schemeClr val="dk1"/>
              </a:buClr>
              <a:buSzPts val="1100"/>
              <a:buNone/>
            </a:pPr>
            <a:r>
              <a:rPr lang="es-ES"/>
              <a:t>“Si se cumple p,  entonces se cumple  q”</a:t>
            </a:r>
            <a:endParaRPr/>
          </a:p>
          <a:p>
            <a:pPr indent="0" lvl="0" marL="0" rtl="0" algn="ctr">
              <a:lnSpc>
                <a:spcPct val="100000"/>
              </a:lnSpc>
              <a:spcBef>
                <a:spcPts val="1600"/>
              </a:spcBef>
              <a:spcAft>
                <a:spcPts val="1600"/>
              </a:spcAft>
              <a:buClr>
                <a:schemeClr val="dk1"/>
              </a:buClr>
              <a:buSzPts val="1100"/>
              <a:buNone/>
            </a:pPr>
            <a:r>
              <a:rPr lang="es-ES"/>
              <a:t>p </a:t>
            </a:r>
            <a:r>
              <a:rPr b="1" lang="es-ES" sz="1400">
                <a:latin typeface="Arial"/>
                <a:ea typeface="Arial"/>
                <a:cs typeface="Arial"/>
                <a:sym typeface="Arial"/>
              </a:rPr>
              <a:t>→</a:t>
            </a:r>
            <a:r>
              <a:rPr lang="es-ES"/>
              <a:t> q</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8"/>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Bicondicional o doble implicación</a:t>
            </a:r>
            <a:endParaRPr/>
          </a:p>
        </p:txBody>
      </p:sp>
      <p:sp>
        <p:nvSpPr>
          <p:cNvPr id="147" name="Google Shape;147;p18"/>
          <p:cNvSpPr txBox="1"/>
          <p:nvPr>
            <p:ph idx="2" type="subTitle"/>
          </p:nvPr>
        </p:nvSpPr>
        <p:spPr>
          <a:xfrm>
            <a:off x="1290207" y="1038649"/>
            <a:ext cx="6563385" cy="300358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None/>
            </a:pPr>
            <a:r>
              <a:rPr lang="es-ES"/>
              <a:t>Es aquel conectivo de la forma:</a:t>
            </a:r>
            <a:endParaRPr/>
          </a:p>
          <a:p>
            <a:pPr indent="0" lvl="0" marL="0" rtl="0" algn="ctr">
              <a:lnSpc>
                <a:spcPct val="100000"/>
              </a:lnSpc>
              <a:spcBef>
                <a:spcPts val="1600"/>
              </a:spcBef>
              <a:spcAft>
                <a:spcPts val="0"/>
              </a:spcAft>
              <a:buClr>
                <a:schemeClr val="dk1"/>
              </a:buClr>
              <a:buSzPts val="1100"/>
              <a:buNone/>
            </a:pPr>
            <a:r>
              <a:rPr lang="es-ES"/>
              <a:t>“se cumple p si y solamente si se cumple q”</a:t>
            </a:r>
            <a:endParaRPr/>
          </a:p>
          <a:p>
            <a:pPr indent="0" lvl="0" marL="0" rtl="0" algn="ctr">
              <a:lnSpc>
                <a:spcPct val="100000"/>
              </a:lnSpc>
              <a:spcBef>
                <a:spcPts val="1600"/>
              </a:spcBef>
              <a:spcAft>
                <a:spcPts val="0"/>
              </a:spcAft>
              <a:buClr>
                <a:schemeClr val="dk1"/>
              </a:buClr>
              <a:buSzPts val="1100"/>
              <a:buNone/>
            </a:pPr>
            <a:r>
              <a:rPr b="1" lang="es-ES" sz="1400">
                <a:latin typeface="Arial"/>
                <a:ea typeface="Arial"/>
                <a:cs typeface="Arial"/>
                <a:sym typeface="Arial"/>
              </a:rPr>
              <a:t>p ↔ q</a:t>
            </a:r>
            <a:endParaRPr/>
          </a:p>
          <a:p>
            <a:pPr indent="0" lvl="0" marL="0" rtl="0" algn="ctr">
              <a:lnSpc>
                <a:spcPct val="100000"/>
              </a:lnSpc>
              <a:spcBef>
                <a:spcPts val="1600"/>
              </a:spcBef>
              <a:spcAft>
                <a:spcPts val="0"/>
              </a:spcAft>
              <a:buClr>
                <a:schemeClr val="dk1"/>
              </a:buClr>
              <a:buSzPts val="1100"/>
              <a:buNone/>
            </a:pPr>
            <a:r>
              <a:rPr lang="es-ES"/>
              <a:t>Esto significa que también se cumple la situación inversa, es decir que como se cumple q, también se cumple p</a:t>
            </a:r>
            <a:endParaRPr/>
          </a:p>
          <a:p>
            <a:pPr indent="0" lvl="0" marL="0" rtl="0" algn="ctr">
              <a:lnSpc>
                <a:spcPct val="100000"/>
              </a:lnSpc>
              <a:spcBef>
                <a:spcPts val="1600"/>
              </a:spcBef>
              <a:spcAft>
                <a:spcPts val="1600"/>
              </a:spcAft>
              <a:buClr>
                <a:schemeClr val="dk1"/>
              </a:buClr>
              <a:buSzPts val="11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9"/>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Valores de verdad de la negación</a:t>
            </a:r>
            <a:endParaRPr/>
          </a:p>
        </p:txBody>
      </p:sp>
      <p:graphicFrame>
        <p:nvGraphicFramePr>
          <p:cNvPr id="153" name="Google Shape;153;p19"/>
          <p:cNvGraphicFramePr/>
          <p:nvPr/>
        </p:nvGraphicFramePr>
        <p:xfrm>
          <a:off x="2877017" y="1554163"/>
          <a:ext cx="3000000" cy="3000000"/>
        </p:xfrm>
        <a:graphic>
          <a:graphicData uri="http://schemas.openxmlformats.org/drawingml/2006/table">
            <a:tbl>
              <a:tblPr>
                <a:noFill/>
                <a:tableStyleId>{278E3518-77ED-42F4-BFF9-689341700721}</a:tableStyleId>
              </a:tblPr>
              <a:tblGrid>
                <a:gridCol w="1684325"/>
                <a:gridCol w="1705425"/>
              </a:tblGrid>
              <a:tr h="857250">
                <a:tc>
                  <a:txBody>
                    <a:bodyPr/>
                    <a:lstStyle/>
                    <a:p>
                      <a:pPr indent="0" lvl="0" marL="0" marR="0" rtl="0" algn="ctr">
                        <a:lnSpc>
                          <a:spcPct val="100000"/>
                        </a:lnSpc>
                        <a:spcBef>
                          <a:spcPts val="0"/>
                        </a:spcBef>
                        <a:spcAft>
                          <a:spcPts val="0"/>
                        </a:spcAft>
                        <a:buClr>
                          <a:schemeClr val="dk1"/>
                        </a:buClr>
                        <a:buSzPts val="4000"/>
                        <a:buFont typeface="Arial"/>
                        <a:buNone/>
                      </a:pPr>
                      <a:r>
                        <a:rPr b="0" i="0" lang="es-ES" sz="4000" u="none" cap="none" strike="noStrike">
                          <a:solidFill>
                            <a:schemeClr val="dk1"/>
                          </a:solidFill>
                          <a:latin typeface="Arial"/>
                          <a:ea typeface="Arial"/>
                          <a:cs typeface="Arial"/>
                          <a:sym typeface="Arial"/>
                        </a:rPr>
                        <a:t>p</a:t>
                      </a:r>
                      <a:endParaRPr b="0" i="0" sz="40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4000"/>
                        <a:buFont typeface="Arial"/>
                        <a:buNone/>
                      </a:pPr>
                      <a:r>
                        <a:rPr b="0" i="0" lang="es-ES" sz="4000" u="none" cap="none" strike="noStrike">
                          <a:solidFill>
                            <a:schemeClr val="dk1"/>
                          </a:solidFill>
                          <a:latin typeface="Arial"/>
                          <a:ea typeface="Arial"/>
                          <a:cs typeface="Arial"/>
                          <a:sym typeface="Arial"/>
                        </a:rPr>
                        <a:t>¬p</a:t>
                      </a:r>
                      <a:endParaRPr b="0" i="0" sz="40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57250">
                <a:tc>
                  <a:txBody>
                    <a:bodyPr/>
                    <a:lstStyle/>
                    <a:p>
                      <a:pPr indent="0" lvl="0" marL="0" marR="0" rtl="0" algn="ctr">
                        <a:lnSpc>
                          <a:spcPct val="100000"/>
                        </a:lnSpc>
                        <a:spcBef>
                          <a:spcPts val="0"/>
                        </a:spcBef>
                        <a:spcAft>
                          <a:spcPts val="0"/>
                        </a:spcAft>
                        <a:buClr>
                          <a:schemeClr val="dk1"/>
                        </a:buClr>
                        <a:buSzPts val="4000"/>
                        <a:buFont typeface="Arial"/>
                        <a:buNone/>
                      </a:pPr>
                      <a:r>
                        <a:rPr b="0" i="0" lang="es-ES" sz="40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4000"/>
                        <a:buFont typeface="Arial"/>
                        <a:buNone/>
                      </a:pPr>
                      <a:r>
                        <a:rPr b="0" i="0" lang="es-ES" sz="40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57250">
                <a:tc>
                  <a:txBody>
                    <a:bodyPr/>
                    <a:lstStyle/>
                    <a:p>
                      <a:pPr indent="0" lvl="0" marL="0" marR="0" rtl="0" algn="ctr">
                        <a:lnSpc>
                          <a:spcPct val="100000"/>
                        </a:lnSpc>
                        <a:spcBef>
                          <a:spcPts val="0"/>
                        </a:spcBef>
                        <a:spcAft>
                          <a:spcPts val="0"/>
                        </a:spcAft>
                        <a:buClr>
                          <a:schemeClr val="dk1"/>
                        </a:buClr>
                        <a:buSzPts val="4000"/>
                        <a:buFont typeface="Arial"/>
                        <a:buNone/>
                      </a:pPr>
                      <a:r>
                        <a:rPr b="0" i="0" lang="es-ES" sz="40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4000"/>
                        <a:buFont typeface="Arial"/>
                        <a:buNone/>
                      </a:pPr>
                      <a:r>
                        <a:rPr b="0" i="0" lang="es-ES" sz="40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0"/>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Valores de verdad de la conjunción</a:t>
            </a:r>
            <a:endParaRPr/>
          </a:p>
        </p:txBody>
      </p:sp>
      <p:graphicFrame>
        <p:nvGraphicFramePr>
          <p:cNvPr id="159" name="Google Shape;159;p20"/>
          <p:cNvGraphicFramePr/>
          <p:nvPr/>
        </p:nvGraphicFramePr>
        <p:xfrm>
          <a:off x="2607369" y="1448707"/>
          <a:ext cx="3000000" cy="3000000"/>
        </p:xfrm>
        <a:graphic>
          <a:graphicData uri="http://schemas.openxmlformats.org/drawingml/2006/table">
            <a:tbl>
              <a:tblPr>
                <a:noFill/>
                <a:tableStyleId>{278E3518-77ED-42F4-BFF9-689341700721}</a:tableStyleId>
              </a:tblPr>
              <a:tblGrid>
                <a:gridCol w="1309675"/>
                <a:gridCol w="1309700"/>
                <a:gridCol w="1309675"/>
              </a:tblGrid>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q</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 ∧ q</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1"/>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Valores de verdad de la disyunción</a:t>
            </a:r>
            <a:endParaRPr/>
          </a:p>
        </p:txBody>
      </p:sp>
      <p:graphicFrame>
        <p:nvGraphicFramePr>
          <p:cNvPr id="165" name="Google Shape;165;p21"/>
          <p:cNvGraphicFramePr/>
          <p:nvPr/>
        </p:nvGraphicFramePr>
        <p:xfrm>
          <a:off x="2607369" y="1448707"/>
          <a:ext cx="3000000" cy="3000000"/>
        </p:xfrm>
        <a:graphic>
          <a:graphicData uri="http://schemas.openxmlformats.org/drawingml/2006/table">
            <a:tbl>
              <a:tblPr>
                <a:noFill/>
                <a:tableStyleId>{278E3518-77ED-42F4-BFF9-689341700721}</a:tableStyleId>
              </a:tblPr>
              <a:tblGrid>
                <a:gridCol w="1309675"/>
                <a:gridCol w="1309700"/>
                <a:gridCol w="1309675"/>
              </a:tblGrid>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q</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 ∨ q</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2"/>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Valores de verdad de la disyunción excluyente</a:t>
            </a:r>
            <a:endParaRPr/>
          </a:p>
        </p:txBody>
      </p:sp>
      <p:graphicFrame>
        <p:nvGraphicFramePr>
          <p:cNvPr id="171" name="Google Shape;171;p22"/>
          <p:cNvGraphicFramePr/>
          <p:nvPr/>
        </p:nvGraphicFramePr>
        <p:xfrm>
          <a:off x="2607369" y="1448707"/>
          <a:ext cx="3000000" cy="3000000"/>
        </p:xfrm>
        <a:graphic>
          <a:graphicData uri="http://schemas.openxmlformats.org/drawingml/2006/table">
            <a:tbl>
              <a:tblPr>
                <a:noFill/>
                <a:tableStyleId>{278E3518-77ED-42F4-BFF9-689341700721}</a:tableStyleId>
              </a:tblPr>
              <a:tblGrid>
                <a:gridCol w="1309675"/>
                <a:gridCol w="1309700"/>
                <a:gridCol w="1309675"/>
              </a:tblGrid>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q</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  q</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pic>
        <p:nvPicPr>
          <p:cNvPr id="172" name="Google Shape;172;p22"/>
          <p:cNvPicPr preferRelativeResize="0"/>
          <p:nvPr/>
        </p:nvPicPr>
        <p:blipFill rotWithShape="1">
          <a:blip r:embed="rId3">
            <a:alphaModFix/>
          </a:blip>
          <a:srcRect b="0" l="0" r="0" t="0"/>
          <a:stretch/>
        </p:blipFill>
        <p:spPr>
          <a:xfrm>
            <a:off x="5744484" y="1510167"/>
            <a:ext cx="289442" cy="43474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Valores de verdad de la implicancia</a:t>
            </a:r>
            <a:endParaRPr/>
          </a:p>
        </p:txBody>
      </p:sp>
      <p:graphicFrame>
        <p:nvGraphicFramePr>
          <p:cNvPr id="178" name="Google Shape;178;p23"/>
          <p:cNvGraphicFramePr/>
          <p:nvPr/>
        </p:nvGraphicFramePr>
        <p:xfrm>
          <a:off x="2607369" y="1448707"/>
          <a:ext cx="3000000" cy="3000000"/>
        </p:xfrm>
        <a:graphic>
          <a:graphicData uri="http://schemas.openxmlformats.org/drawingml/2006/table">
            <a:tbl>
              <a:tblPr>
                <a:noFill/>
                <a:tableStyleId>{278E3518-77ED-42F4-BFF9-689341700721}</a:tableStyleId>
              </a:tblPr>
              <a:tblGrid>
                <a:gridCol w="1309675"/>
                <a:gridCol w="1309700"/>
                <a:gridCol w="1309675"/>
              </a:tblGrid>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q</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79" name="Google Shape;179;p23"/>
          <p:cNvSpPr txBox="1"/>
          <p:nvPr/>
        </p:nvSpPr>
        <p:spPr>
          <a:xfrm>
            <a:off x="5215631" y="1518884"/>
            <a:ext cx="132080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s-ES" sz="2000" u="none" cap="none" strike="noStrike">
                <a:solidFill>
                  <a:schemeClr val="dk1"/>
                </a:solidFill>
                <a:latin typeface="Arial"/>
                <a:ea typeface="Arial"/>
                <a:cs typeface="Arial"/>
                <a:sym typeface="Arial"/>
              </a:rPr>
              <a:t>p → q</a:t>
            </a:r>
            <a:endParaRPr b="0" i="0" sz="2000" u="none" cap="none" strike="noStrike">
              <a:solidFill>
                <a:schemeClr val="dk1"/>
              </a:solidFill>
              <a:latin typeface="Times New Roman"/>
              <a:ea typeface="Times New Roman"/>
              <a:cs typeface="Times New Roman"/>
              <a:sym typeface="Times New Roman"/>
            </a:endParaRPr>
          </a:p>
        </p:txBody>
      </p:sp>
      <p:sp>
        <p:nvSpPr>
          <p:cNvPr id="180" name="Google Shape;180;p23"/>
          <p:cNvSpPr txBox="1"/>
          <p:nvPr/>
        </p:nvSpPr>
        <p:spPr>
          <a:xfrm>
            <a:off x="389866" y="1826076"/>
            <a:ext cx="1826745" cy="181588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202124"/>
                </a:solidFill>
                <a:latin typeface="arial"/>
                <a:ea typeface="arial"/>
                <a:cs typeface="arial"/>
                <a:sym typeface="arial"/>
              </a:rPr>
              <a:t>Devolviendo el valor de falso sólo cuando la primera proposición es verdadera y la segunda falsa, y verdadero en cualquier otro caso.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4"/>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Valores de verdad de la implicancia</a:t>
            </a:r>
            <a:endParaRPr/>
          </a:p>
        </p:txBody>
      </p:sp>
      <p:pic>
        <p:nvPicPr>
          <p:cNvPr id="186" name="Google Shape;186;p24"/>
          <p:cNvPicPr preferRelativeResize="0"/>
          <p:nvPr/>
        </p:nvPicPr>
        <p:blipFill rotWithShape="1">
          <a:blip r:embed="rId3">
            <a:alphaModFix/>
          </a:blip>
          <a:srcRect b="0" l="0" r="0" t="0"/>
          <a:stretch/>
        </p:blipFill>
        <p:spPr>
          <a:xfrm>
            <a:off x="1040166" y="1742393"/>
            <a:ext cx="7063468" cy="145320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5"/>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Valores de verdad de la implicancia</a:t>
            </a:r>
            <a:endParaRPr/>
          </a:p>
        </p:txBody>
      </p:sp>
      <p:pic>
        <p:nvPicPr>
          <p:cNvPr id="192" name="Google Shape;192;p25"/>
          <p:cNvPicPr preferRelativeResize="0"/>
          <p:nvPr/>
        </p:nvPicPr>
        <p:blipFill rotWithShape="1">
          <a:blip r:embed="rId3">
            <a:alphaModFix/>
          </a:blip>
          <a:srcRect b="0" l="0" r="0" t="0"/>
          <a:stretch/>
        </p:blipFill>
        <p:spPr>
          <a:xfrm>
            <a:off x="192314" y="1604016"/>
            <a:ext cx="8759371" cy="193546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6"/>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Valores de verdad de la bicondicional</a:t>
            </a:r>
            <a:endParaRPr/>
          </a:p>
        </p:txBody>
      </p:sp>
      <p:graphicFrame>
        <p:nvGraphicFramePr>
          <p:cNvPr id="198" name="Google Shape;198;p26"/>
          <p:cNvGraphicFramePr/>
          <p:nvPr/>
        </p:nvGraphicFramePr>
        <p:xfrm>
          <a:off x="2607369" y="1448707"/>
          <a:ext cx="3000000" cy="3000000"/>
        </p:xfrm>
        <a:graphic>
          <a:graphicData uri="http://schemas.openxmlformats.org/drawingml/2006/table">
            <a:tbl>
              <a:tblPr>
                <a:noFill/>
                <a:tableStyleId>{278E3518-77ED-42F4-BFF9-689341700721}</a:tableStyleId>
              </a:tblPr>
              <a:tblGrid>
                <a:gridCol w="1309675"/>
                <a:gridCol w="1309700"/>
                <a:gridCol w="1309675"/>
              </a:tblGrid>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q</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7225">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99" name="Google Shape;199;p26"/>
          <p:cNvSpPr txBox="1"/>
          <p:nvPr/>
        </p:nvSpPr>
        <p:spPr>
          <a:xfrm>
            <a:off x="5215631" y="1518884"/>
            <a:ext cx="132080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s-ES" sz="2000" u="none" cap="none" strike="noStrike">
                <a:solidFill>
                  <a:schemeClr val="dk1"/>
                </a:solidFill>
                <a:latin typeface="Arial"/>
                <a:ea typeface="Arial"/>
                <a:cs typeface="Arial"/>
                <a:sym typeface="Arial"/>
              </a:rPr>
              <a:t>p ↔ q</a:t>
            </a:r>
            <a:endParaRPr b="0" i="0" sz="2000" u="none" cap="none" strike="noStrike">
              <a:solidFill>
                <a:schemeClr val="dk1"/>
              </a:solidFill>
              <a:latin typeface="Times New Roman"/>
              <a:ea typeface="Times New Roman"/>
              <a:cs typeface="Times New Roman"/>
              <a:sym typeface="Times New Roman"/>
            </a:endParaRPr>
          </a:p>
        </p:txBody>
      </p:sp>
      <p:sp>
        <p:nvSpPr>
          <p:cNvPr id="200" name="Google Shape;200;p26"/>
          <p:cNvSpPr txBox="1"/>
          <p:nvPr/>
        </p:nvSpPr>
        <p:spPr>
          <a:xfrm>
            <a:off x="469694" y="1718354"/>
            <a:ext cx="1826745" cy="22467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202124"/>
                </a:solidFill>
                <a:latin typeface="arial"/>
                <a:ea typeface="arial"/>
                <a:cs typeface="arial"/>
                <a:sym typeface="arial"/>
              </a:rPr>
              <a:t>Es verdadero cuando ambas proposiciones (p y q) tienen el mismo valor de verdad, es decir, ambas son verdaderas o falsas simultáneamente; de lo contrario, es falso.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7"/>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Valores de verdad de la bicondicional</a:t>
            </a:r>
            <a:endParaRPr/>
          </a:p>
        </p:txBody>
      </p:sp>
      <p:sp>
        <p:nvSpPr>
          <p:cNvPr id="206" name="Google Shape;206;p27"/>
          <p:cNvSpPr txBox="1"/>
          <p:nvPr/>
        </p:nvSpPr>
        <p:spPr>
          <a:xfrm>
            <a:off x="391786" y="955875"/>
            <a:ext cx="8360100" cy="3540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202124"/>
                </a:solidFill>
                <a:latin typeface="arial"/>
                <a:ea typeface="arial"/>
                <a:cs typeface="arial"/>
                <a:sym typeface="arial"/>
              </a:rPr>
              <a:t>Es esencial distinguir entre las relaciones bicondicionales y las que son meramente condicionales.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202124"/>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202124"/>
                </a:solidFill>
                <a:latin typeface="arial"/>
                <a:ea typeface="arial"/>
                <a:cs typeface="arial"/>
                <a:sym typeface="arial"/>
              </a:rPr>
              <a:t>Por ejemplo, nótese la diferencia entre las dos proposiciones siguientes: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202124"/>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Arial"/>
              <a:buChar char="•"/>
            </a:pPr>
            <a:r>
              <a:rPr b="0" i="0" lang="es-ES" sz="1400" u="none" cap="none" strike="noStrike">
                <a:solidFill>
                  <a:srgbClr val="202124"/>
                </a:solidFill>
                <a:latin typeface="arial"/>
                <a:ea typeface="arial"/>
                <a:cs typeface="arial"/>
                <a:sym typeface="arial"/>
              </a:rPr>
              <a:t>Una persona es mayor de edad si posee legalmente el carné de conductor público.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202124"/>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202124"/>
                </a:solidFill>
                <a:latin typeface="arial"/>
                <a:ea typeface="arial"/>
                <a:cs typeface="arial"/>
                <a:sym typeface="arial"/>
              </a:rPr>
              <a:t>O bien,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202124"/>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Arial"/>
              <a:buChar char="•"/>
            </a:pPr>
            <a:r>
              <a:rPr b="0" i="0" lang="es-ES" sz="1400" u="none" cap="none" strike="noStrike">
                <a:solidFill>
                  <a:srgbClr val="202124"/>
                </a:solidFill>
                <a:latin typeface="arial"/>
                <a:ea typeface="arial"/>
                <a:cs typeface="arial"/>
                <a:sym typeface="arial"/>
              </a:rPr>
              <a:t>Una persona es mayor de edad si y solo si posee legalmente el carné de conductor público.</a:t>
            </a:r>
            <a:endParaRPr b="0" i="0" sz="1400" u="none" cap="none" strike="noStrike">
              <a:solidFill>
                <a:srgbClr val="000000"/>
              </a:solidFill>
              <a:latin typeface="Arial"/>
              <a:ea typeface="Arial"/>
              <a:cs typeface="Arial"/>
              <a:sym typeface="Arial"/>
            </a:endParaRPr>
          </a:p>
          <a:p>
            <a:pPr indent="-196850" lvl="0" marL="28575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202124"/>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La primera es correcta, puesto que es imposible poseer legalmente el carné de conducir siendo menor de edad. Por tanto, si se tiene el carné, se tiene que ser obligatoriamente mayor de edad.</a:t>
            </a:r>
            <a:endParaRPr b="0" i="0" sz="1400" u="none" cap="none" strike="noStrike">
              <a:solidFill>
                <a:srgbClr val="000000"/>
              </a:solidFill>
              <a:latin typeface="Arial"/>
              <a:ea typeface="Arial"/>
              <a:cs typeface="Arial"/>
              <a:sym typeface="Arial"/>
            </a:endParaRPr>
          </a:p>
          <a:p>
            <a:pPr indent="-196850" lvl="0" marL="28575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La segunda es incorrecta, puesto que la relación entre "tener el carné de conducir" y "ser mayor de edad" no es bicondicional. Dicho de otro modo: se puede ser mayor de edad sin tener el carné de conducir.</a:t>
            </a:r>
            <a:endParaRPr b="0" i="0" sz="1400" u="none" cap="none" strike="noStrike">
              <a:solidFill>
                <a:srgbClr val="000000"/>
              </a:solidFill>
              <a:latin typeface="Arial"/>
              <a:ea typeface="Arial"/>
              <a:cs typeface="Arial"/>
              <a:sym typeface="Arial"/>
            </a:endParaRPr>
          </a:p>
        </p:txBody>
      </p:sp>
      <p:sp>
        <p:nvSpPr>
          <p:cNvPr id="207" name="Google Shape;207;p27"/>
          <p:cNvSpPr/>
          <p:nvPr/>
        </p:nvSpPr>
        <p:spPr>
          <a:xfrm>
            <a:off x="239450" y="3013375"/>
            <a:ext cx="8572500" cy="150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1f2c7a22d7c_0_24"/>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Valores de verdad de la bicondicional</a:t>
            </a:r>
            <a:endParaRPr/>
          </a:p>
        </p:txBody>
      </p:sp>
      <p:sp>
        <p:nvSpPr>
          <p:cNvPr id="213" name="Google Shape;213;g1f2c7a22d7c_0_24"/>
          <p:cNvSpPr txBox="1"/>
          <p:nvPr/>
        </p:nvSpPr>
        <p:spPr>
          <a:xfrm>
            <a:off x="391786" y="955875"/>
            <a:ext cx="8360100" cy="3540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202124"/>
                </a:solidFill>
                <a:latin typeface="arial"/>
                <a:ea typeface="arial"/>
                <a:cs typeface="arial"/>
                <a:sym typeface="arial"/>
              </a:rPr>
              <a:t>Es esencial distinguir entre las relaciones bicondicionales y las que son meramente condicionales.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202124"/>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202124"/>
                </a:solidFill>
                <a:latin typeface="arial"/>
                <a:ea typeface="arial"/>
                <a:cs typeface="arial"/>
                <a:sym typeface="arial"/>
              </a:rPr>
              <a:t>Por ejemplo, nótese la diferencia entre las dos proposiciones siguientes: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202124"/>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Arial"/>
              <a:buChar char="•"/>
            </a:pPr>
            <a:r>
              <a:rPr b="0" i="0" lang="es-ES" sz="1400" u="none" cap="none" strike="noStrike">
                <a:solidFill>
                  <a:srgbClr val="202124"/>
                </a:solidFill>
                <a:latin typeface="arial"/>
                <a:ea typeface="arial"/>
                <a:cs typeface="arial"/>
                <a:sym typeface="arial"/>
              </a:rPr>
              <a:t>Una persona es mayor de edad si posee legalmente el carné de conductor público.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202124"/>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202124"/>
                </a:solidFill>
                <a:latin typeface="arial"/>
                <a:ea typeface="arial"/>
                <a:cs typeface="arial"/>
                <a:sym typeface="arial"/>
              </a:rPr>
              <a:t>O bien,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202124"/>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Arial"/>
              <a:buChar char="•"/>
            </a:pPr>
            <a:r>
              <a:rPr b="0" i="0" lang="es-ES" sz="1400" u="none" cap="none" strike="noStrike">
                <a:solidFill>
                  <a:srgbClr val="202124"/>
                </a:solidFill>
                <a:latin typeface="arial"/>
                <a:ea typeface="arial"/>
                <a:cs typeface="arial"/>
                <a:sym typeface="arial"/>
              </a:rPr>
              <a:t>Una persona es mayor de edad si y solo si posee legalmente el carné de conductor público.</a:t>
            </a:r>
            <a:endParaRPr b="0" i="0" sz="1400" u="none" cap="none" strike="noStrike">
              <a:solidFill>
                <a:srgbClr val="000000"/>
              </a:solidFill>
              <a:latin typeface="Arial"/>
              <a:ea typeface="Arial"/>
              <a:cs typeface="Arial"/>
              <a:sym typeface="Arial"/>
            </a:endParaRPr>
          </a:p>
          <a:p>
            <a:pPr indent="-196850" lvl="0" marL="28575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202124"/>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La primera es correcta, puesto que es imposible poseer legalmente el carné de conducir siendo menor de edad. Por tanto, si se tiene el carné, se tiene que ser obligatoriamente mayor de edad.</a:t>
            </a:r>
            <a:endParaRPr b="0" i="0" sz="1400" u="none" cap="none" strike="noStrike">
              <a:solidFill>
                <a:srgbClr val="000000"/>
              </a:solidFill>
              <a:latin typeface="Arial"/>
              <a:ea typeface="Arial"/>
              <a:cs typeface="Arial"/>
              <a:sym typeface="Arial"/>
            </a:endParaRPr>
          </a:p>
          <a:p>
            <a:pPr indent="-196850" lvl="0" marL="28575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La segunda es incorrecta, puesto que la relación entre "tener el carné de conducir" y "ser mayor de edad" no es bicondicional. Dicho de otro modo: se puede ser mayor de edad sin tener el carné de conducir.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Verdad lógica o Tautología</a:t>
            </a:r>
            <a:endParaRPr/>
          </a:p>
        </p:txBody>
      </p:sp>
      <p:sp>
        <p:nvSpPr>
          <p:cNvPr id="219" name="Google Shape;219;p28"/>
          <p:cNvSpPr txBox="1"/>
          <p:nvPr>
            <p:ph idx="2" type="subTitle"/>
          </p:nvPr>
        </p:nvSpPr>
        <p:spPr>
          <a:xfrm>
            <a:off x="1290207" y="2140857"/>
            <a:ext cx="6563385" cy="1901372"/>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Clr>
                <a:schemeClr val="dk1"/>
              </a:buClr>
              <a:buSzPts val="1100"/>
              <a:buNone/>
            </a:pPr>
            <a:r>
              <a:rPr lang="es-ES"/>
              <a:t>Son aquellas proposiciones que siempre son verdad, sin importar los valores de verdad de las proposiciones que la componen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1f2c7a22d7c_0_3"/>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Font typeface="Montserrat"/>
              <a:buNone/>
            </a:pPr>
            <a:r>
              <a:rPr b="1" lang="es-ES">
                <a:latin typeface="Arial"/>
                <a:ea typeface="Arial"/>
                <a:cs typeface="Arial"/>
                <a:sym typeface="Arial"/>
              </a:rPr>
              <a:t>Consideremos la proposición  ((p ∧ q) → p)</a:t>
            </a:r>
            <a:endParaRPr/>
          </a:p>
        </p:txBody>
      </p:sp>
      <p:graphicFrame>
        <p:nvGraphicFramePr>
          <p:cNvPr id="225" name="Google Shape;225;g1f2c7a22d7c_0_3"/>
          <p:cNvGraphicFramePr/>
          <p:nvPr/>
        </p:nvGraphicFramePr>
        <p:xfrm>
          <a:off x="1714400" y="1150030"/>
          <a:ext cx="3000000" cy="3000000"/>
        </p:xfrm>
        <a:graphic>
          <a:graphicData uri="http://schemas.openxmlformats.org/drawingml/2006/table">
            <a:tbl>
              <a:tblPr>
                <a:noFill/>
                <a:tableStyleId>{278E3518-77ED-42F4-BFF9-689341700721}</a:tableStyleId>
              </a:tblPr>
              <a:tblGrid>
                <a:gridCol w="1317625"/>
                <a:gridCol w="1316050"/>
                <a:gridCol w="1317625"/>
                <a:gridCol w="1763700"/>
              </a:tblGrid>
              <a:tr h="642950">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q</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 ∧ q</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(p∧q)→p</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2950">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2950">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2950">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2950">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26" name="Google Shape;226;g1f2c7a22d7c_0_3"/>
          <p:cNvSpPr/>
          <p:nvPr/>
        </p:nvSpPr>
        <p:spPr>
          <a:xfrm>
            <a:off x="1543950" y="1792975"/>
            <a:ext cx="6075300" cy="273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9"/>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Font typeface="Montserrat"/>
              <a:buNone/>
            </a:pPr>
            <a:r>
              <a:rPr b="1" lang="es-ES">
                <a:latin typeface="Arial"/>
                <a:ea typeface="Arial"/>
                <a:cs typeface="Arial"/>
                <a:sym typeface="Arial"/>
              </a:rPr>
              <a:t>Consideremos la proposición  </a:t>
            </a:r>
            <a:r>
              <a:rPr b="1" lang="es-ES">
                <a:latin typeface="Arial"/>
                <a:ea typeface="Arial"/>
                <a:cs typeface="Arial"/>
                <a:sym typeface="Arial"/>
              </a:rPr>
              <a:t>(</a:t>
            </a:r>
            <a:r>
              <a:rPr b="1" lang="es-ES">
                <a:latin typeface="Arial"/>
                <a:ea typeface="Arial"/>
                <a:cs typeface="Arial"/>
                <a:sym typeface="Arial"/>
              </a:rPr>
              <a:t>(p ∧ q) → p)</a:t>
            </a:r>
            <a:endParaRPr/>
          </a:p>
        </p:txBody>
      </p:sp>
      <p:graphicFrame>
        <p:nvGraphicFramePr>
          <p:cNvPr id="232" name="Google Shape;232;p29"/>
          <p:cNvGraphicFramePr/>
          <p:nvPr/>
        </p:nvGraphicFramePr>
        <p:xfrm>
          <a:off x="1714400" y="1150030"/>
          <a:ext cx="3000000" cy="3000000"/>
        </p:xfrm>
        <a:graphic>
          <a:graphicData uri="http://schemas.openxmlformats.org/drawingml/2006/table">
            <a:tbl>
              <a:tblPr>
                <a:noFill/>
                <a:tableStyleId>{278E3518-77ED-42F4-BFF9-689341700721}</a:tableStyleId>
              </a:tblPr>
              <a:tblGrid>
                <a:gridCol w="1317625"/>
                <a:gridCol w="1316050"/>
                <a:gridCol w="1317625"/>
                <a:gridCol w="1763700"/>
              </a:tblGrid>
              <a:tr h="642950">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q</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 ∧ q</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Arial"/>
                          <a:ea typeface="Arial"/>
                          <a:cs typeface="Arial"/>
                          <a:sym typeface="Arial"/>
                        </a:rPr>
                        <a:t>(p∧q)→p</a:t>
                      </a:r>
                      <a:endParaRPr b="0" i="0" sz="2800" u="none" cap="none" strike="noStrike">
                        <a:solidFill>
                          <a:schemeClr val="dk1"/>
                        </a:solidFill>
                        <a:latin typeface="Times New Roman"/>
                        <a:ea typeface="Times New Roman"/>
                        <a:cs typeface="Times New Roman"/>
                        <a:sym typeface="Times New Roman"/>
                      </a:endParaRPr>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2950">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2950">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2950">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2950">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F</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es-ES" sz="2800" u="none" cap="none" strike="noStrike">
                          <a:solidFill>
                            <a:schemeClr val="dk1"/>
                          </a:solidFill>
                          <a:latin typeface="Times New Roman"/>
                          <a:ea typeface="Times New Roman"/>
                          <a:cs typeface="Times New Roman"/>
                          <a:sym typeface="Times New Roman"/>
                        </a:rPr>
                        <a:t>V</a:t>
                      </a:r>
                      <a:endParaRPr sz="1400" u="none" cap="none" strike="noStrike"/>
                    </a:p>
                  </a:txBody>
                  <a:tcPr marT="0" marB="0" marR="44450" marL="44450" anchor="ctr" anchorCtr="1">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Contingencia</a:t>
            </a:r>
            <a:endParaRPr/>
          </a:p>
        </p:txBody>
      </p:sp>
      <p:sp>
        <p:nvSpPr>
          <p:cNvPr id="238" name="Google Shape;238;p30"/>
          <p:cNvSpPr txBox="1"/>
          <p:nvPr>
            <p:ph idx="2" type="subTitle"/>
          </p:nvPr>
        </p:nvSpPr>
        <p:spPr>
          <a:xfrm>
            <a:off x="1290320" y="1188532"/>
            <a:ext cx="6563400" cy="1901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Clr>
                <a:schemeClr val="dk1"/>
              </a:buClr>
              <a:buSzPts val="1100"/>
              <a:buNone/>
            </a:pPr>
            <a:r>
              <a:rPr lang="es-ES"/>
              <a:t>Son aquellas proposiciones que pueden ser verdad o falso, dependiendo de los valores de verdad de las proposiciones que le componen</a:t>
            </a:r>
            <a:endParaRPr/>
          </a:p>
        </p:txBody>
      </p:sp>
      <p:pic>
        <p:nvPicPr>
          <p:cNvPr id="239" name="Google Shape;239;p30"/>
          <p:cNvPicPr preferRelativeResize="0"/>
          <p:nvPr/>
        </p:nvPicPr>
        <p:blipFill rotWithShape="1">
          <a:blip r:embed="rId3">
            <a:alphaModFix/>
          </a:blip>
          <a:srcRect b="0" l="0" r="0" t="0"/>
          <a:stretch/>
        </p:blipFill>
        <p:spPr>
          <a:xfrm>
            <a:off x="3124100" y="2194513"/>
            <a:ext cx="2895600" cy="2181225"/>
          </a:xfrm>
          <a:prstGeom prst="rect">
            <a:avLst/>
          </a:prstGeom>
          <a:noFill/>
          <a:ln>
            <a:noFill/>
          </a:ln>
        </p:spPr>
      </p:pic>
      <p:sp>
        <p:nvSpPr>
          <p:cNvPr id="240" name="Google Shape;240;p30"/>
          <p:cNvSpPr/>
          <p:nvPr/>
        </p:nvSpPr>
        <p:spPr>
          <a:xfrm>
            <a:off x="3096950" y="2454300"/>
            <a:ext cx="2931900" cy="185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1f2c7a22d7c_0_9"/>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s-ES"/>
              <a:t>Contingencia</a:t>
            </a:r>
            <a:endParaRPr/>
          </a:p>
        </p:txBody>
      </p:sp>
      <p:sp>
        <p:nvSpPr>
          <p:cNvPr id="246" name="Google Shape;246;g1f2c7a22d7c_0_9"/>
          <p:cNvSpPr txBox="1"/>
          <p:nvPr>
            <p:ph idx="2" type="subTitle"/>
          </p:nvPr>
        </p:nvSpPr>
        <p:spPr>
          <a:xfrm>
            <a:off x="1290320" y="1188532"/>
            <a:ext cx="6563400" cy="1901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Clr>
                <a:schemeClr val="dk1"/>
              </a:buClr>
              <a:buSzPts val="1100"/>
              <a:buNone/>
            </a:pPr>
            <a:r>
              <a:rPr lang="es-ES"/>
              <a:t>Son aquellas proposiciones que pueden ser verdad o falso, dependiendo de los valores de verdad de las proposiciones que le componen</a:t>
            </a:r>
            <a:endParaRPr/>
          </a:p>
        </p:txBody>
      </p:sp>
      <p:pic>
        <p:nvPicPr>
          <p:cNvPr id="247" name="Google Shape;247;g1f2c7a22d7c_0_9"/>
          <p:cNvPicPr preferRelativeResize="0"/>
          <p:nvPr/>
        </p:nvPicPr>
        <p:blipFill rotWithShape="1">
          <a:blip r:embed="rId3">
            <a:alphaModFix/>
          </a:blip>
          <a:srcRect b="0" l="0" r="0" t="0"/>
          <a:stretch/>
        </p:blipFill>
        <p:spPr>
          <a:xfrm>
            <a:off x="3124100" y="2194513"/>
            <a:ext cx="2895600" cy="21812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1"/>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sz="2800">
                <a:latin typeface="Overlock"/>
                <a:ea typeface="Overlock"/>
                <a:cs typeface="Overlock"/>
                <a:sym typeface="Overlock"/>
              </a:rPr>
              <a:t>Contradicciones</a:t>
            </a:r>
            <a:endParaRPr/>
          </a:p>
        </p:txBody>
      </p:sp>
      <p:sp>
        <p:nvSpPr>
          <p:cNvPr id="253" name="Google Shape;253;p31"/>
          <p:cNvSpPr txBox="1"/>
          <p:nvPr>
            <p:ph idx="2" type="subTitle"/>
          </p:nvPr>
        </p:nvSpPr>
        <p:spPr>
          <a:xfrm>
            <a:off x="1290207" y="2140857"/>
            <a:ext cx="6563385" cy="1901372"/>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Clr>
                <a:schemeClr val="dk1"/>
              </a:buClr>
              <a:buSzPts val="1100"/>
              <a:buNone/>
            </a:pPr>
            <a:r>
              <a:rPr lang="es-ES"/>
              <a:t>Son aquellas proposiciones que siempre son falsas, sin importar los valores de verdad de las proposiciones que la componen</a:t>
            </a:r>
            <a:endParaRPr/>
          </a:p>
        </p:txBody>
      </p:sp>
      <p:pic>
        <p:nvPicPr>
          <p:cNvPr id="254" name="Google Shape;254;p31"/>
          <p:cNvPicPr preferRelativeResize="0"/>
          <p:nvPr/>
        </p:nvPicPr>
        <p:blipFill rotWithShape="1">
          <a:blip r:embed="rId3">
            <a:alphaModFix/>
          </a:blip>
          <a:srcRect b="0" l="0" r="0" t="0"/>
          <a:stretch/>
        </p:blipFill>
        <p:spPr>
          <a:xfrm>
            <a:off x="3300388" y="3089900"/>
            <a:ext cx="2543225" cy="1161725"/>
          </a:xfrm>
          <a:prstGeom prst="rect">
            <a:avLst/>
          </a:prstGeom>
          <a:noFill/>
          <a:ln>
            <a:noFill/>
          </a:ln>
        </p:spPr>
      </p:pic>
      <p:sp>
        <p:nvSpPr>
          <p:cNvPr id="255" name="Google Shape;255;p31"/>
          <p:cNvSpPr/>
          <p:nvPr/>
        </p:nvSpPr>
        <p:spPr>
          <a:xfrm>
            <a:off x="3246025" y="3547600"/>
            <a:ext cx="2597700" cy="70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1f2c7a22d7c_0_16"/>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sz="2800">
                <a:latin typeface="Overlock"/>
                <a:ea typeface="Overlock"/>
                <a:cs typeface="Overlock"/>
                <a:sym typeface="Overlock"/>
              </a:rPr>
              <a:t>Contradicciones</a:t>
            </a:r>
            <a:endParaRPr/>
          </a:p>
        </p:txBody>
      </p:sp>
      <p:sp>
        <p:nvSpPr>
          <p:cNvPr id="261" name="Google Shape;261;g1f2c7a22d7c_0_16"/>
          <p:cNvSpPr txBox="1"/>
          <p:nvPr>
            <p:ph idx="2" type="subTitle"/>
          </p:nvPr>
        </p:nvSpPr>
        <p:spPr>
          <a:xfrm>
            <a:off x="1290207" y="2140857"/>
            <a:ext cx="6563400" cy="1901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Clr>
                <a:schemeClr val="dk1"/>
              </a:buClr>
              <a:buSzPts val="1100"/>
              <a:buNone/>
            </a:pPr>
            <a:r>
              <a:rPr lang="es-ES"/>
              <a:t>Son aquellas proposiciones que siempre son falsas, sin importar los valores de verdad de las proposiciones que la componen</a:t>
            </a:r>
            <a:endParaRPr/>
          </a:p>
        </p:txBody>
      </p:sp>
      <p:pic>
        <p:nvPicPr>
          <p:cNvPr id="262" name="Google Shape;262;g1f2c7a22d7c_0_16"/>
          <p:cNvPicPr preferRelativeResize="0"/>
          <p:nvPr/>
        </p:nvPicPr>
        <p:blipFill rotWithShape="1">
          <a:blip r:embed="rId3">
            <a:alphaModFix/>
          </a:blip>
          <a:srcRect b="0" l="0" r="0" t="0"/>
          <a:stretch/>
        </p:blipFill>
        <p:spPr>
          <a:xfrm>
            <a:off x="3300388" y="3089900"/>
            <a:ext cx="2543225" cy="11617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1f2e25a46ab_0_1"/>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sz="2800">
                <a:latin typeface="Overlock"/>
                <a:ea typeface="Overlock"/>
                <a:cs typeface="Overlock"/>
                <a:sym typeface="Overlock"/>
              </a:rPr>
              <a:t>Algebra de proposiciones</a:t>
            </a:r>
            <a:endParaRPr/>
          </a:p>
        </p:txBody>
      </p:sp>
      <p:pic>
        <p:nvPicPr>
          <p:cNvPr id="268" name="Google Shape;268;g1f2e25a46ab_0_1"/>
          <p:cNvPicPr preferRelativeResize="0"/>
          <p:nvPr/>
        </p:nvPicPr>
        <p:blipFill rotWithShape="1">
          <a:blip r:embed="rId3">
            <a:alphaModFix/>
          </a:blip>
          <a:srcRect b="0" l="0" r="0" t="0"/>
          <a:stretch/>
        </p:blipFill>
        <p:spPr>
          <a:xfrm>
            <a:off x="3322071" y="1132316"/>
            <a:ext cx="2499859" cy="584283"/>
          </a:xfrm>
          <a:prstGeom prst="rect">
            <a:avLst/>
          </a:prstGeom>
          <a:noFill/>
          <a:ln>
            <a:noFill/>
          </a:ln>
        </p:spPr>
      </p:pic>
      <p:graphicFrame>
        <p:nvGraphicFramePr>
          <p:cNvPr id="269" name="Google Shape;269;g1f2e25a46ab_0_1"/>
          <p:cNvGraphicFramePr/>
          <p:nvPr/>
        </p:nvGraphicFramePr>
        <p:xfrm>
          <a:off x="2188708" y="1985509"/>
          <a:ext cx="3000000" cy="3000000"/>
        </p:xfrm>
        <a:graphic>
          <a:graphicData uri="http://schemas.openxmlformats.org/drawingml/2006/table">
            <a:tbl>
              <a:tblPr>
                <a:noFill/>
                <a:tableStyleId>{278E3518-77ED-42F4-BFF9-689341700721}</a:tableStyleId>
              </a:tblPr>
              <a:tblGrid>
                <a:gridCol w="794650"/>
                <a:gridCol w="794650"/>
                <a:gridCol w="794650"/>
                <a:gridCol w="793375"/>
                <a:gridCol w="794650"/>
                <a:gridCol w="794650"/>
              </a:tblGrid>
              <a:tr h="468075">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p</a:t>
                      </a:r>
                      <a:endParaRPr b="1" i="0" sz="2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q</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q</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r>
              <a:tr h="468075">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r>
              <a:tr h="467075">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r>
              <a:tr h="468075">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r>
              <a:tr h="468075">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AE7FF"/>
                    </a:solidFill>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AE7FF"/>
                    </a:solidFill>
                  </a:tcPr>
                </a:tc>
              </a:tr>
            </a:tbl>
          </a:graphicData>
        </a:graphic>
      </p:graphicFrame>
      <p:pic>
        <p:nvPicPr>
          <p:cNvPr id="270" name="Google Shape;270;g1f2e25a46ab_0_1"/>
          <p:cNvPicPr preferRelativeResize="0"/>
          <p:nvPr/>
        </p:nvPicPr>
        <p:blipFill rotWithShape="1">
          <a:blip r:embed="rId4">
            <a:alphaModFix/>
          </a:blip>
          <a:srcRect b="0" l="0" r="0" t="0"/>
          <a:stretch/>
        </p:blipFill>
        <p:spPr>
          <a:xfrm>
            <a:off x="3780971" y="2122714"/>
            <a:ext cx="791029" cy="354647"/>
          </a:xfrm>
          <a:prstGeom prst="rect">
            <a:avLst/>
          </a:prstGeom>
          <a:noFill/>
          <a:ln>
            <a:noFill/>
          </a:ln>
        </p:spPr>
      </p:pic>
      <p:pic>
        <p:nvPicPr>
          <p:cNvPr id="271" name="Google Shape;271;g1f2e25a46ab_0_1"/>
          <p:cNvPicPr preferRelativeResize="0"/>
          <p:nvPr/>
        </p:nvPicPr>
        <p:blipFill rotWithShape="1">
          <a:blip r:embed="rId5">
            <a:alphaModFix/>
          </a:blip>
          <a:srcRect b="0" l="0" r="0" t="0"/>
          <a:stretch/>
        </p:blipFill>
        <p:spPr>
          <a:xfrm>
            <a:off x="4859790" y="1985509"/>
            <a:ext cx="234722" cy="468412"/>
          </a:xfrm>
          <a:prstGeom prst="rect">
            <a:avLst/>
          </a:prstGeom>
          <a:noFill/>
          <a:ln>
            <a:noFill/>
          </a:ln>
        </p:spPr>
      </p:pic>
      <p:pic>
        <p:nvPicPr>
          <p:cNvPr id="272" name="Google Shape;272;g1f2e25a46ab_0_1"/>
          <p:cNvPicPr preferRelativeResize="0"/>
          <p:nvPr/>
        </p:nvPicPr>
        <p:blipFill rotWithShape="1">
          <a:blip r:embed="rId6">
            <a:alphaModFix/>
          </a:blip>
          <a:srcRect b="0" l="0" r="0" t="0"/>
          <a:stretch/>
        </p:blipFill>
        <p:spPr>
          <a:xfrm>
            <a:off x="6227536" y="1985509"/>
            <a:ext cx="727756" cy="545816"/>
          </a:xfrm>
          <a:prstGeom prst="rect">
            <a:avLst/>
          </a:prstGeom>
          <a:noFill/>
          <a:ln>
            <a:noFill/>
          </a:ln>
        </p:spPr>
      </p:pic>
      <p:sp>
        <p:nvSpPr>
          <p:cNvPr id="273" name="Google Shape;273;g1f2e25a46ab_0_1"/>
          <p:cNvSpPr/>
          <p:nvPr/>
        </p:nvSpPr>
        <p:spPr>
          <a:xfrm>
            <a:off x="2140300" y="2528825"/>
            <a:ext cx="4815000" cy="209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2"/>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sz="2800">
                <a:latin typeface="Overlock"/>
                <a:ea typeface="Overlock"/>
                <a:cs typeface="Overlock"/>
                <a:sym typeface="Overlock"/>
              </a:rPr>
              <a:t>Algebra de proposiciones</a:t>
            </a:r>
            <a:endParaRPr/>
          </a:p>
        </p:txBody>
      </p:sp>
      <p:pic>
        <p:nvPicPr>
          <p:cNvPr id="279" name="Google Shape;279;p32"/>
          <p:cNvPicPr preferRelativeResize="0"/>
          <p:nvPr/>
        </p:nvPicPr>
        <p:blipFill rotWithShape="1">
          <a:blip r:embed="rId3">
            <a:alphaModFix/>
          </a:blip>
          <a:srcRect b="0" l="0" r="0" t="0"/>
          <a:stretch/>
        </p:blipFill>
        <p:spPr>
          <a:xfrm>
            <a:off x="3322071" y="1132316"/>
            <a:ext cx="2499858" cy="584283"/>
          </a:xfrm>
          <a:prstGeom prst="rect">
            <a:avLst/>
          </a:prstGeom>
          <a:noFill/>
          <a:ln>
            <a:noFill/>
          </a:ln>
        </p:spPr>
      </p:pic>
      <p:graphicFrame>
        <p:nvGraphicFramePr>
          <p:cNvPr id="280" name="Google Shape;280;p32"/>
          <p:cNvGraphicFramePr/>
          <p:nvPr/>
        </p:nvGraphicFramePr>
        <p:xfrm>
          <a:off x="2188708" y="1985509"/>
          <a:ext cx="3000000" cy="3000000"/>
        </p:xfrm>
        <a:graphic>
          <a:graphicData uri="http://schemas.openxmlformats.org/drawingml/2006/table">
            <a:tbl>
              <a:tblPr>
                <a:noFill/>
                <a:tableStyleId>{278E3518-77ED-42F4-BFF9-689341700721}</a:tableStyleId>
              </a:tblPr>
              <a:tblGrid>
                <a:gridCol w="794650"/>
                <a:gridCol w="794650"/>
                <a:gridCol w="794650"/>
                <a:gridCol w="793375"/>
                <a:gridCol w="794650"/>
                <a:gridCol w="794650"/>
              </a:tblGrid>
              <a:tr h="468075">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p</a:t>
                      </a:r>
                      <a:endParaRPr b="1" i="0" sz="2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q</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q</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r>
              <a:tr h="468075">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r>
              <a:tr h="467075">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r>
              <a:tr h="468075">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7FF"/>
                    </a:solidFill>
                  </a:tcPr>
                </a:tc>
              </a:tr>
              <a:tr h="468075">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AE7FF"/>
                    </a:solidFill>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F</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1" i="0" lang="es-ES" sz="2800" u="none" cap="none" strike="noStrike">
                          <a:solidFill>
                            <a:schemeClr val="dk1"/>
                          </a:solidFill>
                          <a:latin typeface="Arial"/>
                          <a:ea typeface="Arial"/>
                          <a:cs typeface="Arial"/>
                          <a:sym typeface="Arial"/>
                        </a:rPr>
                        <a:t>V</a:t>
                      </a:r>
                      <a:endParaRPr b="1"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AE7FF"/>
                    </a:solidFill>
                  </a:tcPr>
                </a:tc>
              </a:tr>
            </a:tbl>
          </a:graphicData>
        </a:graphic>
      </p:graphicFrame>
      <p:pic>
        <p:nvPicPr>
          <p:cNvPr id="281" name="Google Shape;281;p32"/>
          <p:cNvPicPr preferRelativeResize="0"/>
          <p:nvPr/>
        </p:nvPicPr>
        <p:blipFill rotWithShape="1">
          <a:blip r:embed="rId4">
            <a:alphaModFix/>
          </a:blip>
          <a:srcRect b="0" l="0" r="0" t="0"/>
          <a:stretch/>
        </p:blipFill>
        <p:spPr>
          <a:xfrm>
            <a:off x="3780971" y="2122714"/>
            <a:ext cx="791029" cy="354647"/>
          </a:xfrm>
          <a:prstGeom prst="rect">
            <a:avLst/>
          </a:prstGeom>
          <a:noFill/>
          <a:ln>
            <a:noFill/>
          </a:ln>
        </p:spPr>
      </p:pic>
      <p:pic>
        <p:nvPicPr>
          <p:cNvPr id="282" name="Google Shape;282;p32"/>
          <p:cNvPicPr preferRelativeResize="0"/>
          <p:nvPr/>
        </p:nvPicPr>
        <p:blipFill rotWithShape="1">
          <a:blip r:embed="rId5">
            <a:alphaModFix/>
          </a:blip>
          <a:srcRect b="0" l="0" r="0" t="0"/>
          <a:stretch/>
        </p:blipFill>
        <p:spPr>
          <a:xfrm>
            <a:off x="4859790" y="1985509"/>
            <a:ext cx="234723" cy="468412"/>
          </a:xfrm>
          <a:prstGeom prst="rect">
            <a:avLst/>
          </a:prstGeom>
          <a:noFill/>
          <a:ln>
            <a:noFill/>
          </a:ln>
        </p:spPr>
      </p:pic>
      <p:pic>
        <p:nvPicPr>
          <p:cNvPr id="283" name="Google Shape;283;p32"/>
          <p:cNvPicPr preferRelativeResize="0"/>
          <p:nvPr/>
        </p:nvPicPr>
        <p:blipFill rotWithShape="1">
          <a:blip r:embed="rId6">
            <a:alphaModFix/>
          </a:blip>
          <a:srcRect b="0" l="0" r="0" t="0"/>
          <a:stretch/>
        </p:blipFill>
        <p:spPr>
          <a:xfrm>
            <a:off x="6227536" y="1985509"/>
            <a:ext cx="727755" cy="5458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3"/>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Verdades lógicas usuales</a:t>
            </a:r>
            <a:endParaRPr/>
          </a:p>
        </p:txBody>
      </p:sp>
      <p:sp>
        <p:nvSpPr>
          <p:cNvPr id="289" name="Google Shape;289;p33"/>
          <p:cNvSpPr txBox="1"/>
          <p:nvPr>
            <p:ph idx="2" type="subTitle"/>
          </p:nvPr>
        </p:nvSpPr>
        <p:spPr>
          <a:xfrm>
            <a:off x="1290207" y="1262743"/>
            <a:ext cx="6563385" cy="1045028"/>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None/>
            </a:pPr>
            <a:r>
              <a:rPr lang="es-ES"/>
              <a:t>Ley de Idempotencia</a:t>
            </a:r>
            <a:endParaRPr/>
          </a:p>
          <a:p>
            <a:pPr indent="-342900" lvl="0" marL="457200" rtl="0" algn="just">
              <a:lnSpc>
                <a:spcPct val="100000"/>
              </a:lnSpc>
              <a:spcBef>
                <a:spcPts val="1600"/>
              </a:spcBef>
              <a:spcAft>
                <a:spcPts val="0"/>
              </a:spcAft>
              <a:buSzPts val="1800"/>
              <a:buNone/>
            </a:pPr>
            <a:r>
              <a:rPr lang="es-ES" sz="1400">
                <a:latin typeface="Arial"/>
                <a:ea typeface="Arial"/>
                <a:cs typeface="Arial"/>
                <a:sym typeface="Arial"/>
              </a:rPr>
              <a:t>p ∨ p ↔ p</a:t>
            </a:r>
            <a:endParaRPr sz="1400"/>
          </a:p>
          <a:p>
            <a:pPr indent="-342900" lvl="0" marL="457200" rtl="0" algn="just">
              <a:lnSpc>
                <a:spcPct val="100000"/>
              </a:lnSpc>
              <a:spcBef>
                <a:spcPts val="0"/>
              </a:spcBef>
              <a:spcAft>
                <a:spcPts val="0"/>
              </a:spcAft>
              <a:buSzPts val="1800"/>
              <a:buNone/>
            </a:pPr>
            <a:r>
              <a:rPr lang="es-ES" sz="1400">
                <a:latin typeface="Arial"/>
                <a:ea typeface="Arial"/>
                <a:cs typeface="Arial"/>
                <a:sym typeface="Arial"/>
              </a:rPr>
              <a:t>p ∧ p ↔ p</a:t>
            </a:r>
            <a:endParaRPr/>
          </a:p>
        </p:txBody>
      </p:sp>
      <p:sp>
        <p:nvSpPr>
          <p:cNvPr id="290" name="Google Shape;290;p33"/>
          <p:cNvSpPr txBox="1"/>
          <p:nvPr/>
        </p:nvSpPr>
        <p:spPr>
          <a:xfrm>
            <a:off x="1290206" y="2293256"/>
            <a:ext cx="6563385" cy="10450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Montserrat"/>
              <a:buNone/>
            </a:pPr>
            <a:r>
              <a:rPr b="0" i="0" lang="es-ES" sz="1400" u="none" cap="none" strike="noStrike">
                <a:solidFill>
                  <a:schemeClr val="dk1"/>
                </a:solidFill>
                <a:latin typeface="Montserrat"/>
                <a:ea typeface="Montserrat"/>
                <a:cs typeface="Montserrat"/>
                <a:sym typeface="Montserrat"/>
              </a:rPr>
              <a:t>Ley asociativa</a:t>
            </a:r>
            <a:endParaRPr b="0" i="0" sz="1400" u="none" cap="none" strike="noStrike">
              <a:solidFill>
                <a:srgbClr val="000000"/>
              </a:solidFill>
              <a:latin typeface="Arial"/>
              <a:ea typeface="Arial"/>
              <a:cs typeface="Arial"/>
              <a:sym typeface="Arial"/>
            </a:endParaRPr>
          </a:p>
          <a:p>
            <a:pPr indent="-342900" lvl="0" marL="457200" marR="0" rtl="0" algn="just">
              <a:lnSpc>
                <a:spcPct val="100000"/>
              </a:lnSpc>
              <a:spcBef>
                <a:spcPts val="1600"/>
              </a:spcBef>
              <a:spcAft>
                <a:spcPts val="0"/>
              </a:spcAft>
              <a:buClr>
                <a:schemeClr val="dk2"/>
              </a:buClr>
              <a:buSzPts val="1800"/>
              <a:buFont typeface="Montserrat"/>
              <a:buNone/>
            </a:pPr>
            <a:r>
              <a:rPr b="0" i="0" lang="es-ES" sz="1400" u="none" cap="none" strike="noStrike">
                <a:solidFill>
                  <a:schemeClr val="dk1"/>
                </a:solidFill>
                <a:latin typeface="Arial"/>
                <a:ea typeface="Arial"/>
                <a:cs typeface="Arial"/>
                <a:sym typeface="Arial"/>
              </a:rPr>
              <a:t>(p ∨ q ) ∨ r ↔ p ∨ (q ∨ r)</a:t>
            </a:r>
            <a:endParaRPr b="0" i="0" sz="1400" u="none" cap="none" strike="noStrike">
              <a:solidFill>
                <a:schemeClr val="dk1"/>
              </a:solidFill>
              <a:latin typeface="Arial"/>
              <a:ea typeface="Arial"/>
              <a:cs typeface="Arial"/>
              <a:sym typeface="Arial"/>
            </a:endParaRPr>
          </a:p>
          <a:p>
            <a:pPr indent="-342900" lvl="0" marL="457200" marR="0" rtl="0" algn="just">
              <a:lnSpc>
                <a:spcPct val="100000"/>
              </a:lnSpc>
              <a:spcBef>
                <a:spcPts val="0"/>
              </a:spcBef>
              <a:spcAft>
                <a:spcPts val="0"/>
              </a:spcAft>
              <a:buClr>
                <a:schemeClr val="dk2"/>
              </a:buClr>
              <a:buSzPts val="1800"/>
              <a:buFont typeface="Montserrat"/>
              <a:buNone/>
            </a:pPr>
            <a:r>
              <a:rPr b="0" i="0" lang="es-ES" sz="1400" u="none" cap="none" strike="noStrike">
                <a:solidFill>
                  <a:schemeClr val="dk1"/>
                </a:solidFill>
                <a:latin typeface="Arial"/>
                <a:ea typeface="Arial"/>
                <a:cs typeface="Arial"/>
                <a:sym typeface="Arial"/>
              </a:rPr>
              <a:t>(p ∧ q) ∧ r ↔ p ∧ (q ∧ r)</a:t>
            </a:r>
            <a:endParaRPr b="0" i="0" sz="1400" u="none" cap="none" strike="noStrike">
              <a:solidFill>
                <a:schemeClr val="dk1"/>
              </a:solidFill>
              <a:latin typeface="Arial"/>
              <a:ea typeface="Arial"/>
              <a:cs typeface="Arial"/>
              <a:sym typeface="Arial"/>
            </a:endParaRPr>
          </a:p>
        </p:txBody>
      </p:sp>
      <p:sp>
        <p:nvSpPr>
          <p:cNvPr id="291" name="Google Shape;291;p33"/>
          <p:cNvSpPr txBox="1"/>
          <p:nvPr/>
        </p:nvSpPr>
        <p:spPr>
          <a:xfrm>
            <a:off x="1290205" y="3338284"/>
            <a:ext cx="6563385" cy="10450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Montserrat"/>
              <a:buNone/>
            </a:pPr>
            <a:r>
              <a:rPr b="0" i="0" lang="es-ES" sz="1400" u="none" cap="none" strike="noStrike">
                <a:solidFill>
                  <a:schemeClr val="dk1"/>
                </a:solidFill>
                <a:latin typeface="Montserrat"/>
                <a:ea typeface="Montserrat"/>
                <a:cs typeface="Montserrat"/>
                <a:sym typeface="Montserrat"/>
              </a:rPr>
              <a:t>Ley conmutativa</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1600"/>
              </a:spcBef>
              <a:spcAft>
                <a:spcPts val="0"/>
              </a:spcAft>
              <a:buClr>
                <a:schemeClr val="dk2"/>
              </a:buClr>
              <a:buSzPts val="1800"/>
              <a:buFont typeface="Montserrat"/>
              <a:buNone/>
            </a:pPr>
            <a:r>
              <a:rPr b="0" i="0" lang="es-ES" sz="1400" u="none" cap="none" strike="noStrike">
                <a:solidFill>
                  <a:schemeClr val="dk1"/>
                </a:solidFill>
                <a:latin typeface="Arial"/>
                <a:ea typeface="Arial"/>
                <a:cs typeface="Arial"/>
                <a:sym typeface="Arial"/>
              </a:rPr>
              <a:t>p ∧ q ↔ q ∧ p</a:t>
            </a:r>
            <a:endParaRPr b="0" i="0" sz="14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2"/>
              </a:buClr>
              <a:buSzPts val="1800"/>
              <a:buFont typeface="Montserrat"/>
              <a:buNone/>
            </a:pPr>
            <a:r>
              <a:rPr b="0" i="0" lang="es-ES" sz="1400" u="none" cap="none" strike="noStrike">
                <a:solidFill>
                  <a:schemeClr val="dk1"/>
                </a:solidFill>
                <a:latin typeface="Arial"/>
                <a:ea typeface="Arial"/>
                <a:cs typeface="Arial"/>
                <a:sym typeface="Arial"/>
              </a:rPr>
              <a:t>p ∨ q ↔ q ∨ p</a:t>
            </a:r>
            <a:r>
              <a:rPr b="0" i="0" lang="es-ES" sz="900" u="none" cap="none" strike="noStrike">
                <a:solidFill>
                  <a:schemeClr val="dk1"/>
                </a:solidFill>
                <a:latin typeface="Montserrat"/>
                <a:ea typeface="Montserrat"/>
                <a:cs typeface="Montserrat"/>
                <a:sym typeface="Montserrat"/>
              </a:rPr>
              <a:t> </a:t>
            </a:r>
            <a:endParaRPr b="0" i="0" sz="1000" u="none" cap="none" strike="noStrik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4"/>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Verdades lógicas usuales</a:t>
            </a:r>
            <a:endParaRPr/>
          </a:p>
        </p:txBody>
      </p:sp>
      <p:sp>
        <p:nvSpPr>
          <p:cNvPr id="297" name="Google Shape;297;p34"/>
          <p:cNvSpPr txBox="1"/>
          <p:nvPr>
            <p:ph idx="2" type="subTitle"/>
          </p:nvPr>
        </p:nvSpPr>
        <p:spPr>
          <a:xfrm>
            <a:off x="1290207" y="1262743"/>
            <a:ext cx="6563385" cy="1741714"/>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None/>
            </a:pPr>
            <a:r>
              <a:rPr lang="es-ES"/>
              <a:t>Ley distributiva </a:t>
            </a:r>
            <a:endParaRPr/>
          </a:p>
          <a:p>
            <a:pPr indent="0" lvl="0" marL="0" rtl="0" algn="l">
              <a:lnSpc>
                <a:spcPct val="100000"/>
              </a:lnSpc>
              <a:spcBef>
                <a:spcPts val="1600"/>
              </a:spcBef>
              <a:spcAft>
                <a:spcPts val="0"/>
              </a:spcAft>
              <a:buClr>
                <a:schemeClr val="dk1"/>
              </a:buClr>
              <a:buSzPts val="1100"/>
              <a:buNone/>
            </a:pPr>
            <a:r>
              <a:rPr lang="es-ES" sz="1400">
                <a:latin typeface="Arial"/>
                <a:ea typeface="Arial"/>
                <a:cs typeface="Arial"/>
                <a:sym typeface="Arial"/>
              </a:rPr>
              <a:t>a ⋅ (b + c) ↔ (a </a:t>
            </a:r>
            <a:r>
              <a:rPr lang="es-ES">
                <a:latin typeface="Times New Roman"/>
                <a:ea typeface="Times New Roman"/>
                <a:cs typeface="Times New Roman"/>
                <a:sym typeface="Times New Roman"/>
              </a:rPr>
              <a:t>⋅</a:t>
            </a:r>
            <a:r>
              <a:rPr lang="es-ES" sz="1400">
                <a:latin typeface="Arial"/>
                <a:ea typeface="Arial"/>
                <a:cs typeface="Arial"/>
                <a:sym typeface="Arial"/>
              </a:rPr>
              <a:t> b) + (a </a:t>
            </a:r>
            <a:r>
              <a:rPr lang="es-ES">
                <a:latin typeface="Times New Roman"/>
                <a:ea typeface="Times New Roman"/>
                <a:cs typeface="Times New Roman"/>
                <a:sym typeface="Times New Roman"/>
              </a:rPr>
              <a:t>⋅</a:t>
            </a:r>
            <a:r>
              <a:rPr lang="es-ES" sz="1400">
                <a:latin typeface="Arial"/>
                <a:ea typeface="Arial"/>
                <a:cs typeface="Arial"/>
                <a:sym typeface="Arial"/>
              </a:rPr>
              <a:t> c)</a:t>
            </a:r>
            <a:endParaRPr/>
          </a:p>
          <a:p>
            <a:pPr indent="0" lvl="0" marL="0" rtl="0" algn="l">
              <a:lnSpc>
                <a:spcPct val="100000"/>
              </a:lnSpc>
              <a:spcBef>
                <a:spcPts val="1600"/>
              </a:spcBef>
              <a:spcAft>
                <a:spcPts val="0"/>
              </a:spcAft>
              <a:buClr>
                <a:schemeClr val="dk1"/>
              </a:buClr>
              <a:buSzPts val="1100"/>
              <a:buNone/>
            </a:pPr>
            <a:r>
              <a:rPr lang="es-ES" sz="1400">
                <a:latin typeface="Arial"/>
                <a:ea typeface="Arial"/>
                <a:cs typeface="Arial"/>
                <a:sym typeface="Arial"/>
              </a:rPr>
              <a:t>p ∨ (q ∧ r)</a:t>
            </a:r>
            <a:r>
              <a:rPr lang="es-ES">
                <a:latin typeface="Arial"/>
                <a:ea typeface="Arial"/>
                <a:cs typeface="Arial"/>
                <a:sym typeface="Arial"/>
              </a:rPr>
              <a:t> </a:t>
            </a:r>
            <a:r>
              <a:rPr lang="es-ES" sz="1400">
                <a:latin typeface="Arial"/>
                <a:ea typeface="Arial"/>
                <a:cs typeface="Arial"/>
                <a:sym typeface="Arial"/>
              </a:rPr>
              <a:t>↔ (p ∨ q) ∧ (p ∨ r)</a:t>
            </a:r>
            <a:endParaRPr sz="1400"/>
          </a:p>
          <a:p>
            <a:pPr indent="0" lvl="0" marL="0" rtl="0" algn="l">
              <a:lnSpc>
                <a:spcPct val="100000"/>
              </a:lnSpc>
              <a:spcBef>
                <a:spcPts val="1600"/>
              </a:spcBef>
              <a:spcAft>
                <a:spcPts val="1600"/>
              </a:spcAft>
              <a:buClr>
                <a:schemeClr val="dk1"/>
              </a:buClr>
              <a:buSzPts val="1100"/>
              <a:buNone/>
            </a:pPr>
            <a:r>
              <a:rPr lang="es-ES" sz="1400">
                <a:latin typeface="Arial"/>
                <a:ea typeface="Arial"/>
                <a:cs typeface="Arial"/>
                <a:sym typeface="Arial"/>
              </a:rPr>
              <a:t>p ∧ (q ∨ r)</a:t>
            </a:r>
            <a:r>
              <a:rPr lang="es-ES">
                <a:latin typeface="Arial"/>
                <a:ea typeface="Arial"/>
                <a:cs typeface="Arial"/>
                <a:sym typeface="Arial"/>
              </a:rPr>
              <a:t> </a:t>
            </a:r>
            <a:r>
              <a:rPr lang="es-ES" sz="1400">
                <a:latin typeface="Arial"/>
                <a:ea typeface="Arial"/>
                <a:cs typeface="Arial"/>
                <a:sym typeface="Arial"/>
              </a:rPr>
              <a:t>↔ (p ∧ q) ∨ (p ∧ r)</a:t>
            </a:r>
            <a:endParaRPr sz="1400">
              <a:latin typeface="Arial"/>
              <a:ea typeface="Arial"/>
              <a:cs typeface="Arial"/>
              <a:sym typeface="Arial"/>
            </a:endParaRPr>
          </a:p>
        </p:txBody>
      </p:sp>
      <p:sp>
        <p:nvSpPr>
          <p:cNvPr id="298" name="Google Shape;298;p34"/>
          <p:cNvSpPr txBox="1"/>
          <p:nvPr/>
        </p:nvSpPr>
        <p:spPr>
          <a:xfrm>
            <a:off x="1290205" y="3004457"/>
            <a:ext cx="6563385" cy="1378855"/>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600"/>
              </a:spcBef>
              <a:spcAft>
                <a:spcPts val="1600"/>
              </a:spcAft>
              <a:buClr>
                <a:schemeClr val="dk1"/>
              </a:buClr>
              <a:buSzPts val="1100"/>
              <a:buFont typeface="Arial"/>
              <a:buNone/>
            </a:pPr>
            <a:r>
              <a:t/>
            </a:r>
            <a:endParaRPr b="0" i="0" sz="14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5"/>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Verdades lógicas usuales</a:t>
            </a:r>
            <a:endParaRPr/>
          </a:p>
        </p:txBody>
      </p:sp>
      <p:sp>
        <p:nvSpPr>
          <p:cNvPr id="304" name="Google Shape;304;p35"/>
          <p:cNvSpPr txBox="1"/>
          <p:nvPr>
            <p:ph idx="2" type="subTitle"/>
          </p:nvPr>
        </p:nvSpPr>
        <p:spPr>
          <a:xfrm>
            <a:off x="1290207" y="1262743"/>
            <a:ext cx="6563385" cy="1741714"/>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600"/>
              </a:spcAft>
              <a:buClr>
                <a:schemeClr val="dk1"/>
              </a:buClr>
              <a:buSzPts val="1100"/>
              <a:buNone/>
            </a:pPr>
            <a:r>
              <a:rPr lang="es-ES"/>
              <a:t>Leyes de De Morgan</a:t>
            </a:r>
            <a:endParaRPr/>
          </a:p>
        </p:txBody>
      </p:sp>
      <p:sp>
        <p:nvSpPr>
          <p:cNvPr id="305" name="Google Shape;305;p35"/>
          <p:cNvSpPr txBox="1"/>
          <p:nvPr/>
        </p:nvSpPr>
        <p:spPr>
          <a:xfrm>
            <a:off x="1290205" y="3004457"/>
            <a:ext cx="6563385" cy="1378855"/>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Montserrat"/>
              <a:buNone/>
            </a:pPr>
            <a:r>
              <a:rPr b="0" i="0" lang="es-ES" sz="1400" u="none" cap="none" strike="noStrike">
                <a:solidFill>
                  <a:schemeClr val="dk1"/>
                </a:solidFill>
                <a:latin typeface="Montserrat"/>
                <a:ea typeface="Montserrat"/>
                <a:cs typeface="Montserrat"/>
                <a:sym typeface="Montserrat"/>
              </a:rPr>
              <a:t>Implicancia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1600"/>
              </a:spcAft>
              <a:buClr>
                <a:schemeClr val="dk1"/>
              </a:buClr>
              <a:buSzPts val="1100"/>
              <a:buFont typeface="Montserrat"/>
              <a:buNone/>
            </a:pPr>
            <a:r>
              <a:t/>
            </a:r>
            <a:endParaRPr b="0" i="0" sz="1400" u="none" cap="none" strike="noStrike">
              <a:solidFill>
                <a:schemeClr val="dk1"/>
              </a:solidFill>
              <a:latin typeface="Montserrat"/>
              <a:ea typeface="Montserrat"/>
              <a:cs typeface="Montserrat"/>
              <a:sym typeface="Montserrat"/>
            </a:endParaRPr>
          </a:p>
        </p:txBody>
      </p:sp>
      <p:pic>
        <p:nvPicPr>
          <p:cNvPr id="306" name="Google Shape;306;p35"/>
          <p:cNvPicPr preferRelativeResize="0"/>
          <p:nvPr/>
        </p:nvPicPr>
        <p:blipFill rotWithShape="1">
          <a:blip r:embed="rId3">
            <a:alphaModFix/>
          </a:blip>
          <a:srcRect b="0" l="0" r="0" t="0"/>
          <a:stretch/>
        </p:blipFill>
        <p:spPr>
          <a:xfrm>
            <a:off x="1290205" y="1730135"/>
            <a:ext cx="1612652" cy="383964"/>
          </a:xfrm>
          <a:prstGeom prst="rect">
            <a:avLst/>
          </a:prstGeom>
          <a:noFill/>
          <a:ln>
            <a:noFill/>
          </a:ln>
        </p:spPr>
      </p:pic>
      <p:pic>
        <p:nvPicPr>
          <p:cNvPr id="307" name="Google Shape;307;p35"/>
          <p:cNvPicPr preferRelativeResize="0"/>
          <p:nvPr/>
        </p:nvPicPr>
        <p:blipFill rotWithShape="1">
          <a:blip r:embed="rId4">
            <a:alphaModFix/>
          </a:blip>
          <a:srcRect b="0" l="0" r="0" t="0"/>
          <a:stretch/>
        </p:blipFill>
        <p:spPr>
          <a:xfrm>
            <a:off x="1290206" y="2189192"/>
            <a:ext cx="1612652" cy="384404"/>
          </a:xfrm>
          <a:prstGeom prst="rect">
            <a:avLst/>
          </a:prstGeom>
          <a:noFill/>
          <a:ln>
            <a:noFill/>
          </a:ln>
        </p:spPr>
      </p:pic>
      <p:pic>
        <p:nvPicPr>
          <p:cNvPr id="308" name="Google Shape;308;p35"/>
          <p:cNvPicPr preferRelativeResize="0"/>
          <p:nvPr/>
        </p:nvPicPr>
        <p:blipFill rotWithShape="1">
          <a:blip r:embed="rId5">
            <a:alphaModFix/>
          </a:blip>
          <a:srcRect b="0" l="0" r="0" t="0"/>
          <a:stretch/>
        </p:blipFill>
        <p:spPr>
          <a:xfrm>
            <a:off x="1377723" y="3500046"/>
            <a:ext cx="1303160" cy="355768"/>
          </a:xfrm>
          <a:prstGeom prst="rect">
            <a:avLst/>
          </a:prstGeom>
          <a:noFill/>
          <a:ln>
            <a:noFill/>
          </a:ln>
        </p:spPr>
      </p:pic>
      <p:pic>
        <p:nvPicPr>
          <p:cNvPr id="309" name="Google Shape;309;p35"/>
          <p:cNvPicPr preferRelativeResize="0"/>
          <p:nvPr/>
        </p:nvPicPr>
        <p:blipFill rotWithShape="1">
          <a:blip r:embed="rId6">
            <a:alphaModFix/>
          </a:blip>
          <a:srcRect b="0" l="0" r="0" t="0"/>
          <a:stretch/>
        </p:blipFill>
        <p:spPr>
          <a:xfrm>
            <a:off x="1377724" y="3869532"/>
            <a:ext cx="2270310" cy="28155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6"/>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315" name="Google Shape;315;p36"/>
          <p:cNvSpPr txBox="1"/>
          <p:nvPr/>
        </p:nvSpPr>
        <p:spPr>
          <a:xfrm>
            <a:off x="717800" y="1090711"/>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Simboliza</a:t>
            </a:r>
            <a:endParaRPr b="0" i="0" sz="1400" u="none" cap="none" strike="noStrike">
              <a:solidFill>
                <a:srgbClr val="000000"/>
              </a:solidFill>
              <a:latin typeface="Arial"/>
              <a:ea typeface="Arial"/>
              <a:cs typeface="Arial"/>
              <a:sym typeface="Arial"/>
            </a:endParaRPr>
          </a:p>
        </p:txBody>
      </p:sp>
      <p:pic>
        <p:nvPicPr>
          <p:cNvPr id="316" name="Google Shape;316;p36"/>
          <p:cNvPicPr preferRelativeResize="0"/>
          <p:nvPr/>
        </p:nvPicPr>
        <p:blipFill rotWithShape="1">
          <a:blip r:embed="rId3">
            <a:alphaModFix/>
          </a:blip>
          <a:srcRect b="0" l="0" r="0" t="0"/>
          <a:stretch/>
        </p:blipFill>
        <p:spPr>
          <a:xfrm>
            <a:off x="2587171" y="1479324"/>
            <a:ext cx="3969657" cy="169537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7"/>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322" name="Google Shape;322;p37"/>
          <p:cNvSpPr txBox="1"/>
          <p:nvPr/>
        </p:nvSpPr>
        <p:spPr>
          <a:xfrm>
            <a:off x="717800" y="1090711"/>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Simboliza las siguientes proposiciones</a:t>
            </a:r>
            <a:endParaRPr b="0" i="0" sz="1400" u="none" cap="none" strike="noStrike">
              <a:solidFill>
                <a:srgbClr val="000000"/>
              </a:solidFill>
              <a:latin typeface="Arial"/>
              <a:ea typeface="Arial"/>
              <a:cs typeface="Arial"/>
              <a:sym typeface="Arial"/>
            </a:endParaRPr>
          </a:p>
        </p:txBody>
      </p:sp>
      <p:pic>
        <p:nvPicPr>
          <p:cNvPr id="323" name="Google Shape;323;p37"/>
          <p:cNvPicPr preferRelativeResize="0"/>
          <p:nvPr/>
        </p:nvPicPr>
        <p:blipFill rotWithShape="1">
          <a:blip r:embed="rId3">
            <a:alphaModFix/>
          </a:blip>
          <a:srcRect b="0" l="0" r="0" t="0"/>
          <a:stretch/>
        </p:blipFill>
        <p:spPr>
          <a:xfrm>
            <a:off x="2144157" y="1674813"/>
            <a:ext cx="4855686" cy="2296844"/>
          </a:xfrm>
          <a:prstGeom prst="rect">
            <a:avLst/>
          </a:prstGeom>
          <a:noFill/>
          <a:ln>
            <a:noFill/>
          </a:ln>
        </p:spPr>
      </p:pic>
      <p:sp>
        <p:nvSpPr>
          <p:cNvPr id="324" name="Google Shape;324;p37"/>
          <p:cNvSpPr/>
          <p:nvPr/>
        </p:nvSpPr>
        <p:spPr>
          <a:xfrm>
            <a:off x="4997800" y="2877725"/>
            <a:ext cx="765000" cy="21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37"/>
          <p:cNvSpPr/>
          <p:nvPr/>
        </p:nvSpPr>
        <p:spPr>
          <a:xfrm>
            <a:off x="6461575" y="3146675"/>
            <a:ext cx="765000" cy="21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37"/>
          <p:cNvSpPr/>
          <p:nvPr/>
        </p:nvSpPr>
        <p:spPr>
          <a:xfrm>
            <a:off x="5630450" y="3459350"/>
            <a:ext cx="765000" cy="21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37"/>
          <p:cNvSpPr/>
          <p:nvPr/>
        </p:nvSpPr>
        <p:spPr>
          <a:xfrm>
            <a:off x="5083450" y="3760450"/>
            <a:ext cx="765000" cy="21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27a21dde541_0_18"/>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333" name="Google Shape;333;g27a21dde541_0_18"/>
          <p:cNvSpPr txBox="1"/>
          <p:nvPr/>
        </p:nvSpPr>
        <p:spPr>
          <a:xfrm>
            <a:off x="717800" y="1090711"/>
            <a:ext cx="4572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Simboliza las siguientes proposiciones</a:t>
            </a:r>
            <a:endParaRPr b="0" i="0" sz="1400" u="none" cap="none" strike="noStrike">
              <a:solidFill>
                <a:srgbClr val="000000"/>
              </a:solidFill>
              <a:latin typeface="Arial"/>
              <a:ea typeface="Arial"/>
              <a:cs typeface="Arial"/>
              <a:sym typeface="Arial"/>
            </a:endParaRPr>
          </a:p>
        </p:txBody>
      </p:sp>
      <p:pic>
        <p:nvPicPr>
          <p:cNvPr id="334" name="Google Shape;334;g27a21dde541_0_18"/>
          <p:cNvPicPr preferRelativeResize="0"/>
          <p:nvPr/>
        </p:nvPicPr>
        <p:blipFill rotWithShape="1">
          <a:blip r:embed="rId3">
            <a:alphaModFix/>
          </a:blip>
          <a:srcRect b="0" l="0" r="0" t="0"/>
          <a:stretch/>
        </p:blipFill>
        <p:spPr>
          <a:xfrm>
            <a:off x="2144157" y="1674813"/>
            <a:ext cx="4855686" cy="229684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8"/>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340" name="Google Shape;340;p38"/>
          <p:cNvSpPr txBox="1"/>
          <p:nvPr/>
        </p:nvSpPr>
        <p:spPr>
          <a:xfrm>
            <a:off x="717800" y="1090711"/>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Formaliza las siguientes proposiciones</a:t>
            </a:r>
            <a:endParaRPr b="0" i="0" sz="1400" u="none" cap="none" strike="noStrike">
              <a:solidFill>
                <a:srgbClr val="000000"/>
              </a:solidFill>
              <a:latin typeface="Arial"/>
              <a:ea typeface="Arial"/>
              <a:cs typeface="Arial"/>
              <a:sym typeface="Arial"/>
            </a:endParaRPr>
          </a:p>
        </p:txBody>
      </p:sp>
      <p:pic>
        <p:nvPicPr>
          <p:cNvPr id="341" name="Google Shape;341;p38"/>
          <p:cNvPicPr preferRelativeResize="0"/>
          <p:nvPr/>
        </p:nvPicPr>
        <p:blipFill rotWithShape="1">
          <a:blip r:embed="rId3">
            <a:alphaModFix/>
          </a:blip>
          <a:srcRect b="0" l="0" r="0" t="0"/>
          <a:stretch/>
        </p:blipFill>
        <p:spPr>
          <a:xfrm>
            <a:off x="1855985" y="1823977"/>
            <a:ext cx="5432030" cy="2228812"/>
          </a:xfrm>
          <a:prstGeom prst="rect">
            <a:avLst/>
          </a:prstGeom>
          <a:noFill/>
          <a:ln>
            <a:noFill/>
          </a:ln>
        </p:spPr>
      </p:pic>
      <p:sp>
        <p:nvSpPr>
          <p:cNvPr id="342" name="Google Shape;342;p38"/>
          <p:cNvSpPr/>
          <p:nvPr/>
        </p:nvSpPr>
        <p:spPr>
          <a:xfrm>
            <a:off x="1843200" y="3802975"/>
            <a:ext cx="1289400" cy="29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g27a21dde541_0_29"/>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348" name="Google Shape;348;g27a21dde541_0_29"/>
          <p:cNvSpPr txBox="1"/>
          <p:nvPr/>
        </p:nvSpPr>
        <p:spPr>
          <a:xfrm>
            <a:off x="717800" y="1090711"/>
            <a:ext cx="4572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Formaliza las siguientes proposiciones</a:t>
            </a:r>
            <a:endParaRPr b="0" i="0" sz="1400" u="none" cap="none" strike="noStrike">
              <a:solidFill>
                <a:srgbClr val="000000"/>
              </a:solidFill>
              <a:latin typeface="Arial"/>
              <a:ea typeface="Arial"/>
              <a:cs typeface="Arial"/>
              <a:sym typeface="Arial"/>
            </a:endParaRPr>
          </a:p>
        </p:txBody>
      </p:sp>
      <p:pic>
        <p:nvPicPr>
          <p:cNvPr id="349" name="Google Shape;349;g27a21dde541_0_29"/>
          <p:cNvPicPr preferRelativeResize="0"/>
          <p:nvPr/>
        </p:nvPicPr>
        <p:blipFill rotWithShape="1">
          <a:blip r:embed="rId3">
            <a:alphaModFix/>
          </a:blip>
          <a:srcRect b="0" l="0" r="0" t="0"/>
          <a:stretch/>
        </p:blipFill>
        <p:spPr>
          <a:xfrm>
            <a:off x="1855985" y="1823977"/>
            <a:ext cx="5432029" cy="222881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9"/>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355" name="Google Shape;355;p39"/>
          <p:cNvSpPr txBox="1"/>
          <p:nvPr/>
        </p:nvSpPr>
        <p:spPr>
          <a:xfrm>
            <a:off x="717800" y="1090711"/>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Enlaza cada proposición con su formalización</a:t>
            </a:r>
            <a:endParaRPr b="0" i="0" sz="1400" u="none" cap="none" strike="noStrike">
              <a:solidFill>
                <a:srgbClr val="000000"/>
              </a:solidFill>
              <a:latin typeface="Arial"/>
              <a:ea typeface="Arial"/>
              <a:cs typeface="Arial"/>
              <a:sym typeface="Arial"/>
            </a:endParaRPr>
          </a:p>
        </p:txBody>
      </p:sp>
      <p:pic>
        <p:nvPicPr>
          <p:cNvPr id="356" name="Google Shape;356;p39"/>
          <p:cNvPicPr preferRelativeResize="0"/>
          <p:nvPr/>
        </p:nvPicPr>
        <p:blipFill rotWithShape="1">
          <a:blip r:embed="rId3">
            <a:alphaModFix/>
          </a:blip>
          <a:srcRect b="0" l="0" r="0" t="0"/>
          <a:stretch/>
        </p:blipFill>
        <p:spPr>
          <a:xfrm>
            <a:off x="1986614" y="1746151"/>
            <a:ext cx="5170772" cy="2306638"/>
          </a:xfrm>
          <a:prstGeom prst="rect">
            <a:avLst/>
          </a:prstGeom>
          <a:noFill/>
          <a:ln>
            <a:noFill/>
          </a:ln>
        </p:spPr>
      </p:pic>
      <p:sp>
        <p:nvSpPr>
          <p:cNvPr id="357" name="Google Shape;357;p39"/>
          <p:cNvSpPr/>
          <p:nvPr/>
        </p:nvSpPr>
        <p:spPr>
          <a:xfrm>
            <a:off x="5165350" y="2105475"/>
            <a:ext cx="408000" cy="182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39"/>
          <p:cNvSpPr txBox="1"/>
          <p:nvPr/>
        </p:nvSpPr>
        <p:spPr>
          <a:xfrm>
            <a:off x="6702575" y="1996200"/>
            <a:ext cx="255000" cy="48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Montserrat"/>
                <a:ea typeface="Montserrat"/>
                <a:cs typeface="Montserrat"/>
                <a:sym typeface="Montserrat"/>
              </a:rPr>
              <a:t>A</a:t>
            </a:r>
            <a:endParaRPr b="0" i="0" sz="1400" u="none" cap="none" strike="noStrike">
              <a:solidFill>
                <a:srgbClr val="000000"/>
              </a:solidFill>
              <a:latin typeface="Montserrat"/>
              <a:ea typeface="Montserrat"/>
              <a:cs typeface="Montserrat"/>
              <a:sym typeface="Montserrat"/>
            </a:endParaRPr>
          </a:p>
        </p:txBody>
      </p:sp>
      <p:sp>
        <p:nvSpPr>
          <p:cNvPr id="359" name="Google Shape;359;p39"/>
          <p:cNvSpPr txBox="1"/>
          <p:nvPr/>
        </p:nvSpPr>
        <p:spPr>
          <a:xfrm>
            <a:off x="6760250" y="2272450"/>
            <a:ext cx="255000" cy="48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Montserrat"/>
                <a:ea typeface="Montserrat"/>
                <a:cs typeface="Montserrat"/>
                <a:sym typeface="Montserrat"/>
              </a:rPr>
              <a:t>B</a:t>
            </a:r>
            <a:endParaRPr b="0" i="0" sz="1400" u="none" cap="none" strike="noStrike">
              <a:solidFill>
                <a:srgbClr val="000000"/>
              </a:solidFill>
              <a:latin typeface="Montserrat"/>
              <a:ea typeface="Montserrat"/>
              <a:cs typeface="Montserrat"/>
              <a:sym typeface="Montserrat"/>
            </a:endParaRPr>
          </a:p>
        </p:txBody>
      </p:sp>
      <p:sp>
        <p:nvSpPr>
          <p:cNvPr id="360" name="Google Shape;360;p39"/>
          <p:cNvSpPr txBox="1"/>
          <p:nvPr/>
        </p:nvSpPr>
        <p:spPr>
          <a:xfrm>
            <a:off x="6760250" y="2534150"/>
            <a:ext cx="255000" cy="48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Montserrat"/>
                <a:ea typeface="Montserrat"/>
                <a:cs typeface="Montserrat"/>
                <a:sym typeface="Montserrat"/>
              </a:rPr>
              <a:t>C</a:t>
            </a:r>
            <a:endParaRPr b="0" i="0" sz="1400" u="none" cap="none" strike="noStrike">
              <a:solidFill>
                <a:srgbClr val="000000"/>
              </a:solidFill>
              <a:latin typeface="Montserrat"/>
              <a:ea typeface="Montserrat"/>
              <a:cs typeface="Montserrat"/>
              <a:sym typeface="Montserrat"/>
            </a:endParaRPr>
          </a:p>
        </p:txBody>
      </p:sp>
      <p:sp>
        <p:nvSpPr>
          <p:cNvPr id="361" name="Google Shape;361;p39"/>
          <p:cNvSpPr txBox="1"/>
          <p:nvPr/>
        </p:nvSpPr>
        <p:spPr>
          <a:xfrm>
            <a:off x="6760250" y="2803100"/>
            <a:ext cx="255000" cy="48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Montserrat"/>
                <a:ea typeface="Montserrat"/>
                <a:cs typeface="Montserrat"/>
                <a:sym typeface="Montserrat"/>
              </a:rPr>
              <a:t>D</a:t>
            </a:r>
            <a:endParaRPr b="0" i="0" sz="1400" u="none" cap="none" strike="noStrike">
              <a:solidFill>
                <a:srgbClr val="000000"/>
              </a:solidFill>
              <a:latin typeface="Montserrat"/>
              <a:ea typeface="Montserrat"/>
              <a:cs typeface="Montserrat"/>
              <a:sym typeface="Montserrat"/>
            </a:endParaRPr>
          </a:p>
        </p:txBody>
      </p:sp>
      <p:sp>
        <p:nvSpPr>
          <p:cNvPr id="362" name="Google Shape;362;p39"/>
          <p:cNvSpPr txBox="1"/>
          <p:nvPr/>
        </p:nvSpPr>
        <p:spPr>
          <a:xfrm>
            <a:off x="6760250" y="3072100"/>
            <a:ext cx="255000" cy="48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Montserrat"/>
                <a:ea typeface="Montserrat"/>
                <a:cs typeface="Montserrat"/>
                <a:sym typeface="Montserrat"/>
              </a:rPr>
              <a:t>E</a:t>
            </a:r>
            <a:endParaRPr b="0" i="0" sz="1400" u="none" cap="none" strike="noStrike">
              <a:solidFill>
                <a:srgbClr val="000000"/>
              </a:solidFill>
              <a:latin typeface="Montserrat"/>
              <a:ea typeface="Montserrat"/>
              <a:cs typeface="Montserrat"/>
              <a:sym typeface="Montserrat"/>
            </a:endParaRPr>
          </a:p>
        </p:txBody>
      </p:sp>
      <p:sp>
        <p:nvSpPr>
          <p:cNvPr id="363" name="Google Shape;363;p39"/>
          <p:cNvSpPr txBox="1"/>
          <p:nvPr/>
        </p:nvSpPr>
        <p:spPr>
          <a:xfrm>
            <a:off x="6760250" y="3333750"/>
            <a:ext cx="255000" cy="48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Montserrat"/>
                <a:ea typeface="Montserrat"/>
                <a:cs typeface="Montserrat"/>
                <a:sym typeface="Montserrat"/>
              </a:rPr>
              <a:t>F</a:t>
            </a:r>
            <a:endParaRPr b="0" i="0" sz="1400" u="none" cap="none" strike="noStrike">
              <a:solidFill>
                <a:srgbClr val="000000"/>
              </a:solidFill>
              <a:latin typeface="Montserrat"/>
              <a:ea typeface="Montserrat"/>
              <a:cs typeface="Montserrat"/>
              <a:sym typeface="Montserrat"/>
            </a:endParaRPr>
          </a:p>
        </p:txBody>
      </p:sp>
      <p:sp>
        <p:nvSpPr>
          <p:cNvPr id="364" name="Google Shape;364;p39"/>
          <p:cNvSpPr txBox="1"/>
          <p:nvPr/>
        </p:nvSpPr>
        <p:spPr>
          <a:xfrm>
            <a:off x="6760250" y="3610050"/>
            <a:ext cx="255000" cy="48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Montserrat"/>
                <a:ea typeface="Montserrat"/>
                <a:cs typeface="Montserrat"/>
                <a:sym typeface="Montserrat"/>
              </a:rPr>
              <a:t>G</a:t>
            </a:r>
            <a:endParaRPr b="0" i="0" sz="14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27a21dde541_0_0"/>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370" name="Google Shape;370;g27a21dde541_0_0"/>
          <p:cNvSpPr txBox="1"/>
          <p:nvPr/>
        </p:nvSpPr>
        <p:spPr>
          <a:xfrm>
            <a:off x="717800" y="1090711"/>
            <a:ext cx="4572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Enlaza cada proposición con su formalización</a:t>
            </a:r>
            <a:endParaRPr b="0" i="0" sz="1400" u="none" cap="none" strike="noStrike">
              <a:solidFill>
                <a:srgbClr val="000000"/>
              </a:solidFill>
              <a:latin typeface="Arial"/>
              <a:ea typeface="Arial"/>
              <a:cs typeface="Arial"/>
              <a:sym typeface="Arial"/>
            </a:endParaRPr>
          </a:p>
        </p:txBody>
      </p:sp>
      <p:pic>
        <p:nvPicPr>
          <p:cNvPr id="371" name="Google Shape;371;g27a21dde541_0_0"/>
          <p:cNvPicPr preferRelativeResize="0"/>
          <p:nvPr/>
        </p:nvPicPr>
        <p:blipFill rotWithShape="1">
          <a:blip r:embed="rId3">
            <a:alphaModFix/>
          </a:blip>
          <a:srcRect b="0" l="0" r="0" t="0"/>
          <a:stretch/>
        </p:blipFill>
        <p:spPr>
          <a:xfrm>
            <a:off x="1986614" y="1746151"/>
            <a:ext cx="5170772" cy="230663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0"/>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377" name="Google Shape;377;p40"/>
          <p:cNvSpPr txBox="1"/>
          <p:nvPr/>
        </p:nvSpPr>
        <p:spPr>
          <a:xfrm>
            <a:off x="717800" y="1090711"/>
            <a:ext cx="643958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Formaliza las siguientes proposiciones y confecciona su tabla de verdad</a:t>
            </a:r>
            <a:endParaRPr b="0" i="0" sz="1400" u="none" cap="none" strike="noStrike">
              <a:solidFill>
                <a:srgbClr val="000000"/>
              </a:solidFill>
              <a:latin typeface="Arial"/>
              <a:ea typeface="Arial"/>
              <a:cs typeface="Arial"/>
              <a:sym typeface="Arial"/>
            </a:endParaRPr>
          </a:p>
        </p:txBody>
      </p:sp>
      <p:pic>
        <p:nvPicPr>
          <p:cNvPr id="378" name="Google Shape;378;p40"/>
          <p:cNvPicPr preferRelativeResize="0"/>
          <p:nvPr/>
        </p:nvPicPr>
        <p:blipFill rotWithShape="1">
          <a:blip r:embed="rId3">
            <a:alphaModFix/>
          </a:blip>
          <a:srcRect b="0" l="0" r="0" t="0"/>
          <a:stretch/>
        </p:blipFill>
        <p:spPr>
          <a:xfrm>
            <a:off x="1711869" y="1702934"/>
            <a:ext cx="5720062" cy="2673124"/>
          </a:xfrm>
          <a:prstGeom prst="rect">
            <a:avLst/>
          </a:prstGeom>
          <a:noFill/>
          <a:ln>
            <a:noFill/>
          </a:ln>
        </p:spPr>
      </p:pic>
      <p:sp>
        <p:nvSpPr>
          <p:cNvPr id="379" name="Google Shape;379;p40"/>
          <p:cNvSpPr/>
          <p:nvPr/>
        </p:nvSpPr>
        <p:spPr>
          <a:xfrm>
            <a:off x="4277225" y="2590950"/>
            <a:ext cx="2869800" cy="159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1f2e25a46ab_0_12"/>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385" name="Google Shape;385;g1f2e25a46ab_0_12"/>
          <p:cNvSpPr txBox="1"/>
          <p:nvPr/>
        </p:nvSpPr>
        <p:spPr>
          <a:xfrm>
            <a:off x="717800" y="1090711"/>
            <a:ext cx="6439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Formaliza las siguientes proposiciones y confecciona su tabla de verdad</a:t>
            </a:r>
            <a:endParaRPr b="0" i="0" sz="1400" u="none" cap="none" strike="noStrike">
              <a:solidFill>
                <a:srgbClr val="000000"/>
              </a:solidFill>
              <a:latin typeface="Arial"/>
              <a:ea typeface="Arial"/>
              <a:cs typeface="Arial"/>
              <a:sym typeface="Arial"/>
            </a:endParaRPr>
          </a:p>
        </p:txBody>
      </p:sp>
      <p:pic>
        <p:nvPicPr>
          <p:cNvPr id="386" name="Google Shape;386;g1f2e25a46ab_0_12"/>
          <p:cNvPicPr preferRelativeResize="0"/>
          <p:nvPr/>
        </p:nvPicPr>
        <p:blipFill rotWithShape="1">
          <a:blip r:embed="rId3">
            <a:alphaModFix/>
          </a:blip>
          <a:srcRect b="0" l="0" r="0" t="0"/>
          <a:stretch/>
        </p:blipFill>
        <p:spPr>
          <a:xfrm>
            <a:off x="1711869" y="1702934"/>
            <a:ext cx="5720062" cy="267312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1"/>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392" name="Google Shape;392;p41"/>
          <p:cNvSpPr txBox="1"/>
          <p:nvPr/>
        </p:nvSpPr>
        <p:spPr>
          <a:xfrm>
            <a:off x="717800" y="1090711"/>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Confecciona la tabla de verdad</a:t>
            </a:r>
            <a:endParaRPr b="0" i="0" sz="1400" u="none" cap="none" strike="noStrike">
              <a:solidFill>
                <a:srgbClr val="000000"/>
              </a:solidFill>
              <a:latin typeface="Arial"/>
              <a:ea typeface="Arial"/>
              <a:cs typeface="Arial"/>
              <a:sym typeface="Arial"/>
            </a:endParaRPr>
          </a:p>
        </p:txBody>
      </p:sp>
      <p:pic>
        <p:nvPicPr>
          <p:cNvPr id="393" name="Google Shape;393;p41"/>
          <p:cNvPicPr preferRelativeResize="0"/>
          <p:nvPr/>
        </p:nvPicPr>
        <p:blipFill rotWithShape="1">
          <a:blip r:embed="rId3">
            <a:alphaModFix/>
          </a:blip>
          <a:srcRect b="0" l="0" r="0" t="0"/>
          <a:stretch/>
        </p:blipFill>
        <p:spPr>
          <a:xfrm>
            <a:off x="2324100" y="1790700"/>
            <a:ext cx="4495800" cy="15621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2"/>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399" name="Google Shape;399;p42"/>
          <p:cNvSpPr txBox="1"/>
          <p:nvPr/>
        </p:nvSpPr>
        <p:spPr>
          <a:xfrm>
            <a:off x="717800" y="1090711"/>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Confecciona la tabla de verdad</a:t>
            </a:r>
            <a:endParaRPr b="0" i="0" sz="1400" u="none" cap="none" strike="noStrike">
              <a:solidFill>
                <a:srgbClr val="000000"/>
              </a:solidFill>
              <a:latin typeface="Arial"/>
              <a:ea typeface="Arial"/>
              <a:cs typeface="Arial"/>
              <a:sym typeface="Arial"/>
            </a:endParaRPr>
          </a:p>
        </p:txBody>
      </p:sp>
      <p:pic>
        <p:nvPicPr>
          <p:cNvPr id="400" name="Google Shape;400;p42"/>
          <p:cNvPicPr preferRelativeResize="0"/>
          <p:nvPr/>
        </p:nvPicPr>
        <p:blipFill rotWithShape="1">
          <a:blip r:embed="rId3">
            <a:alphaModFix/>
          </a:blip>
          <a:srcRect b="0" l="0" r="0" t="0"/>
          <a:stretch/>
        </p:blipFill>
        <p:spPr>
          <a:xfrm>
            <a:off x="2756580" y="1454516"/>
            <a:ext cx="3630839" cy="3362411"/>
          </a:xfrm>
          <a:prstGeom prst="rect">
            <a:avLst/>
          </a:prstGeom>
          <a:noFill/>
          <a:ln>
            <a:noFill/>
          </a:ln>
        </p:spPr>
      </p:pic>
      <p:sp>
        <p:nvSpPr>
          <p:cNvPr id="401" name="Google Shape;401;p42"/>
          <p:cNvSpPr/>
          <p:nvPr/>
        </p:nvSpPr>
        <p:spPr>
          <a:xfrm>
            <a:off x="5121650" y="1967050"/>
            <a:ext cx="918000" cy="85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2"/>
          <p:cNvSpPr/>
          <p:nvPr/>
        </p:nvSpPr>
        <p:spPr>
          <a:xfrm>
            <a:off x="5084625" y="3714975"/>
            <a:ext cx="918000" cy="85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27a21dde541_0_38"/>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408" name="Google Shape;408;g27a21dde541_0_38"/>
          <p:cNvSpPr txBox="1"/>
          <p:nvPr/>
        </p:nvSpPr>
        <p:spPr>
          <a:xfrm>
            <a:off x="717800" y="1090711"/>
            <a:ext cx="4572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Confecciona la tabla de verdad</a:t>
            </a:r>
            <a:endParaRPr b="0" i="0" sz="1400" u="none" cap="none" strike="noStrike">
              <a:solidFill>
                <a:srgbClr val="000000"/>
              </a:solidFill>
              <a:latin typeface="Arial"/>
              <a:ea typeface="Arial"/>
              <a:cs typeface="Arial"/>
              <a:sym typeface="Arial"/>
            </a:endParaRPr>
          </a:p>
        </p:txBody>
      </p:sp>
      <p:pic>
        <p:nvPicPr>
          <p:cNvPr id="409" name="Google Shape;409;g27a21dde541_0_38"/>
          <p:cNvPicPr preferRelativeResize="0"/>
          <p:nvPr/>
        </p:nvPicPr>
        <p:blipFill rotWithShape="1">
          <a:blip r:embed="rId3">
            <a:alphaModFix/>
          </a:blip>
          <a:srcRect b="0" l="0" r="0" t="0"/>
          <a:stretch/>
        </p:blipFill>
        <p:spPr>
          <a:xfrm>
            <a:off x="2756580" y="1454516"/>
            <a:ext cx="3630839" cy="3362410"/>
          </a:xfrm>
          <a:prstGeom prst="rect">
            <a:avLst/>
          </a:prstGeom>
          <a:noFill/>
          <a:ln>
            <a:noFill/>
          </a:ln>
        </p:spPr>
      </p:pic>
      <p:sp>
        <p:nvSpPr>
          <p:cNvPr id="410" name="Google Shape;410;g27a21dde541_0_38"/>
          <p:cNvSpPr/>
          <p:nvPr/>
        </p:nvSpPr>
        <p:spPr>
          <a:xfrm>
            <a:off x="5354775" y="1967050"/>
            <a:ext cx="291300" cy="8598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27a21dde541_0_38"/>
          <p:cNvSpPr/>
          <p:nvPr/>
        </p:nvSpPr>
        <p:spPr>
          <a:xfrm>
            <a:off x="5354775" y="3714950"/>
            <a:ext cx="291300" cy="8598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3"/>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417" name="Google Shape;417;p43"/>
          <p:cNvSpPr txBox="1"/>
          <p:nvPr/>
        </p:nvSpPr>
        <p:spPr>
          <a:xfrm>
            <a:off x="717800" y="1090711"/>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Confecciona la tabla de verdad</a:t>
            </a:r>
            <a:endParaRPr b="0" i="0" sz="1400" u="none" cap="none" strike="noStrike">
              <a:solidFill>
                <a:srgbClr val="000000"/>
              </a:solidFill>
              <a:latin typeface="Arial"/>
              <a:ea typeface="Arial"/>
              <a:cs typeface="Arial"/>
              <a:sym typeface="Arial"/>
            </a:endParaRPr>
          </a:p>
        </p:txBody>
      </p:sp>
      <p:pic>
        <p:nvPicPr>
          <p:cNvPr id="418" name="Google Shape;418;p43"/>
          <p:cNvPicPr preferRelativeResize="0"/>
          <p:nvPr/>
        </p:nvPicPr>
        <p:blipFill rotWithShape="1">
          <a:blip r:embed="rId3">
            <a:alphaModFix/>
          </a:blip>
          <a:srcRect b="0" l="0" r="0" t="0"/>
          <a:stretch/>
        </p:blipFill>
        <p:spPr>
          <a:xfrm>
            <a:off x="2114450" y="1881089"/>
            <a:ext cx="4914900" cy="2171700"/>
          </a:xfrm>
          <a:prstGeom prst="rect">
            <a:avLst/>
          </a:prstGeom>
          <a:noFill/>
          <a:ln>
            <a:noFill/>
          </a:ln>
        </p:spPr>
      </p:pic>
      <p:sp>
        <p:nvSpPr>
          <p:cNvPr id="419" name="Google Shape;419;p43"/>
          <p:cNvSpPr/>
          <p:nvPr/>
        </p:nvSpPr>
        <p:spPr>
          <a:xfrm>
            <a:off x="6199875" y="2586300"/>
            <a:ext cx="291300" cy="11511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43"/>
          <p:cNvSpPr/>
          <p:nvPr/>
        </p:nvSpPr>
        <p:spPr>
          <a:xfrm>
            <a:off x="5289800" y="2586300"/>
            <a:ext cx="1566300" cy="128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27a21dde541_0_48"/>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Ejercicios</a:t>
            </a:r>
            <a:endParaRPr/>
          </a:p>
        </p:txBody>
      </p:sp>
      <p:sp>
        <p:nvSpPr>
          <p:cNvPr id="426" name="Google Shape;426;g27a21dde541_0_48"/>
          <p:cNvSpPr txBox="1"/>
          <p:nvPr/>
        </p:nvSpPr>
        <p:spPr>
          <a:xfrm>
            <a:off x="717800" y="1090711"/>
            <a:ext cx="4572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Confecciona la tabla de verdad</a:t>
            </a:r>
            <a:endParaRPr b="0" i="0" sz="1400" u="none" cap="none" strike="noStrike">
              <a:solidFill>
                <a:srgbClr val="000000"/>
              </a:solidFill>
              <a:latin typeface="Arial"/>
              <a:ea typeface="Arial"/>
              <a:cs typeface="Arial"/>
              <a:sym typeface="Arial"/>
            </a:endParaRPr>
          </a:p>
        </p:txBody>
      </p:sp>
      <p:pic>
        <p:nvPicPr>
          <p:cNvPr id="427" name="Google Shape;427;g27a21dde541_0_48"/>
          <p:cNvPicPr preferRelativeResize="0"/>
          <p:nvPr/>
        </p:nvPicPr>
        <p:blipFill rotWithShape="1">
          <a:blip r:embed="rId3">
            <a:alphaModFix/>
          </a:blip>
          <a:srcRect b="0" l="0" r="0" t="0"/>
          <a:stretch/>
        </p:blipFill>
        <p:spPr>
          <a:xfrm>
            <a:off x="2114450" y="1881089"/>
            <a:ext cx="4914900" cy="21717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3"/>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Base de conocimiento</a:t>
            </a:r>
            <a:endParaRPr/>
          </a:p>
        </p:txBody>
      </p:sp>
      <p:sp>
        <p:nvSpPr>
          <p:cNvPr id="433" name="Google Shape;433;p53"/>
          <p:cNvSpPr txBox="1"/>
          <p:nvPr/>
        </p:nvSpPr>
        <p:spPr>
          <a:xfrm>
            <a:off x="717800" y="1384387"/>
            <a:ext cx="7708200" cy="1385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La base de conocimiento de un determinado problema o situación son un </a:t>
            </a:r>
            <a:r>
              <a:rPr b="1" i="0" lang="es-ES" sz="1400" u="none" cap="none" strike="noStrike">
                <a:solidFill>
                  <a:srgbClr val="000000"/>
                </a:solidFill>
                <a:latin typeface="Arial"/>
                <a:ea typeface="Arial"/>
                <a:cs typeface="Arial"/>
                <a:sym typeface="Arial"/>
              </a:rPr>
              <a:t>conjunto </a:t>
            </a:r>
            <a:r>
              <a:rPr b="0" i="0" lang="es-ES" sz="1400" u="none" cap="none" strike="noStrike">
                <a:solidFill>
                  <a:srgbClr val="000000"/>
                </a:solidFill>
                <a:latin typeface="Arial"/>
                <a:ea typeface="Arial"/>
                <a:cs typeface="Arial"/>
                <a:sym typeface="Arial"/>
              </a:rPr>
              <a:t>de </a:t>
            </a:r>
            <a:r>
              <a:rPr b="1" i="0" lang="es-ES" sz="1400" u="none" cap="none" strike="noStrike">
                <a:solidFill>
                  <a:srgbClr val="000000"/>
                </a:solidFill>
                <a:latin typeface="Arial"/>
                <a:ea typeface="Arial"/>
                <a:cs typeface="Arial"/>
                <a:sym typeface="Arial"/>
              </a:rPr>
              <a:t>sentencias</a:t>
            </a:r>
            <a:r>
              <a:rPr b="0" i="0" lang="es-ES" sz="1400" u="none" cap="none" strike="noStrike">
                <a:solidFill>
                  <a:srgbClr val="000000"/>
                </a:solidFill>
                <a:latin typeface="Arial"/>
                <a:ea typeface="Arial"/>
                <a:cs typeface="Arial"/>
                <a:sym typeface="Arial"/>
              </a:rPr>
              <a:t> conocidas como </a:t>
            </a:r>
            <a:r>
              <a:rPr b="1" i="0" lang="es-ES" sz="1400" u="none" cap="none" strike="noStrike">
                <a:solidFill>
                  <a:srgbClr val="000000"/>
                </a:solidFill>
                <a:latin typeface="Arial"/>
                <a:ea typeface="Arial"/>
                <a:cs typeface="Arial"/>
                <a:sym typeface="Arial"/>
              </a:rPr>
              <a:t>reglas</a:t>
            </a:r>
            <a:r>
              <a:rPr b="0" i="0" lang="es-ES" sz="1400" u="none" cap="none" strike="noStrike">
                <a:solidFill>
                  <a:srgbClr val="000000"/>
                </a:solidFill>
                <a:latin typeface="Arial"/>
                <a:ea typeface="Arial"/>
                <a:cs typeface="Arial"/>
                <a:sym typeface="Arial"/>
              </a:rPr>
              <a:t>, que permiten establecer y delimitar los valores de verdad encontrados en el espacio de soluciones.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El espacio de soluciones son todas aquellas posibilidades encontradas en el entorno del agente.</a:t>
            </a:r>
            <a:endParaRPr b="0" i="0" sz="1400" u="none" cap="none" strike="noStrike">
              <a:solidFill>
                <a:srgbClr val="000000"/>
              </a:solidFill>
              <a:latin typeface="Arial"/>
              <a:ea typeface="Arial"/>
              <a:cs typeface="Arial"/>
              <a:sym typeface="Arial"/>
            </a:endParaRPr>
          </a:p>
        </p:txBody>
      </p:sp>
      <p:pic>
        <p:nvPicPr>
          <p:cNvPr descr="Conocimiento - Iconos gratis de educación" id="434" name="Google Shape;434;p53"/>
          <p:cNvPicPr preferRelativeResize="0"/>
          <p:nvPr/>
        </p:nvPicPr>
        <p:blipFill rotWithShape="1">
          <a:blip r:embed="rId3">
            <a:alphaModFix/>
          </a:blip>
          <a:srcRect b="0" l="0" r="0" t="0"/>
          <a:stretch/>
        </p:blipFill>
        <p:spPr>
          <a:xfrm>
            <a:off x="3722090" y="2769341"/>
            <a:ext cx="1699620" cy="169962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4"/>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Agente Basado en conocimiento</a:t>
            </a:r>
            <a:endParaRPr/>
          </a:p>
        </p:txBody>
      </p:sp>
      <p:sp>
        <p:nvSpPr>
          <p:cNvPr id="440" name="Google Shape;440;p54"/>
          <p:cNvSpPr txBox="1"/>
          <p:nvPr/>
        </p:nvSpPr>
        <p:spPr>
          <a:xfrm>
            <a:off x="717800" y="1384387"/>
            <a:ext cx="4354800" cy="2678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Son agentes inteligentes que necesitan de una </a:t>
            </a:r>
            <a:r>
              <a:rPr b="1" i="0" lang="es-ES" sz="1400" u="none" cap="none" strike="noStrike">
                <a:solidFill>
                  <a:srgbClr val="000000"/>
                </a:solidFill>
                <a:latin typeface="Arial"/>
                <a:ea typeface="Arial"/>
                <a:cs typeface="Arial"/>
                <a:sym typeface="Arial"/>
              </a:rPr>
              <a:t>interpretación inicial de su entorno</a:t>
            </a:r>
            <a:r>
              <a:rPr b="0" i="0" lang="es-ES" sz="1400" u="none" cap="none" strike="noStrike">
                <a:solidFill>
                  <a:srgbClr val="000000"/>
                </a:solidFill>
                <a:latin typeface="Arial"/>
                <a:ea typeface="Arial"/>
                <a:cs typeface="Arial"/>
                <a:sym typeface="Arial"/>
              </a:rPr>
              <a:t> y las </a:t>
            </a:r>
            <a:r>
              <a:rPr b="1" i="0" lang="es-ES" sz="1400" u="none" cap="none" strike="noStrike">
                <a:solidFill>
                  <a:srgbClr val="000000"/>
                </a:solidFill>
                <a:latin typeface="Arial"/>
                <a:ea typeface="Arial"/>
                <a:cs typeface="Arial"/>
                <a:sym typeface="Arial"/>
              </a:rPr>
              <a:t>reglas</a:t>
            </a:r>
            <a:r>
              <a:rPr b="0" i="0" lang="es-ES" sz="1400" u="none" cap="none" strike="noStrike">
                <a:solidFill>
                  <a:srgbClr val="000000"/>
                </a:solidFill>
                <a:latin typeface="Arial"/>
                <a:ea typeface="Arial"/>
                <a:cs typeface="Arial"/>
                <a:sym typeface="Arial"/>
              </a:rPr>
              <a:t> que lo rigen en dicho momento. Por lo tanto, el componente principal de un agente basado en conocimiento es su </a:t>
            </a:r>
            <a:r>
              <a:rPr b="1" i="0" lang="es-ES" sz="1400" u="none" cap="none" strike="noStrike">
                <a:solidFill>
                  <a:srgbClr val="000000"/>
                </a:solidFill>
                <a:latin typeface="Arial"/>
                <a:ea typeface="Arial"/>
                <a:cs typeface="Arial"/>
                <a:sym typeface="Arial"/>
              </a:rPr>
              <a:t>base de conocimiento</a:t>
            </a:r>
            <a:r>
              <a:rPr b="0" i="0" lang="es-ES" sz="1400" u="none" cap="none" strike="noStrike">
                <a:solidFill>
                  <a:srgbClr val="000000"/>
                </a:solidFill>
                <a:latin typeface="Arial"/>
                <a:ea typeface="Arial"/>
                <a:cs typeface="Arial"/>
                <a:sym typeface="Arial"/>
              </a:rPr>
              <a:t> (BC), la cual se conforma de un conjunto de </a:t>
            </a:r>
            <a:r>
              <a:rPr b="1" i="0" lang="es-ES" sz="1400" u="none" cap="none" strike="noStrike">
                <a:solidFill>
                  <a:srgbClr val="000000"/>
                </a:solidFill>
                <a:latin typeface="Arial"/>
                <a:ea typeface="Arial"/>
                <a:cs typeface="Arial"/>
                <a:sym typeface="Arial"/>
              </a:rPr>
              <a:t>sentencias</a:t>
            </a:r>
            <a:r>
              <a:rPr b="0" i="0" lang="es-ES" sz="1400" u="none" cap="none" strike="noStrike">
                <a:solidFill>
                  <a:srgbClr val="000000"/>
                </a:solidFill>
                <a:latin typeface="Arial"/>
                <a:ea typeface="Arial"/>
                <a:cs typeface="Arial"/>
                <a:sym typeface="Arial"/>
              </a:rPr>
              <a:t>, donde una </a:t>
            </a:r>
            <a:r>
              <a:rPr b="1" i="0" lang="es-ES" sz="1400" u="none" cap="none" strike="noStrike">
                <a:solidFill>
                  <a:srgbClr val="000000"/>
                </a:solidFill>
                <a:latin typeface="Arial"/>
                <a:ea typeface="Arial"/>
                <a:cs typeface="Arial"/>
                <a:sym typeface="Arial"/>
              </a:rPr>
              <a:t>sentencia </a:t>
            </a:r>
            <a:r>
              <a:rPr b="0" i="0" lang="es-ES" sz="1400" u="none" cap="none" strike="noStrike">
                <a:solidFill>
                  <a:srgbClr val="000000"/>
                </a:solidFill>
                <a:latin typeface="Arial"/>
                <a:ea typeface="Arial"/>
                <a:cs typeface="Arial"/>
                <a:sym typeface="Arial"/>
              </a:rPr>
              <a:t>es la </a:t>
            </a:r>
            <a:r>
              <a:rPr b="1" i="0" lang="es-ES" sz="1400" u="none" cap="none" strike="noStrike">
                <a:solidFill>
                  <a:srgbClr val="000000"/>
                </a:solidFill>
                <a:latin typeface="Arial"/>
                <a:ea typeface="Arial"/>
                <a:cs typeface="Arial"/>
                <a:sym typeface="Arial"/>
              </a:rPr>
              <a:t>representación</a:t>
            </a:r>
            <a:r>
              <a:rPr b="0" i="0" lang="es-ES" sz="1400" u="none" cap="none" strike="noStrike">
                <a:solidFill>
                  <a:srgbClr val="000000"/>
                </a:solidFill>
                <a:latin typeface="Arial"/>
                <a:ea typeface="Arial"/>
                <a:cs typeface="Arial"/>
                <a:sym typeface="Arial"/>
              </a:rPr>
              <a:t> de un </a:t>
            </a:r>
            <a:r>
              <a:rPr b="1" i="0" lang="es-ES" sz="1400" u="none" cap="none" strike="noStrike">
                <a:solidFill>
                  <a:srgbClr val="000000"/>
                </a:solidFill>
                <a:latin typeface="Arial"/>
                <a:ea typeface="Arial"/>
                <a:cs typeface="Arial"/>
                <a:sym typeface="Arial"/>
              </a:rPr>
              <a:t>hecho del mundo </a:t>
            </a:r>
            <a:r>
              <a:rPr b="0" i="0" lang="es-ES" sz="1400" u="none" cap="none" strike="noStrike">
                <a:solidFill>
                  <a:srgbClr val="000000"/>
                </a:solidFill>
                <a:latin typeface="Arial"/>
                <a:ea typeface="Arial"/>
                <a:cs typeface="Arial"/>
                <a:sym typeface="Arial"/>
              </a:rPr>
              <a:t>en un lenguaje de representación del conocimiento. Estas </a:t>
            </a:r>
            <a:r>
              <a:rPr b="1" i="0" lang="es-ES" sz="1400" u="none" cap="none" strike="noStrike">
                <a:solidFill>
                  <a:srgbClr val="000000"/>
                </a:solidFill>
                <a:latin typeface="Arial"/>
                <a:ea typeface="Arial"/>
                <a:cs typeface="Arial"/>
                <a:sym typeface="Arial"/>
              </a:rPr>
              <a:t>sentencias </a:t>
            </a:r>
            <a:r>
              <a:rPr b="0" i="0" lang="es-ES" sz="1400" u="none" cap="none" strike="noStrike">
                <a:solidFill>
                  <a:srgbClr val="000000"/>
                </a:solidFill>
                <a:latin typeface="Arial"/>
                <a:ea typeface="Arial"/>
                <a:cs typeface="Arial"/>
                <a:sym typeface="Arial"/>
              </a:rPr>
              <a:t>se </a:t>
            </a:r>
            <a:r>
              <a:rPr b="1" i="0" lang="es-ES" sz="1400" u="none" cap="none" strike="noStrike">
                <a:solidFill>
                  <a:srgbClr val="000000"/>
                </a:solidFill>
                <a:latin typeface="Arial"/>
                <a:ea typeface="Arial"/>
                <a:cs typeface="Arial"/>
                <a:sym typeface="Arial"/>
              </a:rPr>
              <a:t>expresan </a:t>
            </a:r>
            <a:r>
              <a:rPr b="0" i="0" lang="es-ES" sz="1400" u="none" cap="none" strike="noStrike">
                <a:solidFill>
                  <a:srgbClr val="000000"/>
                </a:solidFill>
                <a:latin typeface="Arial"/>
                <a:ea typeface="Arial"/>
                <a:cs typeface="Arial"/>
                <a:sym typeface="Arial"/>
              </a:rPr>
              <a:t>por medio de un lenguaje denominado </a:t>
            </a:r>
            <a:r>
              <a:rPr b="1" i="0" lang="es-ES" sz="1400" u="none" cap="none" strike="noStrike">
                <a:solidFill>
                  <a:srgbClr val="000000"/>
                </a:solidFill>
                <a:latin typeface="Arial"/>
                <a:ea typeface="Arial"/>
                <a:cs typeface="Arial"/>
                <a:sym typeface="Arial"/>
              </a:rPr>
              <a:t>lenguaje de representación del conocimiento</a:t>
            </a:r>
            <a:r>
              <a:rPr b="0" i="0" lang="es-ES" sz="1400" u="none" cap="none" strike="noStrike">
                <a:solidFill>
                  <a:srgbClr val="000000"/>
                </a:solidFill>
                <a:latin typeface="Arial"/>
                <a:ea typeface="Arial"/>
                <a:cs typeface="Arial"/>
                <a:sym typeface="Arial"/>
              </a:rPr>
              <a:t>, el cual se compone de afirmaciones relacionadas al mundo.</a:t>
            </a:r>
            <a:endParaRPr b="0" i="0" sz="1400" u="none" cap="none" strike="noStrike">
              <a:solidFill>
                <a:srgbClr val="000000"/>
              </a:solidFill>
              <a:latin typeface="Arial"/>
              <a:ea typeface="Arial"/>
              <a:cs typeface="Arial"/>
              <a:sym typeface="Arial"/>
            </a:endParaRPr>
          </a:p>
        </p:txBody>
      </p:sp>
      <p:pic>
        <p:nvPicPr>
          <p:cNvPr descr="Earth Special Lineal color icon" id="441" name="Google Shape;441;p54"/>
          <p:cNvPicPr preferRelativeResize="0"/>
          <p:nvPr/>
        </p:nvPicPr>
        <p:blipFill rotWithShape="1">
          <a:blip r:embed="rId3">
            <a:alphaModFix/>
          </a:blip>
          <a:srcRect b="0" l="0" r="0" t="0"/>
          <a:stretch/>
        </p:blipFill>
        <p:spPr>
          <a:xfrm>
            <a:off x="6031480" y="1837961"/>
            <a:ext cx="1879832" cy="1879832"/>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5"/>
          <p:cNvSpPr txBox="1"/>
          <p:nvPr/>
        </p:nvSpPr>
        <p:spPr>
          <a:xfrm>
            <a:off x="717800" y="1384387"/>
            <a:ext cx="7708200" cy="1816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Existe un mecanismo que permite </a:t>
            </a:r>
            <a:r>
              <a:rPr b="1" i="0" lang="es-ES" sz="1400" u="none" cap="none" strike="noStrike">
                <a:solidFill>
                  <a:srgbClr val="000000"/>
                </a:solidFill>
                <a:latin typeface="Arial"/>
                <a:ea typeface="Arial"/>
                <a:cs typeface="Arial"/>
                <a:sym typeface="Arial"/>
              </a:rPr>
              <a:t>introducir </a:t>
            </a:r>
            <a:r>
              <a:rPr b="0" i="0" lang="es-ES" sz="1400" u="none" cap="none" strike="noStrike">
                <a:solidFill>
                  <a:srgbClr val="000000"/>
                </a:solidFill>
                <a:latin typeface="Arial"/>
                <a:ea typeface="Arial"/>
                <a:cs typeface="Arial"/>
                <a:sym typeface="Arial"/>
              </a:rPr>
              <a:t>sentencias a la base de conocimiento, denominado “</a:t>
            </a:r>
            <a:r>
              <a:rPr b="1" i="0" lang="es-ES" sz="1400" u="none" cap="none" strike="noStrike">
                <a:solidFill>
                  <a:srgbClr val="000000"/>
                </a:solidFill>
                <a:latin typeface="Arial"/>
                <a:ea typeface="Arial"/>
                <a:cs typeface="Arial"/>
                <a:sym typeface="Arial"/>
              </a:rPr>
              <a:t>DECIR</a:t>
            </a:r>
            <a:r>
              <a:rPr b="0" i="0" lang="es-ES" sz="1400" u="none" cap="none" strike="noStrike">
                <a:solidFill>
                  <a:srgbClr val="000000"/>
                </a:solidFill>
                <a:latin typeface="Arial"/>
                <a:ea typeface="Arial"/>
                <a:cs typeface="Arial"/>
                <a:sym typeface="Arial"/>
              </a:rPr>
              <a:t>” y uno que permita </a:t>
            </a:r>
            <a:r>
              <a:rPr b="1" i="0" lang="es-ES" sz="1400" u="none" cap="none" strike="noStrike">
                <a:solidFill>
                  <a:srgbClr val="000000"/>
                </a:solidFill>
                <a:latin typeface="Arial"/>
                <a:ea typeface="Arial"/>
                <a:cs typeface="Arial"/>
                <a:sym typeface="Arial"/>
              </a:rPr>
              <a:t>preguntar </a:t>
            </a:r>
            <a:r>
              <a:rPr b="0" i="0" lang="es-ES" sz="1400" u="none" cap="none" strike="noStrike">
                <a:solidFill>
                  <a:srgbClr val="000000"/>
                </a:solidFill>
                <a:latin typeface="Arial"/>
                <a:ea typeface="Arial"/>
                <a:cs typeface="Arial"/>
                <a:sym typeface="Arial"/>
              </a:rPr>
              <a:t>qué información referente a un </a:t>
            </a:r>
            <a:r>
              <a:rPr b="1" i="0" lang="es-ES" sz="1400" u="none" cap="none" strike="noStrike">
                <a:solidFill>
                  <a:srgbClr val="000000"/>
                </a:solidFill>
                <a:latin typeface="Arial"/>
                <a:ea typeface="Arial"/>
                <a:cs typeface="Arial"/>
                <a:sym typeface="Arial"/>
              </a:rPr>
              <a:t>tema </a:t>
            </a:r>
            <a:r>
              <a:rPr b="0" i="0" lang="es-ES" sz="1400" u="none" cap="none" strike="noStrike">
                <a:solidFill>
                  <a:srgbClr val="000000"/>
                </a:solidFill>
                <a:latin typeface="Arial"/>
                <a:ea typeface="Arial"/>
                <a:cs typeface="Arial"/>
                <a:sym typeface="Arial"/>
              </a:rPr>
              <a:t>existe en la </a:t>
            </a:r>
            <a:r>
              <a:rPr b="1" i="0" lang="es-ES" sz="1400" u="none" cap="none" strike="noStrike">
                <a:solidFill>
                  <a:srgbClr val="000000"/>
                </a:solidFill>
                <a:latin typeface="Arial"/>
                <a:ea typeface="Arial"/>
                <a:cs typeface="Arial"/>
                <a:sym typeface="Arial"/>
              </a:rPr>
              <a:t>BC</a:t>
            </a:r>
            <a:r>
              <a:rPr b="0" i="0" lang="es-ES" sz="1400" u="none" cap="none" strike="noStrike">
                <a:solidFill>
                  <a:srgbClr val="000000"/>
                </a:solidFill>
                <a:latin typeface="Arial"/>
                <a:ea typeface="Arial"/>
                <a:cs typeface="Arial"/>
                <a:sym typeface="Arial"/>
              </a:rPr>
              <a:t>, denominado “</a:t>
            </a:r>
            <a:r>
              <a:rPr b="1" i="0" lang="es-ES" sz="1400" u="none" cap="none" strike="noStrike">
                <a:solidFill>
                  <a:srgbClr val="000000"/>
                </a:solidFill>
                <a:latin typeface="Arial"/>
                <a:ea typeface="Arial"/>
                <a:cs typeface="Arial"/>
                <a:sym typeface="Arial"/>
              </a:rPr>
              <a:t>PREGUNTAR</a:t>
            </a:r>
            <a:r>
              <a:rPr b="0" i="0" lang="es-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Con estos mecanismos el agente puede </a:t>
            </a:r>
            <a:r>
              <a:rPr b="1" i="0" lang="es-ES" sz="1400" u="none" cap="none" strike="noStrike">
                <a:solidFill>
                  <a:srgbClr val="000000"/>
                </a:solidFill>
                <a:latin typeface="Arial"/>
                <a:ea typeface="Arial"/>
                <a:cs typeface="Arial"/>
                <a:sym typeface="Arial"/>
              </a:rPr>
              <a:t>tomar sentencias</a:t>
            </a:r>
            <a:r>
              <a:rPr b="0" i="0" lang="es-ES" sz="1400" u="none" cap="none" strike="noStrike">
                <a:solidFill>
                  <a:srgbClr val="000000"/>
                </a:solidFill>
                <a:latin typeface="Arial"/>
                <a:ea typeface="Arial"/>
                <a:cs typeface="Arial"/>
                <a:sym typeface="Arial"/>
              </a:rPr>
              <a:t> de su </a:t>
            </a:r>
            <a:r>
              <a:rPr b="1" i="0" lang="es-ES" sz="1400" u="none" cap="none" strike="noStrike">
                <a:solidFill>
                  <a:srgbClr val="000000"/>
                </a:solidFill>
                <a:latin typeface="Arial"/>
                <a:ea typeface="Arial"/>
                <a:cs typeface="Arial"/>
                <a:sym typeface="Arial"/>
              </a:rPr>
              <a:t>BC </a:t>
            </a:r>
            <a:r>
              <a:rPr b="0" i="0" lang="es-ES" sz="1400" u="none" cap="none" strike="noStrike">
                <a:solidFill>
                  <a:srgbClr val="000000"/>
                </a:solidFill>
                <a:latin typeface="Arial"/>
                <a:ea typeface="Arial"/>
                <a:cs typeface="Arial"/>
                <a:sym typeface="Arial"/>
              </a:rPr>
              <a:t>y realizar </a:t>
            </a:r>
            <a:r>
              <a:rPr b="1" i="0" lang="es-ES" sz="1400" u="none" cap="none" strike="noStrike">
                <a:solidFill>
                  <a:srgbClr val="000000"/>
                </a:solidFill>
                <a:latin typeface="Arial"/>
                <a:ea typeface="Arial"/>
                <a:cs typeface="Arial"/>
                <a:sym typeface="Arial"/>
              </a:rPr>
              <a:t>inferencias</a:t>
            </a:r>
            <a:r>
              <a:rPr b="0" i="0" lang="es-ES" sz="1400" u="none" cap="none" strike="noStrike">
                <a:solidFill>
                  <a:srgbClr val="000000"/>
                </a:solidFill>
                <a:latin typeface="Arial"/>
                <a:ea typeface="Arial"/>
                <a:cs typeface="Arial"/>
                <a:sym typeface="Arial"/>
              </a:rPr>
              <a:t>. En los agentes lógicos, la inferencia debe cumplir con el requisito que “cuando se </a:t>
            </a:r>
            <a:r>
              <a:rPr b="1" i="0" lang="es-ES" sz="1400" u="none" cap="none" strike="noStrike">
                <a:solidFill>
                  <a:srgbClr val="000000"/>
                </a:solidFill>
                <a:latin typeface="Arial"/>
                <a:ea typeface="Arial"/>
                <a:cs typeface="Arial"/>
                <a:sym typeface="Arial"/>
              </a:rPr>
              <a:t>PREGUNTA</a:t>
            </a:r>
            <a:r>
              <a:rPr b="0" i="0" lang="es-ES" sz="1400" u="none" cap="none" strike="noStrike">
                <a:solidFill>
                  <a:srgbClr val="000000"/>
                </a:solidFill>
                <a:latin typeface="Arial"/>
                <a:ea typeface="Arial"/>
                <a:cs typeface="Arial"/>
                <a:sym typeface="Arial"/>
              </a:rPr>
              <a:t> a la base de conocimiento, la respuesta debe seguirse de lo que se </a:t>
            </a:r>
            <a:r>
              <a:rPr b="1" i="0" lang="es-ES" sz="1400" u="none" cap="none" strike="noStrike">
                <a:solidFill>
                  <a:srgbClr val="000000"/>
                </a:solidFill>
                <a:latin typeface="Arial"/>
                <a:ea typeface="Arial"/>
                <a:cs typeface="Arial"/>
                <a:sym typeface="Arial"/>
              </a:rPr>
              <a:t>HA DICHO</a:t>
            </a:r>
            <a:r>
              <a:rPr b="0" i="0" lang="es-ES" sz="1400" u="none" cap="none" strike="noStrike">
                <a:solidFill>
                  <a:srgbClr val="000000"/>
                </a:solidFill>
                <a:latin typeface="Arial"/>
                <a:ea typeface="Arial"/>
                <a:cs typeface="Arial"/>
                <a:sym typeface="Arial"/>
              </a:rPr>
              <a:t> a la base de conocimiento previamente”.</a:t>
            </a:r>
            <a:endParaRPr b="0" i="0" sz="1400" u="none" cap="none" strike="noStrike">
              <a:solidFill>
                <a:srgbClr val="000000"/>
              </a:solidFill>
              <a:latin typeface="Arial"/>
              <a:ea typeface="Arial"/>
              <a:cs typeface="Arial"/>
              <a:sym typeface="Arial"/>
            </a:endParaRPr>
          </a:p>
        </p:txBody>
      </p:sp>
      <p:sp>
        <p:nvSpPr>
          <p:cNvPr id="447" name="Google Shape;447;p55"/>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Funcionamiento Agente Basado en conocimiento</a:t>
            </a:r>
            <a:endParaRPr/>
          </a:p>
        </p:txBody>
      </p:sp>
      <p:pic>
        <p:nvPicPr>
          <p:cNvPr descr="Knowledge - Free education icons" id="448" name="Google Shape;448;p55"/>
          <p:cNvPicPr preferRelativeResize="0"/>
          <p:nvPr/>
        </p:nvPicPr>
        <p:blipFill rotWithShape="1">
          <a:blip r:embed="rId3">
            <a:alphaModFix/>
          </a:blip>
          <a:srcRect b="0" l="0" r="0" t="0"/>
          <a:stretch/>
        </p:blipFill>
        <p:spPr>
          <a:xfrm>
            <a:off x="5397407" y="3200228"/>
            <a:ext cx="1383836" cy="1383836"/>
          </a:xfrm>
          <a:prstGeom prst="rect">
            <a:avLst/>
          </a:prstGeom>
          <a:noFill/>
          <a:ln>
            <a:noFill/>
          </a:ln>
        </p:spPr>
      </p:pic>
      <p:pic>
        <p:nvPicPr>
          <p:cNvPr descr="Artificial intelligence, information, intelligent agent, software,  technology icon - Download on Iconfinder" id="449" name="Google Shape;449;p55"/>
          <p:cNvPicPr preferRelativeResize="0"/>
          <p:nvPr/>
        </p:nvPicPr>
        <p:blipFill rotWithShape="1">
          <a:blip r:embed="rId4">
            <a:alphaModFix/>
          </a:blip>
          <a:srcRect b="0" l="0" r="0" t="0"/>
          <a:stretch/>
        </p:blipFill>
        <p:spPr>
          <a:xfrm>
            <a:off x="2600952" y="3438422"/>
            <a:ext cx="1145642" cy="1145642"/>
          </a:xfrm>
          <a:prstGeom prst="rect">
            <a:avLst/>
          </a:prstGeom>
          <a:noFill/>
          <a:ln>
            <a:noFill/>
          </a:ln>
        </p:spPr>
      </p:pic>
      <p:cxnSp>
        <p:nvCxnSpPr>
          <p:cNvPr id="450" name="Google Shape;450;p55"/>
          <p:cNvCxnSpPr/>
          <p:nvPr/>
        </p:nvCxnSpPr>
        <p:spPr>
          <a:xfrm>
            <a:off x="3971300" y="3912169"/>
            <a:ext cx="1294844" cy="0"/>
          </a:xfrm>
          <a:prstGeom prst="straightConnector1">
            <a:avLst/>
          </a:prstGeom>
          <a:noFill/>
          <a:ln cap="flat" cmpd="sng" w="12700">
            <a:solidFill>
              <a:srgbClr val="0037A2"/>
            </a:solidFill>
            <a:prstDash val="solid"/>
            <a:round/>
            <a:headEnd len="med" w="med" type="triangle"/>
            <a:tailEnd len="med" w="med" type="triangl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6"/>
          <p:cNvSpPr txBox="1"/>
          <p:nvPr/>
        </p:nvSpPr>
        <p:spPr>
          <a:xfrm>
            <a:off x="717800" y="1384387"/>
            <a:ext cx="7708200" cy="181584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Arial"/>
              <a:buChar char="•"/>
            </a:pPr>
            <a:r>
              <a:rPr b="0" i="0" lang="es-ES" sz="1400" u="none" cap="none" strike="noStrike">
                <a:solidFill>
                  <a:srgbClr val="000000"/>
                </a:solidFill>
                <a:latin typeface="Arial"/>
                <a:ea typeface="Arial"/>
                <a:cs typeface="Arial"/>
                <a:sym typeface="Arial"/>
              </a:rPr>
              <a:t>PRIMERO:  DICE a la BC lo que percibe.</a:t>
            </a:r>
            <a:endParaRPr b="0" i="0" sz="1400" u="none" cap="none" strike="noStrike">
              <a:solidFill>
                <a:srgbClr val="000000"/>
              </a:solidFill>
              <a:latin typeface="Arial"/>
              <a:ea typeface="Arial"/>
              <a:cs typeface="Arial"/>
              <a:sym typeface="Arial"/>
            </a:endParaRPr>
          </a:p>
          <a:p>
            <a:pPr indent="-196850" lvl="0" marL="28575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Arial"/>
              <a:buChar char="•"/>
            </a:pPr>
            <a:r>
              <a:rPr b="0" i="0" lang="es-ES" sz="1400" u="none" cap="none" strike="noStrike">
                <a:solidFill>
                  <a:srgbClr val="000000"/>
                </a:solidFill>
                <a:latin typeface="Arial"/>
                <a:ea typeface="Arial"/>
                <a:cs typeface="Arial"/>
                <a:sym typeface="Arial"/>
              </a:rPr>
              <a:t>SEGUNDO: PREGUNTA a la BC la acción que debe llevar a cabo. </a:t>
            </a:r>
            <a:endParaRPr b="0" i="0" sz="1400" u="none" cap="none" strike="noStrike">
              <a:solidFill>
                <a:srgbClr val="000000"/>
              </a:solidFill>
              <a:latin typeface="Arial"/>
              <a:ea typeface="Arial"/>
              <a:cs typeface="Arial"/>
              <a:sym typeface="Arial"/>
            </a:endParaRPr>
          </a:p>
          <a:p>
            <a:pPr indent="-196850" lvl="0" marL="28575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Arial"/>
              <a:buChar char="•"/>
            </a:pPr>
            <a:r>
              <a:rPr b="0" i="0" lang="es-ES" sz="1400" u="none" cap="none" strike="noStrike">
                <a:solidFill>
                  <a:srgbClr val="000000"/>
                </a:solidFill>
                <a:latin typeface="Arial"/>
                <a:ea typeface="Arial"/>
                <a:cs typeface="Arial"/>
                <a:sym typeface="Arial"/>
              </a:rPr>
              <a:t>TERCERO: Al elegir la acción se graba su decisión por medio de un DECIR y se lleva a cabo la acción. Este segundo DECIR es muy importante porque permite a la base de conocimiento saber que la acción se ha realizado.</a:t>
            </a:r>
            <a:endParaRPr b="0" i="0" sz="1400" u="none" cap="none" strike="noStrike">
              <a:solidFill>
                <a:srgbClr val="000000"/>
              </a:solidFill>
              <a:latin typeface="Arial"/>
              <a:ea typeface="Arial"/>
              <a:cs typeface="Arial"/>
              <a:sym typeface="Arial"/>
            </a:endParaRPr>
          </a:p>
        </p:txBody>
      </p:sp>
      <p:sp>
        <p:nvSpPr>
          <p:cNvPr id="456" name="Google Shape;456;p56"/>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Funcionamiento Agente Basado en conocimiento</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7"/>
          <p:cNvSpPr txBox="1"/>
          <p:nvPr>
            <p:ph type="title"/>
          </p:nvPr>
        </p:nvSpPr>
        <p:spPr>
          <a:xfrm>
            <a:off x="717800" y="383175"/>
            <a:ext cx="7708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s-ES">
                <a:latin typeface="Verdana"/>
                <a:ea typeface="Verdana"/>
                <a:cs typeface="Verdana"/>
                <a:sym typeface="Verdana"/>
              </a:rPr>
              <a:t>Funcionamiento Agente Basado en conocimiento</a:t>
            </a:r>
            <a:endParaRPr/>
          </a:p>
        </p:txBody>
      </p:sp>
      <p:pic>
        <p:nvPicPr>
          <p:cNvPr id="462" name="Google Shape;462;p57"/>
          <p:cNvPicPr preferRelativeResize="0"/>
          <p:nvPr/>
        </p:nvPicPr>
        <p:blipFill rotWithShape="1">
          <a:blip r:embed="rId3">
            <a:alphaModFix/>
          </a:blip>
          <a:srcRect b="14269" l="26985" r="16159" t="47997"/>
          <a:stretch/>
        </p:blipFill>
        <p:spPr>
          <a:xfrm>
            <a:off x="1666775" y="1470813"/>
            <a:ext cx="5810250" cy="24955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466" name="Shape 466"/>
        <p:cNvGrpSpPr/>
        <p:nvPr/>
      </p:nvGrpSpPr>
      <p:grpSpPr>
        <a:xfrm>
          <a:off x="0" y="0"/>
          <a:ext cx="0" cy="0"/>
          <a:chOff x="0" y="0"/>
          <a:chExt cx="0" cy="0"/>
        </a:xfrm>
      </p:grpSpPr>
      <p:pic>
        <p:nvPicPr>
          <p:cNvPr id="467" name="Google Shape;467;p44">
            <a:hlinkClick r:id="rId3"/>
          </p:cNvPr>
          <p:cNvPicPr preferRelativeResize="0"/>
          <p:nvPr/>
        </p:nvPicPr>
        <p:blipFill rotWithShape="1">
          <a:blip r:embed="rId4">
            <a:alphaModFix/>
          </a:blip>
          <a:srcRect b="0" l="0" r="0" t="0"/>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nagement Consulting Toolkit by Slidesgo">
  <a:themeElements>
    <a:clrScheme name="Simple Light">
      <a:dk1>
        <a:srgbClr val="000000"/>
      </a:dk1>
      <a:lt1>
        <a:srgbClr val="FFFFFF"/>
      </a:lt1>
      <a:dk2>
        <a:srgbClr val="4A8CFF"/>
      </a:dk2>
      <a:lt2>
        <a:srgbClr val="EFEFEF"/>
      </a:lt2>
      <a:accent1>
        <a:srgbClr val="003BA3"/>
      </a:accent1>
      <a:accent2>
        <a:srgbClr val="000000"/>
      </a:accent2>
      <a:accent3>
        <a:srgbClr val="4A8CFF"/>
      </a:accent3>
      <a:accent4>
        <a:srgbClr val="EFEFEF"/>
      </a:accent4>
      <a:accent5>
        <a:srgbClr val="003BA3"/>
      </a:accent5>
      <a:accent6>
        <a:srgbClr val="000000"/>
      </a:accent6>
      <a:hlink>
        <a:srgbClr val="003BA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