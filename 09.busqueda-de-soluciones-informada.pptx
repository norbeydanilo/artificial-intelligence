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91"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3" r:id="rId37"/>
    <p:sldId id="290" r:id="rId38"/>
    <p:sldId id="292" r:id="rId39"/>
  </p:sldIdLst>
  <p:sldSz cx="9144000" cy="5143500" type="screen16x9"/>
  <p:notesSz cx="6858000" cy="9144000"/>
  <p:embeddedFontLst>
    <p:embeddedFont>
      <p:font typeface="Georgia" panose="02040502050405020303" pitchFamily="18"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PT Sans Narrow" panose="020F0502020204030204" pitchFamily="34" charset="0"/>
      <p:regular r:id="rId49"/>
      <p:bold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79477" autoAdjust="0"/>
  </p:normalViewPr>
  <p:slideViewPr>
    <p:cSldViewPr snapToGrid="0">
      <p:cViewPr varScale="1">
        <p:scale>
          <a:sx n="117" d="100"/>
          <a:sy n="117" d="100"/>
        </p:scale>
        <p:origin x="1848" y="30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6058E430-35B6-423D-B594-93A405837EA3}"/>
    <pc:docChg chg="modSld">
      <pc:chgData name="Norbey Muñoz" userId="b7e811e8891ccd42" providerId="LiveId" clId="{6058E430-35B6-423D-B594-93A405837EA3}" dt="2025-05-07T13:13:30.952" v="2"/>
      <pc:docMkLst>
        <pc:docMk/>
      </pc:docMkLst>
      <pc:sldChg chg="modNotesTx">
        <pc:chgData name="Norbey Muñoz" userId="b7e811e8891ccd42" providerId="LiveId" clId="{6058E430-35B6-423D-B594-93A405837EA3}" dt="2025-05-07T13:13:30.952" v="2"/>
        <pc:sldMkLst>
          <pc:docMk/>
          <pc:sldMk cId="2853472517" sldId="289"/>
        </pc:sldMkLst>
      </pc:sldChg>
    </pc:docChg>
  </pc:docChgLst>
  <pc:docChgLst>
    <pc:chgData name="Norbey Muñoz" userId="b7e811e8891ccd42" providerId="LiveId" clId="{C4605D06-283C-4236-936F-60D609F647F8}"/>
    <pc:docChg chg="undo custSel addSld modSld sldOrd">
      <pc:chgData name="Norbey Muñoz" userId="b7e811e8891ccd42" providerId="LiveId" clId="{C4605D06-283C-4236-936F-60D609F647F8}" dt="2024-10-21T20:49:36.016" v="649" actId="20577"/>
      <pc:docMkLst>
        <pc:docMk/>
      </pc:docMkLst>
      <pc:sldChg chg="modNotesTx">
        <pc:chgData name="Norbey Muñoz" userId="b7e811e8891ccd42" providerId="LiveId" clId="{C4605D06-283C-4236-936F-60D609F647F8}" dt="2024-10-16T21:42:50.853" v="353" actId="20577"/>
        <pc:sldMkLst>
          <pc:docMk/>
          <pc:sldMk cId="0" sldId="273"/>
        </pc:sldMkLst>
      </pc:sldChg>
      <pc:sldChg chg="modNotesTx">
        <pc:chgData name="Norbey Muñoz" userId="b7e811e8891ccd42" providerId="LiveId" clId="{C4605D06-283C-4236-936F-60D609F647F8}" dt="2024-10-16T21:38:06.220" v="297" actId="5793"/>
        <pc:sldMkLst>
          <pc:docMk/>
          <pc:sldMk cId="0" sldId="274"/>
        </pc:sldMkLst>
      </pc:sldChg>
      <pc:sldChg chg="modNotesTx">
        <pc:chgData name="Norbey Muñoz" userId="b7e811e8891ccd42" providerId="LiveId" clId="{C4605D06-283C-4236-936F-60D609F647F8}" dt="2024-10-21T20:49:04.716" v="644"/>
        <pc:sldMkLst>
          <pc:docMk/>
          <pc:sldMk cId="0" sldId="275"/>
        </pc:sldMkLst>
      </pc:sldChg>
      <pc:sldChg chg="modNotesTx">
        <pc:chgData name="Norbey Muñoz" userId="b7e811e8891ccd42" providerId="LiveId" clId="{C4605D06-283C-4236-936F-60D609F647F8}" dt="2024-10-21T20:49:36.016" v="649" actId="20577"/>
        <pc:sldMkLst>
          <pc:docMk/>
          <pc:sldMk cId="0" sldId="276"/>
        </pc:sldMkLst>
      </pc:sldChg>
      <pc:sldChg chg="modSp mod">
        <pc:chgData name="Norbey Muñoz" userId="b7e811e8891ccd42" providerId="LiveId" clId="{C4605D06-283C-4236-936F-60D609F647F8}" dt="2024-10-16T21:47:55.879" v="429" actId="20577"/>
        <pc:sldMkLst>
          <pc:docMk/>
          <pc:sldMk cId="0" sldId="282"/>
        </pc:sldMkLst>
      </pc:sldChg>
      <pc:sldChg chg="modSp mod">
        <pc:chgData name="Norbey Muñoz" userId="b7e811e8891ccd42" providerId="LiveId" clId="{C4605D06-283C-4236-936F-60D609F647F8}" dt="2024-10-21T20:42:58.826" v="516" actId="27636"/>
        <pc:sldMkLst>
          <pc:docMk/>
          <pc:sldMk cId="0" sldId="283"/>
        </pc:sldMkLst>
      </pc:sldChg>
      <pc:sldChg chg="modSp mod modShow modNotesTx">
        <pc:chgData name="Norbey Muñoz" userId="b7e811e8891ccd42" providerId="LiveId" clId="{C4605D06-283C-4236-936F-60D609F647F8}" dt="2024-10-21T20:48:13.138" v="639" actId="20577"/>
        <pc:sldMkLst>
          <pc:docMk/>
          <pc:sldMk cId="631503244" sldId="290"/>
        </pc:sldMkLst>
      </pc:sldChg>
      <pc:sldChg chg="modSp add mod modShow modNotesTx">
        <pc:chgData name="Norbey Muñoz" userId="b7e811e8891ccd42" providerId="LiveId" clId="{C4605D06-283C-4236-936F-60D609F647F8}" dt="2024-10-21T20:48:24.365" v="642" actId="27636"/>
        <pc:sldMkLst>
          <pc:docMk/>
          <pc:sldMk cId="3252179305" sldId="292"/>
        </pc:sldMkLst>
      </pc:sldChg>
      <pc:sldChg chg="addSp delSp modSp add mod ord modShow chgLayout">
        <pc:chgData name="Norbey Muñoz" userId="b7e811e8891ccd42" providerId="LiveId" clId="{C4605D06-283C-4236-936F-60D609F647F8}" dt="2024-10-21T20:47:38.909" v="613" actId="20577"/>
        <pc:sldMkLst>
          <pc:docMk/>
          <pc:sldMk cId="4005061083" sldId="293"/>
        </pc:sldMkLst>
      </pc:sldChg>
    </pc:docChg>
  </pc:docChgLst>
  <pc:docChgLst>
    <pc:chgData name="NORBEY DANILO MUÑOZ CAÑON" userId="29f64d73-8b12-4c53-a9f3-1c223397a229" providerId="ADAL" clId="{278E59FD-C59D-4786-9890-5CAB351A8AA2}"/>
    <pc:docChg chg="undo custSel addSld modSld sldOrd">
      <pc:chgData name="NORBEY DANILO MUÑOZ CAÑON" userId="29f64d73-8b12-4c53-a9f3-1c223397a229" providerId="ADAL" clId="{278E59FD-C59D-4786-9890-5CAB351A8AA2}" dt="2024-04-16T00:30:31.442" v="800" actId="1076"/>
      <pc:docMkLst>
        <pc:docMk/>
      </pc:docMkLst>
      <pc:sldChg chg="addSp delSp modSp mod">
        <pc:chgData name="NORBEY DANILO MUÑOZ CAÑON" userId="29f64d73-8b12-4c53-a9f3-1c223397a229" providerId="ADAL" clId="{278E59FD-C59D-4786-9890-5CAB351A8AA2}" dt="2024-04-10T21:33:02.710" v="1" actId="478"/>
        <pc:sldMkLst>
          <pc:docMk/>
          <pc:sldMk cId="0" sldId="256"/>
        </pc:sldMkLst>
      </pc:sldChg>
      <pc:sldChg chg="modSp mod">
        <pc:chgData name="NORBEY DANILO MUÑOZ CAÑON" userId="29f64d73-8b12-4c53-a9f3-1c223397a229" providerId="ADAL" clId="{278E59FD-C59D-4786-9890-5CAB351A8AA2}" dt="2024-04-10T21:34:03.047" v="4" actId="20577"/>
        <pc:sldMkLst>
          <pc:docMk/>
          <pc:sldMk cId="0" sldId="260"/>
        </pc:sldMkLst>
      </pc:sldChg>
      <pc:sldChg chg="modSp mod">
        <pc:chgData name="NORBEY DANILO MUÑOZ CAÑON" userId="29f64d73-8b12-4c53-a9f3-1c223397a229" providerId="ADAL" clId="{278E59FD-C59D-4786-9890-5CAB351A8AA2}" dt="2024-04-15T19:01:03.473" v="5" actId="20577"/>
        <pc:sldMkLst>
          <pc:docMk/>
          <pc:sldMk cId="0" sldId="262"/>
        </pc:sldMkLst>
      </pc:sldChg>
      <pc:sldChg chg="addSp modSp mod">
        <pc:chgData name="NORBEY DANILO MUÑOZ CAÑON" userId="29f64d73-8b12-4c53-a9f3-1c223397a229" providerId="ADAL" clId="{278E59FD-C59D-4786-9890-5CAB351A8AA2}" dt="2024-04-15T21:01:07.346" v="789" actId="1076"/>
        <pc:sldMkLst>
          <pc:docMk/>
          <pc:sldMk cId="0" sldId="266"/>
        </pc:sldMkLst>
      </pc:sldChg>
      <pc:sldChg chg="modSp mod">
        <pc:chgData name="NORBEY DANILO MUÑOZ CAÑON" userId="29f64d73-8b12-4c53-a9f3-1c223397a229" providerId="ADAL" clId="{278E59FD-C59D-4786-9890-5CAB351A8AA2}" dt="2024-04-15T21:03:56.559" v="793" actId="1076"/>
        <pc:sldMkLst>
          <pc:docMk/>
          <pc:sldMk cId="0" sldId="267"/>
        </pc:sldMkLst>
      </pc:sldChg>
      <pc:sldChg chg="modSp mod">
        <pc:chgData name="NORBEY DANILO MUÑOZ CAÑON" userId="29f64d73-8b12-4c53-a9f3-1c223397a229" providerId="ADAL" clId="{278E59FD-C59D-4786-9890-5CAB351A8AA2}" dt="2024-04-15T20:55:41.828" v="753" actId="27636"/>
        <pc:sldMkLst>
          <pc:docMk/>
          <pc:sldMk cId="0" sldId="270"/>
        </pc:sldMkLst>
      </pc:sldChg>
      <pc:sldChg chg="modSp mod">
        <pc:chgData name="NORBEY DANILO MUÑOZ CAÑON" userId="29f64d73-8b12-4c53-a9f3-1c223397a229" providerId="ADAL" clId="{278E59FD-C59D-4786-9890-5CAB351A8AA2}" dt="2024-04-15T19:20:48.826" v="7" actId="20577"/>
        <pc:sldMkLst>
          <pc:docMk/>
          <pc:sldMk cId="0" sldId="271"/>
        </pc:sldMkLst>
      </pc:sldChg>
      <pc:sldChg chg="modSp mod modNotesTx">
        <pc:chgData name="NORBEY DANILO MUÑOZ CAÑON" userId="29f64d73-8b12-4c53-a9f3-1c223397a229" providerId="ADAL" clId="{278E59FD-C59D-4786-9890-5CAB351A8AA2}" dt="2024-04-15T21:04:20.393" v="795" actId="20577"/>
        <pc:sldMkLst>
          <pc:docMk/>
          <pc:sldMk cId="0" sldId="276"/>
        </pc:sldMkLst>
      </pc:sldChg>
      <pc:sldChg chg="delSp mod">
        <pc:chgData name="NORBEY DANILO MUÑOZ CAÑON" userId="29f64d73-8b12-4c53-a9f3-1c223397a229" providerId="ADAL" clId="{278E59FD-C59D-4786-9890-5CAB351A8AA2}" dt="2024-04-15T19:34:53.580" v="10" actId="478"/>
        <pc:sldMkLst>
          <pc:docMk/>
          <pc:sldMk cId="0" sldId="279"/>
        </pc:sldMkLst>
      </pc:sldChg>
      <pc:sldChg chg="delSp mod">
        <pc:chgData name="NORBEY DANILO MUÑOZ CAÑON" userId="29f64d73-8b12-4c53-a9f3-1c223397a229" providerId="ADAL" clId="{278E59FD-C59D-4786-9890-5CAB351A8AA2}" dt="2024-04-15T19:37:00.972" v="11" actId="478"/>
        <pc:sldMkLst>
          <pc:docMk/>
          <pc:sldMk cId="0" sldId="280"/>
        </pc:sldMkLst>
      </pc:sldChg>
      <pc:sldChg chg="modSp mod">
        <pc:chgData name="NORBEY DANILO MUÑOZ CAÑON" userId="29f64d73-8b12-4c53-a9f3-1c223397a229" providerId="ADAL" clId="{278E59FD-C59D-4786-9890-5CAB351A8AA2}" dt="2024-04-15T20:55:41.872" v="754" actId="27636"/>
        <pc:sldMkLst>
          <pc:docMk/>
          <pc:sldMk cId="0" sldId="283"/>
        </pc:sldMkLst>
      </pc:sldChg>
      <pc:sldChg chg="delSp modSp add mod">
        <pc:chgData name="NORBEY DANILO MUÑOZ CAÑON" userId="29f64d73-8b12-4c53-a9f3-1c223397a229" providerId="ADAL" clId="{278E59FD-C59D-4786-9890-5CAB351A8AA2}" dt="2024-04-15T19:45:29.243" v="133" actId="20577"/>
        <pc:sldMkLst>
          <pc:docMk/>
          <pc:sldMk cId="3634067060" sldId="284"/>
        </pc:sldMkLst>
      </pc:sldChg>
      <pc:sldChg chg="modSp add mod">
        <pc:chgData name="NORBEY DANILO MUÑOZ CAÑON" userId="29f64d73-8b12-4c53-a9f3-1c223397a229" providerId="ADAL" clId="{278E59FD-C59D-4786-9890-5CAB351A8AA2}" dt="2024-04-15T19:49:59.253" v="168" actId="20577"/>
        <pc:sldMkLst>
          <pc:docMk/>
          <pc:sldMk cId="4069713725" sldId="285"/>
        </pc:sldMkLst>
      </pc:sldChg>
      <pc:sldChg chg="addSp delSp modSp add mod">
        <pc:chgData name="NORBEY DANILO MUÑOZ CAÑON" userId="29f64d73-8b12-4c53-a9f3-1c223397a229" providerId="ADAL" clId="{278E59FD-C59D-4786-9890-5CAB351A8AA2}" dt="2024-04-15T19:50:27.994" v="174" actId="1076"/>
        <pc:sldMkLst>
          <pc:docMk/>
          <pc:sldMk cId="246855685" sldId="286"/>
        </pc:sldMkLst>
      </pc:sldChg>
      <pc:sldChg chg="modSp add mod ord">
        <pc:chgData name="NORBEY DANILO MUÑOZ CAÑON" userId="29f64d73-8b12-4c53-a9f3-1c223397a229" providerId="ADAL" clId="{278E59FD-C59D-4786-9890-5CAB351A8AA2}" dt="2024-04-15T20:43:15.835" v="197" actId="20577"/>
        <pc:sldMkLst>
          <pc:docMk/>
          <pc:sldMk cId="1336271864" sldId="287"/>
        </pc:sldMkLst>
      </pc:sldChg>
      <pc:sldChg chg="modSp add mod">
        <pc:chgData name="NORBEY DANILO MUÑOZ CAÑON" userId="29f64d73-8b12-4c53-a9f3-1c223397a229" providerId="ADAL" clId="{278E59FD-C59D-4786-9890-5CAB351A8AA2}" dt="2024-04-15T20:48:39.066" v="719" actId="20577"/>
        <pc:sldMkLst>
          <pc:docMk/>
          <pc:sldMk cId="689534410" sldId="288"/>
        </pc:sldMkLst>
      </pc:sldChg>
      <pc:sldChg chg="addSp modSp add mod modNotesTx">
        <pc:chgData name="NORBEY DANILO MUÑOZ CAÑON" userId="29f64d73-8b12-4c53-a9f3-1c223397a229" providerId="ADAL" clId="{278E59FD-C59D-4786-9890-5CAB351A8AA2}" dt="2024-04-16T00:30:31.442" v="800" actId="1076"/>
        <pc:sldMkLst>
          <pc:docMk/>
          <pc:sldMk cId="2853472517" sldId="289"/>
        </pc:sldMkLst>
      </pc:sldChg>
      <pc:sldChg chg="addSp delSp modSp add mod">
        <pc:chgData name="NORBEY DANILO MUÑOZ CAÑON" userId="29f64d73-8b12-4c53-a9f3-1c223397a229" providerId="ADAL" clId="{278E59FD-C59D-4786-9890-5CAB351A8AA2}" dt="2024-04-15T20:58:16.663" v="782" actId="1076"/>
        <pc:sldMkLst>
          <pc:docMk/>
          <pc:sldMk cId="631503244" sldId="290"/>
        </pc:sldMkLst>
      </pc:sldChg>
      <pc:sldChg chg="add">
        <pc:chgData name="NORBEY DANILO MUÑOZ CAÑON" userId="29f64d73-8b12-4c53-a9f3-1c223397a229" providerId="ADAL" clId="{278E59FD-C59D-4786-9890-5CAB351A8AA2}" dt="2024-04-15T21:00:52.654" v="783" actId="2890"/>
        <pc:sldMkLst>
          <pc:docMk/>
          <pc:sldMk cId="2999712654"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e84ec17e13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e84ec17e1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e8784ab0a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e8784ab0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e8784ab0a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e8784ab0a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e8784ab0a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e8784ab0a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e84ec17e1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e84ec17e1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e9302317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e9302317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e9302317e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e9302317e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e9302317e4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e9302317e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e9302317e4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e9302317e4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e9302317e4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e9302317e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e9302317e4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e9302317e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8895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e9302317e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e9302317e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e9302317e4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e9302317e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e9302317e4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e9302317e4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4ab767612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4ab767612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e9302317e4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e9302317e4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302317e4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302317e4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e9302317e4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e9302317e4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Suma </a:t>
            </a:r>
            <a:r>
              <a:rPr lang="en-US" dirty="0" err="1"/>
              <a:t>acumulando</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Sibiu: </a:t>
            </a:r>
            <a:r>
              <a:rPr lang="en-US" dirty="0" err="1"/>
              <a:t>Fagaras</a:t>
            </a:r>
            <a:r>
              <a:rPr lang="en-US" dirty="0"/>
              <a:t> (140+99)+176 = 239+176 = 415; </a:t>
            </a:r>
            <a:r>
              <a:rPr lang="en-US" dirty="0" err="1"/>
              <a:t>Rimnicu</a:t>
            </a:r>
            <a:r>
              <a:rPr lang="en-US" dirty="0"/>
              <a:t> </a:t>
            </a:r>
            <a:r>
              <a:rPr lang="en-US" dirty="0" err="1"/>
              <a:t>Vilcea</a:t>
            </a:r>
            <a:r>
              <a:rPr lang="en-US" dirty="0"/>
              <a:t> (140+80) +193 = 220+193 = 413</a:t>
            </a:r>
          </a:p>
          <a:p>
            <a:pPr marL="0" lvl="0" indent="0" algn="l" rtl="0">
              <a:spcBef>
                <a:spcPts val="0"/>
              </a:spcBef>
              <a:spcAft>
                <a:spcPts val="0"/>
              </a:spcAft>
              <a:buNone/>
            </a:pPr>
            <a:r>
              <a:rPr lang="en-US" dirty="0" err="1"/>
              <a:t>Rimnicu</a:t>
            </a:r>
            <a:r>
              <a:rPr lang="en-US" dirty="0"/>
              <a:t> </a:t>
            </a:r>
            <a:r>
              <a:rPr lang="en-US" dirty="0" err="1"/>
              <a:t>Vilcea</a:t>
            </a:r>
            <a:r>
              <a:rPr lang="en-US" dirty="0"/>
              <a:t>: Pitesti (140+80+97) + 100 = 317+100 = 417</a:t>
            </a:r>
          </a:p>
          <a:p>
            <a:pPr marL="0" lvl="0" indent="0" algn="l" rtl="0">
              <a:spcBef>
                <a:spcPts val="0"/>
              </a:spcBef>
              <a:spcAft>
                <a:spcPts val="0"/>
              </a:spcAft>
              <a:buNone/>
            </a:pPr>
            <a:r>
              <a:rPr lang="en-US" dirty="0"/>
              <a:t>Arad: 140x2 + 366</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Pitesti es mayor que </a:t>
            </a:r>
            <a:r>
              <a:rPr lang="en-US" dirty="0" err="1"/>
              <a:t>Fagaras</a:t>
            </a:r>
            <a:r>
              <a:rPr lang="en-US" dirty="0"/>
              <a:t> </a:t>
            </a:r>
          </a:p>
          <a:p>
            <a:pPr marL="0" lvl="0" indent="0" algn="l" rtl="0">
              <a:spcBef>
                <a:spcPts val="0"/>
              </a:spcBef>
              <a:spcAft>
                <a:spcPts val="0"/>
              </a:spcAft>
              <a:buNone/>
            </a:pPr>
            <a:r>
              <a:rPr lang="en-US" dirty="0"/>
              <a:t>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e9302317e4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e9302317e4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Arad – Sibiu – </a:t>
            </a:r>
            <a:r>
              <a:rPr lang="en-US" dirty="0" err="1"/>
              <a:t>Rimnicu</a:t>
            </a:r>
            <a:r>
              <a:rPr lang="en-US" dirty="0"/>
              <a:t> – Pitesti – </a:t>
            </a:r>
            <a:r>
              <a:rPr lang="en-US" dirty="0" err="1"/>
              <a:t>Bucarest</a:t>
            </a:r>
            <a:r>
              <a:rPr lang="en-US" dirty="0"/>
              <a:t> </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4ab767612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4ab767612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e96dae42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e96dae42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S-B-E-F-G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https://1drv.ms/i/c/b7e811e8891ccd42/EY48sg4F-ctIm8dn1SraQTwBSiPgzJiV7Y_p6cCozUWYyQ?e=NuP0Vv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e958dd06e0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e958dd06e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e958dd06e0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e958dd06e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e958dd06e0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e958dd06e0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e958dd06e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e958dd06e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e958dd06e0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958dd06e0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e958dd06e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e958dd06e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860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68439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843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62271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23885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http://aimaterials.blogspot.com/p/best-first-search.html</a:t>
            </a:r>
          </a:p>
          <a:p>
            <a:pPr marL="0" lvl="0" indent="0" algn="l" rtl="0">
              <a:spcBef>
                <a:spcPts val="0"/>
              </a:spcBef>
              <a:spcAft>
                <a:spcPts val="0"/>
              </a:spcAft>
              <a:buNone/>
            </a:pPr>
            <a:endParaRPr lang="en-US" dirty="0"/>
          </a:p>
          <a:p>
            <a:pPr marL="0" lvl="0" indent="0" algn="l" rtl="0">
              <a:spcBef>
                <a:spcPts val="0"/>
              </a:spcBef>
              <a:spcAft>
                <a:spcPts val="0"/>
              </a:spcAft>
              <a:buNone/>
            </a:pPr>
            <a:r>
              <a:rPr lang="en-US" b="1" i="0" dirty="0">
                <a:solidFill>
                  <a:srgbClr val="222222"/>
                </a:solidFill>
                <a:effectLst/>
                <a:latin typeface="Georgia" panose="02040502050405020303" pitchFamily="18" charset="0"/>
              </a:rPr>
              <a:t>S -&gt; B -&gt; F -&gt; G</a:t>
            </a:r>
            <a:endParaRPr dirty="0"/>
          </a:p>
        </p:txBody>
      </p:sp>
    </p:spTree>
    <p:extLst>
      <p:ext uri="{BB962C8B-B14F-4D97-AF65-F5344CB8AC3E}">
        <p14:creationId xmlns:p14="http://schemas.microsoft.com/office/powerpoint/2010/main" val="13200024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EA98B4E3-1F9F-5C26-6AF5-A63BD4FF41F1}"/>
            </a:ext>
          </a:extLst>
        </p:cNvPr>
        <p:cNvGrpSpPr/>
        <p:nvPr/>
      </p:nvGrpSpPr>
      <p:grpSpPr>
        <a:xfrm>
          <a:off x="0" y="0"/>
          <a:ext cx="0" cy="0"/>
          <a:chOff x="0" y="0"/>
          <a:chExt cx="0" cy="0"/>
        </a:xfrm>
      </p:grpSpPr>
      <p:sp>
        <p:nvSpPr>
          <p:cNvPr id="251" name="Google Shape;251;g1e958dd06e0_0_24:notes">
            <a:extLst>
              <a:ext uri="{FF2B5EF4-FFF2-40B4-BE49-F238E27FC236}">
                <a16:creationId xmlns:a16="http://schemas.microsoft.com/office/drawing/2014/main" id="{BEB49B54-2DE6-2AB8-D54F-D8C742184C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a:extLst>
              <a:ext uri="{FF2B5EF4-FFF2-40B4-BE49-F238E27FC236}">
                <a16:creationId xmlns:a16="http://schemas.microsoft.com/office/drawing/2014/main" id="{4208E4D4-5AE8-9A11-8EC2-019C5A52DC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62926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e958dd06e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02949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E943DE8-448E-5945-ADD3-7EAB0D457656}"/>
            </a:ext>
          </a:extLst>
        </p:cNvPr>
        <p:cNvGrpSpPr/>
        <p:nvPr/>
      </p:nvGrpSpPr>
      <p:grpSpPr>
        <a:xfrm>
          <a:off x="0" y="0"/>
          <a:ext cx="0" cy="0"/>
          <a:chOff x="0" y="0"/>
          <a:chExt cx="0" cy="0"/>
        </a:xfrm>
      </p:grpSpPr>
      <p:sp>
        <p:nvSpPr>
          <p:cNvPr id="251" name="Google Shape;251;g1e958dd06e0_0_24:notes">
            <a:extLst>
              <a:ext uri="{FF2B5EF4-FFF2-40B4-BE49-F238E27FC236}">
                <a16:creationId xmlns:a16="http://schemas.microsoft.com/office/drawing/2014/main" id="{2F9461A4-48CD-8370-0922-A84125D7E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e958dd06e0_0_24:notes">
            <a:extLst>
              <a:ext uri="{FF2B5EF4-FFF2-40B4-BE49-F238E27FC236}">
                <a16:creationId xmlns:a16="http://schemas.microsoft.com/office/drawing/2014/main" id="{DDE29450-7B02-4287-062E-D847DF9007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1124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a:t>Búsqueda de soluciones informada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Agenda</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s"/>
              <a:t>Generalidades</a:t>
            </a:r>
            <a:endParaRPr/>
          </a:p>
          <a:p>
            <a:pPr marL="457200" lvl="0" indent="-342900" algn="l" rtl="0">
              <a:spcBef>
                <a:spcPts val="0"/>
              </a:spcBef>
              <a:spcAft>
                <a:spcPts val="0"/>
              </a:spcAft>
              <a:buSzPts val="1800"/>
              <a:buChar char="●"/>
            </a:pPr>
            <a:r>
              <a:rPr lang="es"/>
              <a:t>Estrategias</a:t>
            </a:r>
            <a:endParaRPr/>
          </a:p>
          <a:p>
            <a:pPr marL="914400" lvl="1" indent="-317500" algn="l" rtl="0">
              <a:spcBef>
                <a:spcPts val="0"/>
              </a:spcBef>
              <a:spcAft>
                <a:spcPts val="0"/>
              </a:spcAft>
              <a:buSzPts val="1400"/>
              <a:buChar char="○"/>
            </a:pPr>
            <a:r>
              <a:rPr lang="es"/>
              <a:t>Búsqueda voraz - primero el mejor</a:t>
            </a:r>
            <a:endParaRPr/>
          </a:p>
          <a:p>
            <a:pPr marL="914400" lvl="1" indent="-317500" algn="l" rtl="0">
              <a:spcBef>
                <a:spcPts val="0"/>
              </a:spcBef>
              <a:spcAft>
                <a:spcPts val="0"/>
              </a:spcAft>
              <a:buSzPts val="1400"/>
              <a:buChar char="○"/>
            </a:pPr>
            <a:r>
              <a:rPr lang="es"/>
              <a:t>Búsqueda A*</a:t>
            </a:r>
            <a:endParaRPr/>
          </a:p>
          <a:p>
            <a:pPr marL="914400" lvl="1" indent="-317500" algn="l" rtl="0">
              <a:spcBef>
                <a:spcPts val="0"/>
              </a:spcBef>
              <a:spcAft>
                <a:spcPts val="0"/>
              </a:spcAft>
              <a:buSzPts val="1400"/>
              <a:buChar char="○"/>
            </a:pPr>
            <a:r>
              <a:rPr lang="es"/>
              <a:t>Búsqueda A* con memoria limitada</a:t>
            </a:r>
            <a:endParaRPr/>
          </a:p>
          <a:p>
            <a:pPr marL="1371600" lvl="2" indent="-317500" algn="l" rtl="0">
              <a:spcBef>
                <a:spcPts val="0"/>
              </a:spcBef>
              <a:spcAft>
                <a:spcPts val="0"/>
              </a:spcAft>
              <a:buSzPts val="1400"/>
              <a:buChar char="■"/>
            </a:pPr>
            <a:r>
              <a:rPr lang="es"/>
              <a:t>Búsqueda recursiva primero el mejor - BRPM</a:t>
            </a:r>
            <a:endParaRPr/>
          </a:p>
          <a:p>
            <a:pPr marL="1371600" lvl="2" indent="-317500" algn="l" rtl="0">
              <a:spcBef>
                <a:spcPts val="0"/>
              </a:spcBef>
              <a:spcAft>
                <a:spcPts val="0"/>
              </a:spcAft>
              <a:buSzPts val="1400"/>
              <a:buChar char="■"/>
            </a:pPr>
            <a:r>
              <a:rPr lang="es"/>
              <a:t>Búsqueda memoria simplificada  – A*MS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79" name="Google Shape;79;p15"/>
          <p:cNvSpPr txBox="1">
            <a:spLocks noGrp="1"/>
          </p:cNvSpPr>
          <p:nvPr>
            <p:ph type="body" idx="1"/>
          </p:nvPr>
        </p:nvSpPr>
        <p:spPr>
          <a:xfrm>
            <a:off x="311700" y="1266325"/>
            <a:ext cx="81504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Se conocen cómo estrategias de búsqueda que utilizan la </a:t>
            </a:r>
            <a:r>
              <a:rPr lang="es" sz="1500" b="1"/>
              <a:t>heurística </a:t>
            </a:r>
            <a:r>
              <a:rPr lang="es" sz="1500"/>
              <a:t>o </a:t>
            </a:r>
            <a:r>
              <a:rPr lang="es" sz="1500" b="1"/>
              <a:t>conocimiento del problema</a:t>
            </a:r>
            <a:r>
              <a:rPr lang="es" sz="1500"/>
              <a:t> para encontrar una solución, que en la mayoría de los casos pueden llegar a ser más efectivas que las búsquedas no informadas, pero en algunos pueden desempeñarse peor o no encontrar una solución.</a:t>
            </a:r>
            <a:endParaRPr sz="1500"/>
          </a:p>
          <a:p>
            <a:pPr marL="0" lvl="0" indent="0" algn="just" rtl="0">
              <a:lnSpc>
                <a:spcPct val="105000"/>
              </a:lnSpc>
              <a:spcBef>
                <a:spcPts val="1200"/>
              </a:spcBef>
              <a:spcAft>
                <a:spcPts val="0"/>
              </a:spcAft>
              <a:buNone/>
            </a:pPr>
            <a:r>
              <a:rPr lang="es" sz="1500"/>
              <a:t>Este tipo de estrategias se basa en una premisa fundamental: “</a:t>
            </a:r>
            <a:r>
              <a:rPr lang="es" sz="1500" i="1"/>
              <a:t>Es mejor encontrar una solución al problema de búsqueda con poco esfuerzo de manera rápida, a una solución óptima costosa de obtener</a:t>
            </a:r>
            <a:r>
              <a:rPr lang="es" sz="1500"/>
              <a:t>”</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80" name="Google Shape;80;p15"/>
          <p:cNvPicPr preferRelativeResize="0"/>
          <p:nvPr/>
        </p:nvPicPr>
        <p:blipFill>
          <a:blip r:embed="rId3">
            <a:alphaModFix/>
          </a:blip>
          <a:stretch>
            <a:fillRect/>
          </a:stretch>
        </p:blipFill>
        <p:spPr>
          <a:xfrm>
            <a:off x="4915675" y="3223975"/>
            <a:ext cx="1671450" cy="1671450"/>
          </a:xfrm>
          <a:prstGeom prst="rect">
            <a:avLst/>
          </a:prstGeom>
          <a:noFill/>
          <a:ln>
            <a:noFill/>
          </a:ln>
        </p:spPr>
      </p:pic>
      <p:pic>
        <p:nvPicPr>
          <p:cNvPr id="81" name="Google Shape;81;p15"/>
          <p:cNvPicPr preferRelativeResize="0"/>
          <p:nvPr/>
        </p:nvPicPr>
        <p:blipFill>
          <a:blip r:embed="rId4">
            <a:alphaModFix/>
          </a:blip>
          <a:stretch>
            <a:fillRect/>
          </a:stretch>
        </p:blipFill>
        <p:spPr>
          <a:xfrm>
            <a:off x="1674150" y="3123875"/>
            <a:ext cx="1871651" cy="1871651"/>
          </a:xfrm>
          <a:prstGeom prst="rect">
            <a:avLst/>
          </a:prstGeom>
          <a:noFill/>
          <a:ln>
            <a:noFill/>
          </a:ln>
        </p:spPr>
      </p:pic>
      <p:pic>
        <p:nvPicPr>
          <p:cNvPr id="82" name="Google Shape;82;p15"/>
          <p:cNvPicPr preferRelativeResize="0"/>
          <p:nvPr/>
        </p:nvPicPr>
        <p:blipFill>
          <a:blip r:embed="rId5">
            <a:alphaModFix/>
          </a:blip>
          <a:stretch>
            <a:fillRect/>
          </a:stretch>
        </p:blipFill>
        <p:spPr>
          <a:xfrm>
            <a:off x="6692800" y="3657888"/>
            <a:ext cx="803625" cy="803625"/>
          </a:xfrm>
          <a:prstGeom prst="rect">
            <a:avLst/>
          </a:prstGeom>
          <a:noFill/>
          <a:ln>
            <a:noFill/>
          </a:ln>
        </p:spPr>
      </p:pic>
      <p:pic>
        <p:nvPicPr>
          <p:cNvPr id="83" name="Google Shape;83;p15"/>
          <p:cNvPicPr preferRelativeResize="0"/>
          <p:nvPr/>
        </p:nvPicPr>
        <p:blipFill>
          <a:blip r:embed="rId6">
            <a:alphaModFix/>
          </a:blip>
          <a:stretch>
            <a:fillRect/>
          </a:stretch>
        </p:blipFill>
        <p:spPr>
          <a:xfrm>
            <a:off x="3470350" y="3794350"/>
            <a:ext cx="707400" cy="707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89" name="Google Shape;89;p16"/>
          <p:cNvSpPr txBox="1">
            <a:spLocks noGrp="1"/>
          </p:cNvSpPr>
          <p:nvPr>
            <p:ph type="body" idx="1"/>
          </p:nvPr>
        </p:nvSpPr>
        <p:spPr>
          <a:xfrm>
            <a:off x="311700" y="1266325"/>
            <a:ext cx="81504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Por ejemplo:</a:t>
            </a:r>
            <a:endParaRPr sz="1500"/>
          </a:p>
          <a:p>
            <a:pPr marL="0" lvl="0" indent="0" algn="just" rtl="0">
              <a:lnSpc>
                <a:spcPct val="105000"/>
              </a:lnSpc>
              <a:spcBef>
                <a:spcPts val="1200"/>
              </a:spcBef>
              <a:spcAft>
                <a:spcPts val="0"/>
              </a:spcAft>
              <a:buNone/>
            </a:pPr>
            <a:r>
              <a:rPr lang="es" sz="1500"/>
              <a:t>Cuando se realiza una compra relacionada con el desayuno como lo es el </a:t>
            </a:r>
            <a:r>
              <a:rPr lang="es" sz="1500" b="1"/>
              <a:t>pan</a:t>
            </a:r>
            <a:r>
              <a:rPr lang="es" sz="1500"/>
              <a:t>, se utilizan criterios simples como </a:t>
            </a:r>
            <a:r>
              <a:rPr lang="es" sz="1500" i="1"/>
              <a:t>apariencia, tipo de pan y costo</a:t>
            </a:r>
            <a:r>
              <a:rPr lang="es" sz="1500"/>
              <a:t> para escoger aquel que satisfaga la necesidad de un rico alimento, sin embargo se podría hacer una análisis químico sobre la composición de cada pan (azúcar, levadura, etc.) para saber cuál es más saludable y balanceado.</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90" name="Google Shape;90;p16"/>
          <p:cNvPicPr preferRelativeResize="0"/>
          <p:nvPr/>
        </p:nvPicPr>
        <p:blipFill>
          <a:blip r:embed="rId3">
            <a:alphaModFix/>
          </a:blip>
          <a:stretch>
            <a:fillRect/>
          </a:stretch>
        </p:blipFill>
        <p:spPr>
          <a:xfrm>
            <a:off x="3441238" y="3071025"/>
            <a:ext cx="1891325" cy="189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 - búsqueda informada vs no informada</a:t>
            </a:r>
            <a:endParaRPr/>
          </a:p>
        </p:txBody>
      </p:sp>
      <p:sp>
        <p:nvSpPr>
          <p:cNvPr id="96" name="Google Shape;96;p17"/>
          <p:cNvSpPr txBox="1">
            <a:spLocks noGrp="1"/>
          </p:cNvSpPr>
          <p:nvPr>
            <p:ph type="body" idx="1"/>
          </p:nvPr>
        </p:nvSpPr>
        <p:spPr>
          <a:xfrm>
            <a:off x="311700" y="1266325"/>
            <a:ext cx="81504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dirty="0"/>
              <a:t>Dependiendo de la problemática se deben escoger métodos heurísticos o no:</a:t>
            </a:r>
            <a:endParaRPr sz="1500" dirty="0"/>
          </a:p>
          <a:p>
            <a:pPr marL="457200" lvl="0" indent="-323850" algn="just" rtl="0">
              <a:lnSpc>
                <a:spcPct val="105000"/>
              </a:lnSpc>
              <a:spcBef>
                <a:spcPts val="1200"/>
              </a:spcBef>
              <a:spcAft>
                <a:spcPts val="0"/>
              </a:spcAft>
              <a:buSzPts val="1500"/>
              <a:buChar char="●"/>
            </a:pPr>
            <a:r>
              <a:rPr lang="es" sz="1500" dirty="0"/>
              <a:t>Para aquellas decisiones que tienen que tomarse en </a:t>
            </a:r>
            <a:r>
              <a:rPr lang="es" sz="1500" b="1" dirty="0"/>
              <a:t>tiempo real</a:t>
            </a:r>
            <a:r>
              <a:rPr lang="es" sz="1500" dirty="0"/>
              <a:t> este tipo de técnicas son altamente </a:t>
            </a:r>
            <a:r>
              <a:rPr lang="es" sz="1500" b="1" dirty="0"/>
              <a:t>eficaces</a:t>
            </a:r>
            <a:r>
              <a:rPr lang="es" sz="1500" dirty="0"/>
              <a:t>. </a:t>
            </a:r>
            <a:endParaRPr sz="1500" dirty="0"/>
          </a:p>
          <a:p>
            <a:pPr marL="457200" lvl="0" indent="-323850" algn="just" rtl="0">
              <a:lnSpc>
                <a:spcPct val="105000"/>
              </a:lnSpc>
              <a:spcBef>
                <a:spcPts val="0"/>
              </a:spcBef>
              <a:spcAft>
                <a:spcPts val="0"/>
              </a:spcAft>
              <a:buSzPts val="1500"/>
              <a:buChar char="●"/>
            </a:pPr>
            <a:r>
              <a:rPr lang="es" sz="1500" dirty="0"/>
              <a:t>En el caso de las estrategias de búsqueda informadas, se utilizan funciones heurísticas </a:t>
            </a:r>
            <a:r>
              <a:rPr lang="es" sz="1500" i="1" dirty="0"/>
              <a:t>h(n)</a:t>
            </a:r>
            <a:r>
              <a:rPr lang="es" sz="1500" dirty="0"/>
              <a:t> que, dependiendo de la técnica o problema, permitirán explorar el espacio de estados de una manera probabilística o con un tipo de modelo matemático que oriente la búsqueda, por aquellos caminos que encuentren una solución rápida y posiblemente no óptima.</a:t>
            </a:r>
            <a:endParaRPr sz="1500" dirty="0"/>
          </a:p>
          <a:p>
            <a:pPr marL="0" lvl="0" indent="0" algn="just" rtl="0">
              <a:lnSpc>
                <a:spcPct val="105000"/>
              </a:lnSpc>
              <a:spcBef>
                <a:spcPts val="1200"/>
              </a:spcBef>
              <a:spcAft>
                <a:spcPts val="0"/>
              </a:spcAft>
              <a:buNone/>
            </a:pPr>
            <a:endParaRPr sz="1500" dirty="0"/>
          </a:p>
          <a:p>
            <a:pPr marL="0" lvl="0" indent="0" algn="just" rtl="0">
              <a:lnSpc>
                <a:spcPct val="105000"/>
              </a:lnSpc>
              <a:spcBef>
                <a:spcPts val="1200"/>
              </a:spcBef>
              <a:spcAft>
                <a:spcPts val="1200"/>
              </a:spcAft>
              <a:buSzPts val="1018"/>
              <a:buNone/>
            </a:pPr>
            <a:endParaRPr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a:t>
            </a:r>
            <a:endParaRPr/>
          </a:p>
        </p:txBody>
      </p:sp>
      <p:sp>
        <p:nvSpPr>
          <p:cNvPr id="102" name="Google Shape;102;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1200"/>
              </a:spcAft>
              <a:buSzPts val="1018"/>
              <a:buNone/>
            </a:pPr>
            <a:r>
              <a:rPr lang="es" sz="1500"/>
              <a:t>Todas las estrategias se ejemplifican con el mapa de Rumanía con las distancias entre las ciudades de esta nación.</a:t>
            </a:r>
            <a:endParaRPr sz="1500"/>
          </a:p>
        </p:txBody>
      </p:sp>
      <p:pic>
        <p:nvPicPr>
          <p:cNvPr id="103" name="Google Shape;103;p18"/>
          <p:cNvPicPr preferRelativeResize="0"/>
          <p:nvPr/>
        </p:nvPicPr>
        <p:blipFill>
          <a:blip r:embed="rId3">
            <a:alphaModFix/>
          </a:blip>
          <a:stretch>
            <a:fillRect/>
          </a:stretch>
        </p:blipFill>
        <p:spPr>
          <a:xfrm>
            <a:off x="2400263" y="1928875"/>
            <a:ext cx="4343474" cy="2640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09" name="Google Shape;109;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dirty="0"/>
              <a:t>Es la estrategia más simple de este tipo y consiste en </a:t>
            </a:r>
            <a:r>
              <a:rPr lang="es" sz="1500" b="1" dirty="0"/>
              <a:t>expandir </a:t>
            </a:r>
            <a:r>
              <a:rPr lang="es" sz="1500" dirty="0"/>
              <a:t>aquellos </a:t>
            </a:r>
            <a:r>
              <a:rPr lang="es" sz="1500" b="1" dirty="0"/>
              <a:t>nodos más cercanos al objetivo</a:t>
            </a:r>
            <a:r>
              <a:rPr lang="es" sz="1500" dirty="0"/>
              <a:t>, por lo que la función para recorrer el grafo será igual a la heurística:  </a:t>
            </a:r>
            <a:r>
              <a:rPr lang="es" sz="1500" i="1" dirty="0"/>
              <a:t>f(n)=h(n)</a:t>
            </a:r>
            <a:r>
              <a:rPr lang="es" sz="1500" dirty="0"/>
              <a:t>. </a:t>
            </a:r>
            <a:endParaRPr sz="1500" dirty="0"/>
          </a:p>
          <a:p>
            <a:pPr marL="0" lvl="0" indent="0" algn="just" rtl="0">
              <a:lnSpc>
                <a:spcPct val="105000"/>
              </a:lnSpc>
              <a:spcBef>
                <a:spcPts val="1200"/>
              </a:spcBef>
              <a:spcAft>
                <a:spcPts val="0"/>
              </a:spcAft>
              <a:buSzPts val="1018"/>
              <a:buNone/>
            </a:pPr>
            <a:r>
              <a:rPr lang="es" sz="1500" dirty="0"/>
              <a:t>Tradicionalmente esta técnica se emplea escogiendo el </a:t>
            </a:r>
            <a:r>
              <a:rPr lang="es" sz="1500" b="1" dirty="0"/>
              <a:t>nodo que menor valor represente</a:t>
            </a:r>
            <a:r>
              <a:rPr lang="es" sz="1500" dirty="0"/>
              <a:t> y se suele utilizar en problemas de distancias, por lo que se emplea normalmente una estructura de datos </a:t>
            </a:r>
            <a:r>
              <a:rPr lang="es" sz="1500" b="1" dirty="0"/>
              <a:t>tipo cola de prioridad</a:t>
            </a:r>
            <a:r>
              <a:rPr lang="es" sz="1500" dirty="0"/>
              <a:t>, donde se ordenan los nodos por su valor de manera ascendente.</a:t>
            </a:r>
            <a:endParaRPr sz="1500" dirty="0"/>
          </a:p>
          <a:p>
            <a:pPr marL="0" lvl="0" indent="0" algn="just" rtl="0">
              <a:lnSpc>
                <a:spcPct val="105000"/>
              </a:lnSpc>
              <a:spcBef>
                <a:spcPts val="1200"/>
              </a:spcBef>
              <a:spcAft>
                <a:spcPts val="1200"/>
              </a:spcAft>
              <a:buSzPts val="1018"/>
              <a:buNone/>
            </a:pPr>
            <a:r>
              <a:rPr lang="es" sz="1500" dirty="0"/>
              <a:t>Una de las </a:t>
            </a:r>
            <a:r>
              <a:rPr lang="es" sz="1500" b="1" dirty="0"/>
              <a:t>aplicaciones </a:t>
            </a:r>
            <a:r>
              <a:rPr lang="es" sz="1500" dirty="0"/>
              <a:t>en las cuales se usa este tipo de técnica, es en la cual se necesita conocer cuál es la </a:t>
            </a:r>
            <a:r>
              <a:rPr lang="es" sz="1500" b="1" dirty="0"/>
              <a:t>distancia en línea recta</a:t>
            </a:r>
            <a:r>
              <a:rPr lang="es" sz="1500" dirty="0"/>
              <a:t> de un punto a otro, por lo que la función heurística se definirá con base en este criterio.</a:t>
            </a:r>
            <a:endParaRPr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15" name="Google Shape;115;p2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ctr" rtl="0">
              <a:lnSpc>
                <a:spcPct val="105000"/>
              </a:lnSpc>
              <a:spcBef>
                <a:spcPts val="0"/>
              </a:spcBef>
              <a:spcAft>
                <a:spcPts val="0"/>
              </a:spcAft>
              <a:buSzPts val="1018"/>
              <a:buNone/>
            </a:pPr>
            <a:r>
              <a:rPr lang="es" sz="1500" i="1"/>
              <a:t>h(n)=Distancia en línea recta a un punto</a:t>
            </a:r>
            <a:endParaRPr sz="1500" i="1"/>
          </a:p>
          <a:p>
            <a:pPr marL="0" lvl="0" indent="0" algn="just" rtl="0">
              <a:lnSpc>
                <a:spcPct val="105000"/>
              </a:lnSpc>
              <a:spcBef>
                <a:spcPts val="1200"/>
              </a:spcBef>
              <a:spcAft>
                <a:spcPts val="0"/>
              </a:spcAft>
              <a:buSzPts val="1018"/>
              <a:buNone/>
            </a:pPr>
            <a:r>
              <a:rPr lang="es" sz="1500"/>
              <a:t>Como ejemplo, se dará solución al problema de llegar a Bucarest desde cualquier ciudad de Rumanía, con base en el mínimo de distancia a recorrer en línea recta definida como </a:t>
            </a:r>
            <a:r>
              <a:rPr lang="es" sz="1500" i="1"/>
              <a:t>h</a:t>
            </a:r>
            <a:r>
              <a:rPr lang="es" sz="1500" i="1" baseline="-25000"/>
              <a:t>DLR</a:t>
            </a:r>
            <a:r>
              <a:rPr lang="es" sz="1500"/>
              <a:t>, por lo que se debe tener el conocimiento de estos valores para hacer de la heurística útil, la cual es:</a:t>
            </a:r>
            <a:endParaRPr sz="1500"/>
          </a:p>
          <a:p>
            <a:pPr marL="0" lvl="0" indent="0" algn="just" rtl="0">
              <a:lnSpc>
                <a:spcPct val="105000"/>
              </a:lnSpc>
              <a:spcBef>
                <a:spcPts val="1200"/>
              </a:spcBef>
              <a:spcAft>
                <a:spcPts val="1200"/>
              </a:spcAft>
              <a:buSzPts val="1018"/>
              <a:buNone/>
            </a:pPr>
            <a:endParaRPr sz="1500"/>
          </a:p>
        </p:txBody>
      </p:sp>
      <p:pic>
        <p:nvPicPr>
          <p:cNvPr id="116" name="Google Shape;116;p20"/>
          <p:cNvPicPr preferRelativeResize="0"/>
          <p:nvPr/>
        </p:nvPicPr>
        <p:blipFill>
          <a:blip r:embed="rId3">
            <a:alphaModFix/>
          </a:blip>
          <a:stretch>
            <a:fillRect/>
          </a:stretch>
        </p:blipFill>
        <p:spPr>
          <a:xfrm>
            <a:off x="2419449" y="2813425"/>
            <a:ext cx="4305100" cy="1622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22" name="Google Shape;122;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a:t>En el caso en que se quiera ir de Arad a Bucarest teniendo en cuenta las distancias en línea recta de esta ciudad (366), se empieza a buscar la solución por medio de la estrategia primero el mejor h</a:t>
            </a:r>
            <a:r>
              <a:rPr lang="es" sz="1500" baseline="-25000"/>
              <a:t>DLR</a:t>
            </a:r>
            <a:r>
              <a:rPr lang="es" sz="1500"/>
              <a:t>(En(Arad)) = 366.</a:t>
            </a:r>
            <a:endParaRPr sz="1500"/>
          </a:p>
          <a:p>
            <a:pPr marL="0" lvl="0" indent="0" algn="just" rtl="0">
              <a:lnSpc>
                <a:spcPct val="105000"/>
              </a:lnSpc>
              <a:spcBef>
                <a:spcPts val="1200"/>
              </a:spcBef>
              <a:spcAft>
                <a:spcPts val="0"/>
              </a:spcAft>
              <a:buSzPts val="1018"/>
              <a:buNone/>
            </a:pPr>
            <a:endParaRPr sz="1500"/>
          </a:p>
          <a:p>
            <a:pPr marL="0" lvl="0" indent="0" algn="just" rtl="0">
              <a:lnSpc>
                <a:spcPct val="105000"/>
              </a:lnSpc>
              <a:spcBef>
                <a:spcPts val="1200"/>
              </a:spcBef>
              <a:spcAft>
                <a:spcPts val="1200"/>
              </a:spcAft>
              <a:buSzPts val="1018"/>
              <a:buNone/>
            </a:pPr>
            <a:endParaRPr sz="1500"/>
          </a:p>
        </p:txBody>
      </p:sp>
      <p:pic>
        <p:nvPicPr>
          <p:cNvPr id="123" name="Google Shape;123;p21"/>
          <p:cNvPicPr preferRelativeResize="0"/>
          <p:nvPr/>
        </p:nvPicPr>
        <p:blipFill>
          <a:blip r:embed="rId3">
            <a:alphaModFix/>
          </a:blip>
          <a:stretch>
            <a:fillRect/>
          </a:stretch>
        </p:blipFill>
        <p:spPr>
          <a:xfrm>
            <a:off x="389475" y="2268375"/>
            <a:ext cx="3935500" cy="2392175"/>
          </a:xfrm>
          <a:prstGeom prst="rect">
            <a:avLst/>
          </a:prstGeom>
          <a:noFill/>
          <a:ln>
            <a:noFill/>
          </a:ln>
        </p:spPr>
      </p:pic>
      <p:pic>
        <p:nvPicPr>
          <p:cNvPr id="124" name="Google Shape;124;p21"/>
          <p:cNvPicPr preferRelativeResize="0"/>
          <p:nvPr/>
        </p:nvPicPr>
        <p:blipFill>
          <a:blip r:embed="rId4">
            <a:alphaModFix/>
          </a:blip>
          <a:stretch>
            <a:fillRect/>
          </a:stretch>
        </p:blipFill>
        <p:spPr>
          <a:xfrm>
            <a:off x="4324974" y="2571750"/>
            <a:ext cx="4305100" cy="1622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30" name="Google Shape;130;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a:t>Solución:</a:t>
            </a:r>
            <a:endParaRPr sz="1500"/>
          </a:p>
          <a:p>
            <a:pPr marL="0" lvl="0" indent="0" algn="just" rtl="0">
              <a:lnSpc>
                <a:spcPct val="105000"/>
              </a:lnSpc>
              <a:spcBef>
                <a:spcPts val="1200"/>
              </a:spcBef>
              <a:spcAft>
                <a:spcPts val="1200"/>
              </a:spcAft>
              <a:buSzPts val="1018"/>
              <a:buNone/>
            </a:pPr>
            <a:endParaRPr sz="1500"/>
          </a:p>
        </p:txBody>
      </p:sp>
      <p:pic>
        <p:nvPicPr>
          <p:cNvPr id="131" name="Google Shape;131;p22"/>
          <p:cNvPicPr preferRelativeResize="0"/>
          <p:nvPr/>
        </p:nvPicPr>
        <p:blipFill>
          <a:blip r:embed="rId3">
            <a:alphaModFix/>
          </a:blip>
          <a:stretch>
            <a:fillRect/>
          </a:stretch>
        </p:blipFill>
        <p:spPr>
          <a:xfrm>
            <a:off x="2202623" y="1152425"/>
            <a:ext cx="4033362" cy="3877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37" name="Google Shape;137;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dirty="0"/>
              <a:t>Esta estrategia puede minimizar el tiempo de búsqueda de la solución, pero no es óptimo dado que la vía Sibiu y Fagaras a Bucarest es 32 kilómetros más larga que el camino por Rimnicu Vilcea y Pitesti. Lo anterior argumentado en que el algoritmo no expande o evalúa nodos que no estén por la ruta solución o que tengan menor distancia al objetivo en este caso.	</a:t>
            </a:r>
            <a:endParaRPr sz="1500" dirty="0"/>
          </a:p>
        </p:txBody>
      </p:sp>
      <p:pic>
        <p:nvPicPr>
          <p:cNvPr id="3" name="Imagen 2">
            <a:extLst>
              <a:ext uri="{FF2B5EF4-FFF2-40B4-BE49-F238E27FC236}">
                <a16:creationId xmlns:a16="http://schemas.microsoft.com/office/drawing/2014/main" id="{00D109FD-97E2-F143-0EBD-E65674F3355A}"/>
              </a:ext>
            </a:extLst>
          </p:cNvPr>
          <p:cNvPicPr>
            <a:picLocks noChangeAspect="1"/>
          </p:cNvPicPr>
          <p:nvPr/>
        </p:nvPicPr>
        <p:blipFill>
          <a:blip r:embed="rId3"/>
          <a:stretch>
            <a:fillRect/>
          </a:stretch>
        </p:blipFill>
        <p:spPr>
          <a:xfrm>
            <a:off x="2017276" y="2733960"/>
            <a:ext cx="5109448" cy="19489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37" name="Google Shape;137;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SzPts val="1018"/>
              <a:buNone/>
            </a:pPr>
            <a:r>
              <a:rPr lang="es" sz="1500"/>
              <a:t>Esta estrategia puede minimizar el tiempo de búsqueda de la solución, pero no es óptimo dado que la vía Sibiu y Fagaras a Bucarest es 32 kilómetros más larga que el camino por Rimnicu Vilcea y Pitesti. Lo anterior argumentado en que el algoritmo no expande o evalúa nodos que no estén por la ruta solución o que tengan menor distancia al objetivo en este caso.</a:t>
            </a:r>
            <a:endParaRPr sz="1500"/>
          </a:p>
          <a:p>
            <a:pPr marL="0" lvl="0" indent="0" algn="just" rtl="0">
              <a:lnSpc>
                <a:spcPct val="105000"/>
              </a:lnSpc>
              <a:spcBef>
                <a:spcPts val="1200"/>
              </a:spcBef>
              <a:spcAft>
                <a:spcPts val="0"/>
              </a:spcAft>
              <a:buSzPts val="1018"/>
              <a:buNone/>
            </a:pPr>
            <a:r>
              <a:rPr lang="es" sz="1500" b="1"/>
              <a:t>Características</a:t>
            </a:r>
            <a:r>
              <a:rPr lang="es" sz="1500"/>
              <a:t>:</a:t>
            </a:r>
            <a:endParaRPr sz="1500"/>
          </a:p>
          <a:p>
            <a:pPr marL="457200" lvl="0" indent="-323850" algn="just" rtl="0">
              <a:lnSpc>
                <a:spcPct val="105000"/>
              </a:lnSpc>
              <a:spcBef>
                <a:spcPts val="1200"/>
              </a:spcBef>
              <a:spcAft>
                <a:spcPts val="0"/>
              </a:spcAft>
              <a:buSzPts val="1500"/>
              <a:buChar char="●"/>
            </a:pPr>
            <a:r>
              <a:rPr lang="es" sz="1500"/>
              <a:t>Completo: </a:t>
            </a:r>
            <a:endParaRPr sz="1500"/>
          </a:p>
          <a:p>
            <a:pPr marL="914400" lvl="0" indent="0" algn="just" rtl="0">
              <a:lnSpc>
                <a:spcPct val="105000"/>
              </a:lnSpc>
              <a:spcBef>
                <a:spcPts val="1200"/>
              </a:spcBef>
              <a:spcAft>
                <a:spcPts val="0"/>
              </a:spcAft>
              <a:buNone/>
            </a:pPr>
            <a:r>
              <a:rPr lang="es" sz="1500"/>
              <a:t>No es completo, dado que se puede dirigir a un camino infinito que no contenga la solución y no le permita probar otras alternativas.</a:t>
            </a:r>
            <a:endParaRPr sz="1500"/>
          </a:p>
          <a:p>
            <a:pPr marL="0" lvl="0" indent="0" algn="just" rtl="0">
              <a:lnSpc>
                <a:spcPct val="105000"/>
              </a:lnSpc>
              <a:spcBef>
                <a:spcPts val="1200"/>
              </a:spcBef>
              <a:spcAft>
                <a:spcPts val="1200"/>
              </a:spcAft>
              <a:buNone/>
            </a:pPr>
            <a:r>
              <a:rPr lang="es" sz="1500"/>
              <a:t>	</a:t>
            </a:r>
            <a:endParaRPr sz="1500"/>
          </a:p>
        </p:txBody>
      </p:sp>
    </p:spTree>
    <p:extLst>
      <p:ext uri="{BB962C8B-B14F-4D97-AF65-F5344CB8AC3E}">
        <p14:creationId xmlns:p14="http://schemas.microsoft.com/office/powerpoint/2010/main" val="2999712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43" name="Google Shape;143;p2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457200" lvl="0" indent="-323850" algn="just" rtl="0">
              <a:lnSpc>
                <a:spcPct val="105000"/>
              </a:lnSpc>
              <a:spcBef>
                <a:spcPts val="0"/>
              </a:spcBef>
              <a:spcAft>
                <a:spcPts val="0"/>
              </a:spcAft>
              <a:buSzPts val="1500"/>
              <a:buChar char="●"/>
            </a:pPr>
            <a:r>
              <a:rPr lang="es" sz="1500" dirty="0"/>
              <a:t>Óptimo: </a:t>
            </a:r>
            <a:endParaRPr sz="1500" dirty="0"/>
          </a:p>
          <a:p>
            <a:pPr marL="914400" lvl="0" indent="0" algn="just" rtl="0">
              <a:lnSpc>
                <a:spcPct val="105000"/>
              </a:lnSpc>
              <a:spcBef>
                <a:spcPts val="1200"/>
              </a:spcBef>
              <a:spcAft>
                <a:spcPts val="0"/>
              </a:spcAft>
              <a:buNone/>
            </a:pPr>
            <a:r>
              <a:rPr lang="es" sz="1500" dirty="0"/>
              <a:t>No es óptimo, dado que puede encontrar una solución que tenga un coste de camino más alto.</a:t>
            </a:r>
            <a:endParaRPr sz="1500" dirty="0"/>
          </a:p>
          <a:p>
            <a:pPr marL="457200" lvl="0" indent="-323850" algn="just" rtl="0">
              <a:lnSpc>
                <a:spcPct val="105000"/>
              </a:lnSpc>
              <a:spcBef>
                <a:spcPts val="1200"/>
              </a:spcBef>
              <a:spcAft>
                <a:spcPts val="0"/>
              </a:spcAft>
              <a:buSzPts val="1500"/>
              <a:buChar char="●"/>
            </a:pPr>
            <a:r>
              <a:rPr lang="es" sz="1500" dirty="0"/>
              <a:t>Complejidad temporal: </a:t>
            </a:r>
            <a:endParaRPr sz="1500" dirty="0"/>
          </a:p>
          <a:p>
            <a:pPr marL="457200" lvl="0" indent="0" algn="just" rtl="0">
              <a:lnSpc>
                <a:spcPct val="105000"/>
              </a:lnSpc>
              <a:spcBef>
                <a:spcPts val="1200"/>
              </a:spcBef>
              <a:spcAft>
                <a:spcPts val="0"/>
              </a:spcAft>
              <a:buNone/>
            </a:pPr>
            <a:r>
              <a:rPr lang="es" sz="1500" dirty="0"/>
              <a:t>Cuenta con una complejidad temporal de      siendo </a:t>
            </a:r>
            <a:r>
              <a:rPr lang="es" sz="1500" i="1" dirty="0"/>
              <a:t>d</a:t>
            </a:r>
            <a:r>
              <a:rPr lang="es" sz="1500" dirty="0"/>
              <a:t> la profundidad máxima del espacio de búsqueda.</a:t>
            </a:r>
            <a:endParaRPr sz="1500" dirty="0"/>
          </a:p>
          <a:p>
            <a:pPr marL="457200" lvl="0" indent="-323850" algn="just" rtl="0">
              <a:lnSpc>
                <a:spcPct val="105000"/>
              </a:lnSpc>
              <a:spcBef>
                <a:spcPts val="1200"/>
              </a:spcBef>
              <a:spcAft>
                <a:spcPts val="0"/>
              </a:spcAft>
              <a:buSzPts val="1500"/>
              <a:buChar char="●"/>
            </a:pPr>
            <a:r>
              <a:rPr lang="es" sz="1500" dirty="0"/>
              <a:t>Complejidad espacial: </a:t>
            </a:r>
            <a:endParaRPr sz="1500" dirty="0"/>
          </a:p>
          <a:p>
            <a:pPr marL="914400" lvl="0" indent="0" algn="just" rtl="0">
              <a:lnSpc>
                <a:spcPct val="105000"/>
              </a:lnSpc>
              <a:spcBef>
                <a:spcPts val="1200"/>
              </a:spcBef>
              <a:spcAft>
                <a:spcPts val="0"/>
              </a:spcAft>
              <a:buNone/>
            </a:pPr>
            <a:r>
              <a:rPr lang="es" sz="1500" dirty="0"/>
              <a:t>Cuenta con una complejidad espacial de            siendo </a:t>
            </a:r>
            <a:r>
              <a:rPr lang="es" sz="1500" i="1" dirty="0"/>
              <a:t>d</a:t>
            </a:r>
            <a:r>
              <a:rPr lang="es" sz="1500" dirty="0"/>
              <a:t> la profundidad máxima del espacio de búsqueda.</a:t>
            </a:r>
            <a:endParaRPr sz="1500" dirty="0"/>
          </a:p>
          <a:p>
            <a:pPr marL="0" lvl="0" indent="0" algn="just" rtl="0">
              <a:lnSpc>
                <a:spcPct val="105000"/>
              </a:lnSpc>
              <a:spcBef>
                <a:spcPts val="1200"/>
              </a:spcBef>
              <a:spcAft>
                <a:spcPts val="1200"/>
              </a:spcAft>
              <a:buNone/>
            </a:pPr>
            <a:r>
              <a:rPr lang="es" sz="1500" dirty="0"/>
              <a:t>Nota:	La complejidad temporal y espacial puede disminuir considerablemente dependiendo del problema y la heurística utilizada.</a:t>
            </a:r>
            <a:endParaRPr sz="1500" dirty="0"/>
          </a:p>
        </p:txBody>
      </p:sp>
      <p:pic>
        <p:nvPicPr>
          <p:cNvPr id="144" name="Google Shape;144;p24"/>
          <p:cNvPicPr preferRelativeResize="0"/>
          <p:nvPr/>
        </p:nvPicPr>
        <p:blipFill>
          <a:blip r:embed="rId3">
            <a:alphaModFix/>
          </a:blip>
          <a:stretch>
            <a:fillRect/>
          </a:stretch>
        </p:blipFill>
        <p:spPr>
          <a:xfrm>
            <a:off x="4923454" y="3341787"/>
            <a:ext cx="409575" cy="228600"/>
          </a:xfrm>
          <a:prstGeom prst="rect">
            <a:avLst/>
          </a:prstGeom>
          <a:noFill/>
          <a:ln>
            <a:noFill/>
          </a:ln>
        </p:spPr>
      </p:pic>
      <p:pic>
        <p:nvPicPr>
          <p:cNvPr id="145" name="Google Shape;145;p24"/>
          <p:cNvPicPr preferRelativeResize="0"/>
          <p:nvPr/>
        </p:nvPicPr>
        <p:blipFill>
          <a:blip r:embed="rId3">
            <a:alphaModFix/>
          </a:blip>
          <a:stretch>
            <a:fillRect/>
          </a:stretch>
        </p:blipFill>
        <p:spPr>
          <a:xfrm>
            <a:off x="4440244" y="2571750"/>
            <a:ext cx="263511" cy="1698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51" name="Google Shape;151;p2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1200"/>
              </a:spcAft>
              <a:buNone/>
            </a:pPr>
            <a:r>
              <a:rPr lang="es" sz="1500"/>
              <a:t>Ejercicio</a:t>
            </a:r>
            <a:endParaRPr sz="1500"/>
          </a:p>
        </p:txBody>
      </p:sp>
      <p:pic>
        <p:nvPicPr>
          <p:cNvPr id="152" name="Google Shape;152;p25"/>
          <p:cNvPicPr preferRelativeResize="0"/>
          <p:nvPr/>
        </p:nvPicPr>
        <p:blipFill>
          <a:blip r:embed="rId3">
            <a:alphaModFix/>
          </a:blip>
          <a:stretch>
            <a:fillRect/>
          </a:stretch>
        </p:blipFill>
        <p:spPr>
          <a:xfrm>
            <a:off x="2784275" y="1675647"/>
            <a:ext cx="3575450" cy="2748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voraz</a:t>
            </a:r>
            <a:endParaRPr/>
          </a:p>
        </p:txBody>
      </p:sp>
      <p:sp>
        <p:nvSpPr>
          <p:cNvPr id="158" name="Google Shape;158;p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1200"/>
              </a:spcAft>
              <a:buNone/>
            </a:pPr>
            <a:r>
              <a:rPr lang="es" sz="1500"/>
              <a:t>Solución</a:t>
            </a:r>
            <a:endParaRPr sz="1500"/>
          </a:p>
        </p:txBody>
      </p:sp>
      <p:pic>
        <p:nvPicPr>
          <p:cNvPr id="159" name="Google Shape;159;p26"/>
          <p:cNvPicPr preferRelativeResize="0"/>
          <p:nvPr/>
        </p:nvPicPr>
        <p:blipFill>
          <a:blip r:embed="rId3">
            <a:alphaModFix/>
          </a:blip>
          <a:stretch>
            <a:fillRect/>
          </a:stretch>
        </p:blipFill>
        <p:spPr>
          <a:xfrm>
            <a:off x="3053813" y="1875875"/>
            <a:ext cx="3036375" cy="2816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65" name="Google Shape;165;p2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a:t>A diferencia de la búsqueda voraz en la que solo importa encontrar una solución independientemente de la optimalidad que está presente, la búsqueda </a:t>
            </a:r>
            <a:r>
              <a:rPr lang="es" sz="1500" b="1"/>
              <a:t>A*</a:t>
            </a:r>
            <a:r>
              <a:rPr lang="es" sz="1500"/>
              <a:t> de tipo primero el mejor, se enfoca en obtener una solución óptima y válida para el problema. Por lo tanto, no solo está orientada a encontrar una solución con base en el coste de llegar al objetivo </a:t>
            </a:r>
            <a:r>
              <a:rPr lang="es" sz="1500" i="1"/>
              <a:t>h(n)</a:t>
            </a:r>
            <a:r>
              <a:rPr lang="es" sz="1500"/>
              <a:t>, sino que además evalúa los nodos combinados como coste para alcanzar el nodo objetivo </a:t>
            </a:r>
            <a:r>
              <a:rPr lang="es" sz="1500" i="1"/>
              <a:t>g(n)</a:t>
            </a:r>
            <a:r>
              <a:rPr lang="es" sz="1500"/>
              <a:t> (coste de camino).</a:t>
            </a:r>
            <a:endParaRPr sz="1500"/>
          </a:p>
          <a:p>
            <a:pPr marL="0" lvl="0" indent="0" algn="ctr" rtl="0">
              <a:lnSpc>
                <a:spcPct val="105000"/>
              </a:lnSpc>
              <a:spcBef>
                <a:spcPts val="1200"/>
              </a:spcBef>
              <a:spcAft>
                <a:spcPts val="0"/>
              </a:spcAft>
              <a:buSzPts val="1018"/>
              <a:buNone/>
            </a:pPr>
            <a:r>
              <a:rPr lang="es" sz="1500" i="1"/>
              <a:t>f(n)=g(n)+h(n)</a:t>
            </a:r>
            <a:endParaRPr sz="1500" i="1"/>
          </a:p>
          <a:p>
            <a:pPr marL="0" lvl="0" indent="0" algn="just" rtl="0">
              <a:lnSpc>
                <a:spcPct val="105000"/>
              </a:lnSpc>
              <a:spcBef>
                <a:spcPts val="1200"/>
              </a:spcBef>
              <a:spcAft>
                <a:spcPts val="0"/>
              </a:spcAft>
              <a:buNone/>
            </a:pPr>
            <a:r>
              <a:rPr lang="es" sz="1500"/>
              <a:t>Teniendo así la posibilidad de evaluar el coste de camino de un nodo inicio al nodo n con </a:t>
            </a:r>
            <a:r>
              <a:rPr lang="es" sz="1500" i="1"/>
              <a:t>g(n)</a:t>
            </a:r>
            <a:r>
              <a:rPr lang="es" sz="1500"/>
              <a:t>  y el valor del camino más barato desde n al objetivo </a:t>
            </a:r>
            <a:r>
              <a:rPr lang="es" sz="1500" i="1"/>
              <a:t>h(n)</a:t>
            </a:r>
            <a:r>
              <a:rPr lang="es" sz="1500"/>
              <a:t>:</a:t>
            </a:r>
            <a:endParaRPr sz="1500"/>
          </a:p>
          <a:p>
            <a:pPr marL="0" lvl="0" indent="0" algn="ctr" rtl="0">
              <a:lnSpc>
                <a:spcPct val="105000"/>
              </a:lnSpc>
              <a:spcBef>
                <a:spcPts val="1200"/>
              </a:spcBef>
              <a:spcAft>
                <a:spcPts val="0"/>
              </a:spcAft>
              <a:buNone/>
            </a:pPr>
            <a:r>
              <a:rPr lang="es" sz="1500" i="1"/>
              <a:t>f(n)=Coste más barato estimado de la solución a través de n</a:t>
            </a:r>
            <a:endParaRPr sz="1500" i="1"/>
          </a:p>
          <a:p>
            <a:pPr marL="0" lvl="0" indent="0" algn="ctr" rtl="0">
              <a:lnSpc>
                <a:spcPct val="105000"/>
              </a:lnSpc>
              <a:spcBef>
                <a:spcPts val="1200"/>
              </a:spcBef>
              <a:spcAft>
                <a:spcPts val="0"/>
              </a:spcAft>
              <a:buNone/>
            </a:pPr>
            <a:endParaRPr sz="1500" i="1"/>
          </a:p>
          <a:p>
            <a:pPr marL="0" lvl="0" indent="0" algn="ctr" rtl="0">
              <a:lnSpc>
                <a:spcPct val="105000"/>
              </a:lnSpc>
              <a:spcBef>
                <a:spcPts val="1200"/>
              </a:spcBef>
              <a:spcAft>
                <a:spcPts val="1200"/>
              </a:spcAft>
              <a:buSzPts val="1018"/>
              <a:buNone/>
            </a:pPr>
            <a:endParaRPr sz="1500" i="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71" name="Google Shape;171;p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dirty="0"/>
              <a:t>Se puede hablar de uno de los algoritmos más eficientes que se pueden encontrar en la actualidad, teniendo en cuenta que si la </a:t>
            </a:r>
            <a:r>
              <a:rPr lang="es" sz="1500" b="1" dirty="0"/>
              <a:t>heurística es admisible</a:t>
            </a:r>
            <a:r>
              <a:rPr lang="es" sz="1500" dirty="0"/>
              <a:t> (no sobreestima el coste de alcanzar el objetivo) y acotada al problema, la optimalidad y completitud de esta estrategia se garantizarán de una manera eficiente. Lo que quiere decir, que se encontrará la solución óptima que satisfaga el conocimiento del problema, por ejemplo: </a:t>
            </a:r>
            <a:endParaRPr sz="1500" dirty="0"/>
          </a:p>
          <a:p>
            <a:pPr marL="0" lvl="0" indent="0" algn="just" rtl="0">
              <a:lnSpc>
                <a:spcPct val="105000"/>
              </a:lnSpc>
              <a:spcBef>
                <a:spcPts val="1200"/>
              </a:spcBef>
              <a:spcAft>
                <a:spcPts val="0"/>
              </a:spcAft>
              <a:buNone/>
            </a:pPr>
            <a:r>
              <a:rPr lang="es" sz="1500" dirty="0"/>
              <a:t>Analizando por medio de una heurística se sabe que la mínima distancia entre una ciudad y otra es </a:t>
            </a:r>
            <a:r>
              <a:rPr lang="es" sz="1500" b="1" dirty="0"/>
              <a:t>x</a:t>
            </a:r>
            <a:r>
              <a:rPr lang="es" sz="1500" dirty="0"/>
              <a:t>, se tiene que el camino óptimo deberá encontrarse en un valor menor o igual a </a:t>
            </a:r>
            <a:r>
              <a:rPr lang="es" sz="1500" b="1" dirty="0"/>
              <a:t>x</a:t>
            </a:r>
            <a:r>
              <a:rPr lang="es" sz="1500" dirty="0"/>
              <a:t>.</a:t>
            </a:r>
            <a:endParaRPr sz="1500" dirty="0"/>
          </a:p>
          <a:p>
            <a:pPr marL="0" lvl="0" indent="0" algn="ctr" rtl="0">
              <a:lnSpc>
                <a:spcPct val="105000"/>
              </a:lnSpc>
              <a:spcBef>
                <a:spcPts val="1200"/>
              </a:spcBef>
              <a:spcAft>
                <a:spcPts val="0"/>
              </a:spcAft>
              <a:buNone/>
            </a:pPr>
            <a:r>
              <a:rPr lang="es" sz="1500" i="1" dirty="0"/>
              <a:t>f(n)=g(n)+h(n)≤x</a:t>
            </a:r>
            <a:endParaRPr sz="1500" i="1" dirty="0"/>
          </a:p>
          <a:p>
            <a:pPr marL="0" lvl="0" indent="0" algn="just" rtl="0">
              <a:lnSpc>
                <a:spcPct val="105000"/>
              </a:lnSpc>
              <a:spcBef>
                <a:spcPts val="1200"/>
              </a:spcBef>
              <a:spcAft>
                <a:spcPts val="1200"/>
              </a:spcAft>
              <a:buNone/>
            </a:pPr>
            <a:r>
              <a:rPr lang="es" sz="1500" dirty="0"/>
              <a:t>Adicionalmente, solo se deberán expandir aquellos nodos que satisfacen la condición de tener un coste de </a:t>
            </a:r>
            <a:r>
              <a:rPr lang="es" sz="1500" i="1" dirty="0"/>
              <a:t>f(n)&lt;x</a:t>
            </a:r>
            <a:r>
              <a:rPr lang="es" sz="1500" dirty="0"/>
              <a:t>, siendo </a:t>
            </a:r>
            <a:r>
              <a:rPr lang="es" sz="1500" b="1" dirty="0"/>
              <a:t>x</a:t>
            </a:r>
            <a:r>
              <a:rPr lang="es" sz="1500" dirty="0"/>
              <a:t> la solución óptima.</a:t>
            </a:r>
            <a:endParaRPr sz="150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77" name="Google Shape;177;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s" sz="1500"/>
              <a:t>Continuando con el ejemplo de ir desde Arad a Bucarest:</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0"/>
              </a:spcAft>
              <a:buNone/>
            </a:pPr>
            <a:endParaRPr sz="1500" i="1"/>
          </a:p>
          <a:p>
            <a:pPr marL="0" lvl="0" indent="0" algn="ctr" rtl="0">
              <a:lnSpc>
                <a:spcPct val="105000"/>
              </a:lnSpc>
              <a:spcBef>
                <a:spcPts val="1200"/>
              </a:spcBef>
              <a:spcAft>
                <a:spcPts val="1200"/>
              </a:spcAft>
              <a:buSzPts val="1018"/>
              <a:buNone/>
            </a:pPr>
            <a:endParaRPr sz="1500" i="1"/>
          </a:p>
        </p:txBody>
      </p:sp>
      <p:pic>
        <p:nvPicPr>
          <p:cNvPr id="178" name="Google Shape;178;p29"/>
          <p:cNvPicPr preferRelativeResize="0"/>
          <p:nvPr/>
        </p:nvPicPr>
        <p:blipFill>
          <a:blip r:embed="rId3">
            <a:alphaModFix/>
          </a:blip>
          <a:stretch>
            <a:fillRect/>
          </a:stretch>
        </p:blipFill>
        <p:spPr>
          <a:xfrm>
            <a:off x="389475" y="2268375"/>
            <a:ext cx="3935500" cy="2392175"/>
          </a:xfrm>
          <a:prstGeom prst="rect">
            <a:avLst/>
          </a:prstGeom>
          <a:noFill/>
          <a:ln>
            <a:noFill/>
          </a:ln>
        </p:spPr>
      </p:pic>
      <p:pic>
        <p:nvPicPr>
          <p:cNvPr id="179" name="Google Shape;179;p29"/>
          <p:cNvPicPr preferRelativeResize="0"/>
          <p:nvPr/>
        </p:nvPicPr>
        <p:blipFill>
          <a:blip r:embed="rId4">
            <a:alphaModFix/>
          </a:blip>
          <a:stretch>
            <a:fillRect/>
          </a:stretch>
        </p:blipFill>
        <p:spPr>
          <a:xfrm>
            <a:off x="4324974" y="2571750"/>
            <a:ext cx="4305100" cy="1622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85" name="Google Shape;185;p3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s" sz="1500"/>
              <a:t>Resultado:</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0"/>
              </a:spcAft>
              <a:buNone/>
            </a:pPr>
            <a:endParaRPr sz="1500" i="1"/>
          </a:p>
          <a:p>
            <a:pPr marL="0" lvl="0" indent="0" algn="ctr" rtl="0">
              <a:lnSpc>
                <a:spcPct val="105000"/>
              </a:lnSpc>
              <a:spcBef>
                <a:spcPts val="1200"/>
              </a:spcBef>
              <a:spcAft>
                <a:spcPts val="1200"/>
              </a:spcAft>
              <a:buSzPts val="1018"/>
              <a:buNone/>
            </a:pPr>
            <a:endParaRPr sz="1500" i="1"/>
          </a:p>
        </p:txBody>
      </p:sp>
      <p:pic>
        <p:nvPicPr>
          <p:cNvPr id="186" name="Google Shape;186;p30"/>
          <p:cNvPicPr preferRelativeResize="0"/>
          <p:nvPr/>
        </p:nvPicPr>
        <p:blipFill rotWithShape="1">
          <a:blip r:embed="rId3">
            <a:alphaModFix/>
          </a:blip>
          <a:srcRect b="46317"/>
          <a:stretch/>
        </p:blipFill>
        <p:spPr>
          <a:xfrm>
            <a:off x="2144275" y="1668375"/>
            <a:ext cx="4082301" cy="3302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92" name="Google Shape;192;p3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s" sz="1500"/>
              <a:t>Resultado:</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0"/>
              </a:spcAft>
              <a:buNone/>
            </a:pPr>
            <a:endParaRPr sz="1500" i="1"/>
          </a:p>
          <a:p>
            <a:pPr marL="0" lvl="0" indent="0" algn="ctr" rtl="0">
              <a:lnSpc>
                <a:spcPct val="105000"/>
              </a:lnSpc>
              <a:spcBef>
                <a:spcPts val="1200"/>
              </a:spcBef>
              <a:spcAft>
                <a:spcPts val="1200"/>
              </a:spcAft>
              <a:buSzPts val="1018"/>
              <a:buNone/>
            </a:pPr>
            <a:endParaRPr sz="1500" i="1"/>
          </a:p>
        </p:txBody>
      </p:sp>
      <p:pic>
        <p:nvPicPr>
          <p:cNvPr id="193" name="Google Shape;193;p31"/>
          <p:cNvPicPr preferRelativeResize="0"/>
          <p:nvPr/>
        </p:nvPicPr>
        <p:blipFill rotWithShape="1">
          <a:blip r:embed="rId3">
            <a:alphaModFix/>
          </a:blip>
          <a:srcRect t="53291" b="-1764"/>
          <a:stretch/>
        </p:blipFill>
        <p:spPr>
          <a:xfrm>
            <a:off x="2144275" y="1799500"/>
            <a:ext cx="4082300" cy="2982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a:t>
            </a:r>
            <a:endParaRPr/>
          </a:p>
        </p:txBody>
      </p:sp>
      <p:sp>
        <p:nvSpPr>
          <p:cNvPr id="199" name="Google Shape;199;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Características del algoritmo:</a:t>
            </a:r>
            <a:endParaRPr sz="1500" b="1"/>
          </a:p>
          <a:p>
            <a:pPr marL="457200" lvl="0" indent="-323850" algn="just" rtl="0">
              <a:lnSpc>
                <a:spcPct val="105000"/>
              </a:lnSpc>
              <a:spcBef>
                <a:spcPts val="1200"/>
              </a:spcBef>
              <a:spcAft>
                <a:spcPts val="0"/>
              </a:spcAft>
              <a:buSzPts val="1500"/>
              <a:buChar char="●"/>
            </a:pPr>
            <a:r>
              <a:rPr lang="es" sz="1500" b="1"/>
              <a:t>Completo</a:t>
            </a:r>
            <a:r>
              <a:rPr lang="es" sz="1500"/>
              <a:t>: Es completo siempre y cuando la heurística escogida sea admisible.</a:t>
            </a:r>
            <a:endParaRPr sz="1500"/>
          </a:p>
          <a:p>
            <a:pPr marL="457200" lvl="0" indent="-323850" algn="just" rtl="0">
              <a:lnSpc>
                <a:spcPct val="105000"/>
              </a:lnSpc>
              <a:spcBef>
                <a:spcPts val="0"/>
              </a:spcBef>
              <a:spcAft>
                <a:spcPts val="0"/>
              </a:spcAft>
              <a:buSzPts val="1500"/>
              <a:buChar char="●"/>
            </a:pPr>
            <a:r>
              <a:rPr lang="es" sz="1500" b="1"/>
              <a:t>Óptimo</a:t>
            </a:r>
            <a:r>
              <a:rPr lang="es" sz="1500"/>
              <a:t>: Encuentra la solución óptima del problema, siempre y cuando su heurística sea admisible, no se tiene un algoritmo diferente que abra menos nodos que A*.</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Cuenta con una complejidad temporal de      siendo </a:t>
            </a:r>
            <a:r>
              <a:rPr lang="es" sz="1500" i="1"/>
              <a:t>d</a:t>
            </a:r>
            <a:r>
              <a:rPr lang="es" sz="1500"/>
              <a:t> la profundidad máxima del espacio de búsqueda. </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Cuenta con una complejidad temporal de     siendo d la profundidad máxima del espacio de búsqueda. </a:t>
            </a:r>
            <a:endParaRPr sz="1500"/>
          </a:p>
          <a:p>
            <a:pPr marL="0" lvl="0" indent="0" algn="just" rtl="0">
              <a:lnSpc>
                <a:spcPct val="105000"/>
              </a:lnSpc>
              <a:spcBef>
                <a:spcPts val="1200"/>
              </a:spcBef>
              <a:spcAft>
                <a:spcPts val="1200"/>
              </a:spcAft>
              <a:buNone/>
            </a:pPr>
            <a:r>
              <a:rPr lang="es" sz="1500"/>
              <a:t>Nota: Este algoritmo no es recomendable para problemas muy grandes o con espacio de estados de gran magnitud. </a:t>
            </a:r>
            <a:endParaRPr sz="1500"/>
          </a:p>
        </p:txBody>
      </p:sp>
      <p:pic>
        <p:nvPicPr>
          <p:cNvPr id="200" name="Google Shape;200;p32"/>
          <p:cNvPicPr preferRelativeResize="0"/>
          <p:nvPr/>
        </p:nvPicPr>
        <p:blipFill>
          <a:blip r:embed="rId3">
            <a:alphaModFix/>
          </a:blip>
          <a:stretch>
            <a:fillRect/>
          </a:stretch>
        </p:blipFill>
        <p:spPr>
          <a:xfrm>
            <a:off x="7204675" y="2471738"/>
            <a:ext cx="438150" cy="200025"/>
          </a:xfrm>
          <a:prstGeom prst="rect">
            <a:avLst/>
          </a:prstGeom>
          <a:noFill/>
          <a:ln>
            <a:noFill/>
          </a:ln>
        </p:spPr>
      </p:pic>
      <p:pic>
        <p:nvPicPr>
          <p:cNvPr id="201" name="Google Shape;201;p32"/>
          <p:cNvPicPr preferRelativeResize="0"/>
          <p:nvPr/>
        </p:nvPicPr>
        <p:blipFill>
          <a:blip r:embed="rId3">
            <a:alphaModFix/>
          </a:blip>
          <a:stretch>
            <a:fillRect/>
          </a:stretch>
        </p:blipFill>
        <p:spPr>
          <a:xfrm>
            <a:off x="7204675" y="2944688"/>
            <a:ext cx="438150" cy="200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Estrategias - Búsqueda A*</a:t>
            </a:r>
            <a:endParaRPr dirty="0"/>
          </a:p>
        </p:txBody>
      </p:sp>
      <p:sp>
        <p:nvSpPr>
          <p:cNvPr id="207" name="Google Shape;207;p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Ejercicio</a:t>
            </a:r>
            <a:endParaRPr sz="1500"/>
          </a:p>
          <a:p>
            <a:pPr marL="0" lvl="0" indent="0" algn="just" rtl="0">
              <a:lnSpc>
                <a:spcPct val="105000"/>
              </a:lnSpc>
              <a:spcBef>
                <a:spcPts val="1200"/>
              </a:spcBef>
              <a:spcAft>
                <a:spcPts val="1200"/>
              </a:spcAft>
              <a:buNone/>
            </a:pPr>
            <a:r>
              <a:rPr lang="es" sz="1500"/>
              <a:t>Realizar búsqueda A*</a:t>
            </a:r>
            <a:endParaRPr sz="1500"/>
          </a:p>
        </p:txBody>
      </p:sp>
      <p:pic>
        <p:nvPicPr>
          <p:cNvPr id="208" name="Google Shape;208;p33"/>
          <p:cNvPicPr preferRelativeResize="0"/>
          <p:nvPr/>
        </p:nvPicPr>
        <p:blipFill>
          <a:blip r:embed="rId3">
            <a:alphaModFix/>
          </a:blip>
          <a:stretch>
            <a:fillRect/>
          </a:stretch>
        </p:blipFill>
        <p:spPr>
          <a:xfrm>
            <a:off x="1357100" y="2037452"/>
            <a:ext cx="6154299" cy="2991375"/>
          </a:xfrm>
          <a:prstGeom prst="rect">
            <a:avLst/>
          </a:prstGeom>
          <a:noFill/>
          <a:ln>
            <a:noFill/>
          </a:ln>
        </p:spPr>
      </p:pic>
      <p:pic>
        <p:nvPicPr>
          <p:cNvPr id="209" name="Google Shape;209;p33"/>
          <p:cNvPicPr preferRelativeResize="0"/>
          <p:nvPr/>
        </p:nvPicPr>
        <p:blipFill>
          <a:blip r:embed="rId4">
            <a:alphaModFix/>
          </a:blip>
          <a:stretch>
            <a:fillRect/>
          </a:stretch>
        </p:blipFill>
        <p:spPr>
          <a:xfrm>
            <a:off x="1118000" y="2835877"/>
            <a:ext cx="239105" cy="16359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 con memoria limitada</a:t>
            </a:r>
            <a:endParaRPr/>
          </a:p>
        </p:txBody>
      </p:sp>
      <p:sp>
        <p:nvSpPr>
          <p:cNvPr id="215" name="Google Shape;215;p3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Teniendo en cuenta la limitante en memoria de la estrategia A*, se han buscado alternativas que reduzcan la cantidad de almacenamiento requerido para encontrar una solución, por lo que se han presentado dos variantes frente a esta estrategia.</a:t>
            </a:r>
            <a:endParaRPr sz="1500"/>
          </a:p>
          <a:p>
            <a:pPr marL="457200" lvl="0" indent="-323850" algn="just" rtl="0">
              <a:lnSpc>
                <a:spcPct val="105000"/>
              </a:lnSpc>
              <a:spcBef>
                <a:spcPts val="1200"/>
              </a:spcBef>
              <a:spcAft>
                <a:spcPts val="0"/>
              </a:spcAft>
              <a:buSzPts val="1500"/>
              <a:buChar char="●"/>
            </a:pPr>
            <a:r>
              <a:rPr lang="es" sz="1500"/>
              <a:t>Búsqueda recursiva primero el mejor - BRPM</a:t>
            </a:r>
            <a:endParaRPr sz="1500"/>
          </a:p>
          <a:p>
            <a:pPr marL="457200" lvl="0" indent="-323850" algn="just" rtl="0">
              <a:lnSpc>
                <a:spcPct val="105000"/>
              </a:lnSpc>
              <a:spcBef>
                <a:spcPts val="0"/>
              </a:spcBef>
              <a:spcAft>
                <a:spcPts val="0"/>
              </a:spcAft>
              <a:buSzPts val="1500"/>
              <a:buChar char="●"/>
            </a:pPr>
            <a:r>
              <a:rPr lang="es" sz="1500"/>
              <a:t>Búsqueda memoria simplificada  – A*MS</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 con memoria limitada</a:t>
            </a:r>
            <a:endParaRPr/>
          </a:p>
        </p:txBody>
      </p:sp>
      <p:sp>
        <p:nvSpPr>
          <p:cNvPr id="221" name="Google Shape;221;p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Búsqueda recursiva primero el mejor - BRPM</a:t>
            </a:r>
            <a:endParaRPr sz="1500" b="1"/>
          </a:p>
          <a:p>
            <a:pPr marL="0" lvl="0" indent="0" algn="just" rtl="0">
              <a:lnSpc>
                <a:spcPct val="105000"/>
              </a:lnSpc>
              <a:spcBef>
                <a:spcPts val="1200"/>
              </a:spcBef>
              <a:spcAft>
                <a:spcPts val="0"/>
              </a:spcAft>
              <a:buNone/>
            </a:pPr>
            <a:r>
              <a:rPr lang="es" sz="1500"/>
              <a:t>Es un algoritmo recursivo que imita la operación de búsqueda primero el mejor, añadiendo como umbral de decisión el valor del mejor camino alternativo al que menor coste genera (segundo mejor camino), que en dado caso de que el nodo expandido supere el valor acumulativo del coste que genera otro camino, se reemplazará el valor del segundo mejor camino o alternativa por este, abriendo así el espacio de búsqueda de estados del problema, permitiendo alcanzar la solución óptima, siempre y cuando la heurística escogida sea admisible. </a:t>
            </a:r>
            <a:endParaRPr sz="1500"/>
          </a:p>
          <a:p>
            <a:pPr marL="0" lvl="0" indent="0" algn="just" rtl="0">
              <a:lnSpc>
                <a:spcPct val="105000"/>
              </a:lnSpc>
              <a:spcBef>
                <a:spcPts val="1200"/>
              </a:spcBef>
              <a:spcAft>
                <a:spcPts val="1200"/>
              </a:spcAft>
              <a:buNone/>
            </a:pPr>
            <a:r>
              <a:rPr lang="es" sz="1500"/>
              <a:t>Este camino alternativo se denota por </a:t>
            </a:r>
            <a:r>
              <a:rPr lang="es" sz="1500" b="1"/>
              <a:t>f-limite</a:t>
            </a:r>
            <a:r>
              <a:rPr lang="es" sz="1500"/>
              <a:t> que representa el valor del mejor camino alternativo en cada iteración de expansión.</a:t>
            </a:r>
            <a:endParaRPr sz="15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 con memoria limitada</a:t>
            </a:r>
            <a:endParaRPr/>
          </a:p>
        </p:txBody>
      </p:sp>
      <p:pic>
        <p:nvPicPr>
          <p:cNvPr id="228" name="Google Shape;228;p36"/>
          <p:cNvPicPr preferRelativeResize="0"/>
          <p:nvPr/>
        </p:nvPicPr>
        <p:blipFill rotWithShape="1">
          <a:blip r:embed="rId3">
            <a:alphaModFix/>
          </a:blip>
          <a:srcRect b="38103"/>
          <a:stretch/>
        </p:blipFill>
        <p:spPr>
          <a:xfrm>
            <a:off x="2211150" y="1478950"/>
            <a:ext cx="4721700" cy="31837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 con memoria limitada</a:t>
            </a:r>
            <a:endParaRPr/>
          </a:p>
        </p:txBody>
      </p:sp>
      <p:pic>
        <p:nvPicPr>
          <p:cNvPr id="235" name="Google Shape;235;p37"/>
          <p:cNvPicPr preferRelativeResize="0"/>
          <p:nvPr/>
        </p:nvPicPr>
        <p:blipFill rotWithShape="1">
          <a:blip r:embed="rId3">
            <a:alphaModFix/>
          </a:blip>
          <a:srcRect t="60906"/>
          <a:stretch/>
        </p:blipFill>
        <p:spPr>
          <a:xfrm>
            <a:off x="2211150" y="2032625"/>
            <a:ext cx="4721700" cy="2010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A* con memoria limitada</a:t>
            </a:r>
            <a:endParaRPr/>
          </a:p>
        </p:txBody>
      </p:sp>
      <p:sp>
        <p:nvSpPr>
          <p:cNvPr id="241" name="Google Shape;241;p3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Características de la estrategia</a:t>
            </a:r>
            <a:endParaRPr sz="1500" b="1"/>
          </a:p>
          <a:p>
            <a:pPr marL="457200" lvl="0" indent="-323850" algn="just" rtl="0">
              <a:lnSpc>
                <a:spcPct val="105000"/>
              </a:lnSpc>
              <a:spcBef>
                <a:spcPts val="1200"/>
              </a:spcBef>
              <a:spcAft>
                <a:spcPts val="0"/>
              </a:spcAft>
              <a:buSzPts val="1500"/>
              <a:buChar char="●"/>
            </a:pPr>
            <a:r>
              <a:rPr lang="es" sz="1500" b="1"/>
              <a:t>Completo</a:t>
            </a:r>
            <a:r>
              <a:rPr lang="es" sz="1500"/>
              <a:t>:  Es completo siempre y cuando la heurística escogida sea admisible.</a:t>
            </a:r>
            <a:endParaRPr sz="1500"/>
          </a:p>
          <a:p>
            <a:pPr marL="457200" lvl="0" indent="-323850" algn="just" rtl="0">
              <a:lnSpc>
                <a:spcPct val="105000"/>
              </a:lnSpc>
              <a:spcBef>
                <a:spcPts val="0"/>
              </a:spcBef>
              <a:spcAft>
                <a:spcPts val="0"/>
              </a:spcAft>
              <a:buSzPts val="1500"/>
              <a:buChar char="●"/>
            </a:pPr>
            <a:r>
              <a:rPr lang="es" sz="1500" b="1"/>
              <a:t>Óptimo</a:t>
            </a:r>
            <a:r>
              <a:rPr lang="es" sz="1500"/>
              <a:t>: Encuentra la solución óptima del problema, siempre y cuando su heurística sea admisible.</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Cuenta con una complejidad temporal de     siendo d la profundidad máxima del espacio de búsqueda.</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Cuenta con una complejidad espacial de     siendo d la profundidad máxima del espacio de búsqueda.</a:t>
            </a:r>
            <a:endParaRPr sz="1500"/>
          </a:p>
          <a:p>
            <a:pPr marL="0" lvl="0" indent="0" algn="just" rtl="0">
              <a:lnSpc>
                <a:spcPct val="105000"/>
              </a:lnSpc>
              <a:spcBef>
                <a:spcPts val="1200"/>
              </a:spcBef>
              <a:spcAft>
                <a:spcPts val="1200"/>
              </a:spcAft>
              <a:buNone/>
            </a:pPr>
            <a:r>
              <a:rPr lang="es" sz="1500"/>
              <a:t>Nota: La complejidad temporal depende de la heurística seleccionada, pero está asociada a la búsqueda de grafos que es de orden exponencial.</a:t>
            </a:r>
            <a:endParaRPr sz="1500"/>
          </a:p>
        </p:txBody>
      </p:sp>
      <p:pic>
        <p:nvPicPr>
          <p:cNvPr id="242" name="Google Shape;242;p38"/>
          <p:cNvPicPr preferRelativeResize="0"/>
          <p:nvPr/>
        </p:nvPicPr>
        <p:blipFill>
          <a:blip r:embed="rId3">
            <a:alphaModFix/>
          </a:blip>
          <a:stretch>
            <a:fillRect/>
          </a:stretch>
        </p:blipFill>
        <p:spPr>
          <a:xfrm>
            <a:off x="7182825" y="2515463"/>
            <a:ext cx="438150" cy="200025"/>
          </a:xfrm>
          <a:prstGeom prst="rect">
            <a:avLst/>
          </a:prstGeom>
          <a:noFill/>
          <a:ln>
            <a:noFill/>
          </a:ln>
        </p:spPr>
      </p:pic>
      <p:pic>
        <p:nvPicPr>
          <p:cNvPr id="243" name="Google Shape;243;p38"/>
          <p:cNvPicPr preferRelativeResize="0"/>
          <p:nvPr/>
        </p:nvPicPr>
        <p:blipFill>
          <a:blip r:embed="rId3">
            <a:alphaModFix/>
          </a:blip>
          <a:stretch>
            <a:fillRect/>
          </a:stretch>
        </p:blipFill>
        <p:spPr>
          <a:xfrm>
            <a:off x="7182825" y="2981138"/>
            <a:ext cx="438150" cy="200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Estrategias - Búsqueda A* con memoria simplificada</a:t>
            </a:r>
            <a:endParaRPr dirty="0"/>
          </a:p>
        </p:txBody>
      </p:sp>
      <p:sp>
        <p:nvSpPr>
          <p:cNvPr id="249" name="Google Shape;249;p3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Búsqueda memoria simplificada  – A*MS</a:t>
            </a:r>
            <a:endParaRPr sz="1500" b="1"/>
          </a:p>
          <a:p>
            <a:pPr marL="0" lvl="0" indent="0" algn="just" rtl="0">
              <a:lnSpc>
                <a:spcPct val="105000"/>
              </a:lnSpc>
              <a:spcBef>
                <a:spcPts val="1200"/>
              </a:spcBef>
              <a:spcAft>
                <a:spcPts val="0"/>
              </a:spcAft>
              <a:buNone/>
            </a:pPr>
            <a:r>
              <a:rPr lang="es" sz="1500"/>
              <a:t>Este algoritmo avanza como A*, solo que cuando la memoria se llena tiene un criterio de decisión para eliminar el peor subárbol e ingresar uno nuevo (</a:t>
            </a:r>
            <a:r>
              <a:rPr lang="es" sz="1500" b="1"/>
              <a:t>f-valor más alto</a:t>
            </a:r>
            <a:r>
              <a:rPr lang="es" sz="1500"/>
              <a:t>), como en BRPM se guarda un valor de decisión que en este caso corresponde al valor del nodo olvidado dado que puede ser consultado más adelante, después de recorrer otros caminos.</a:t>
            </a:r>
            <a:endParaRPr sz="1500"/>
          </a:p>
          <a:p>
            <a:pPr marL="0" lvl="0" indent="0" algn="just" rtl="0">
              <a:lnSpc>
                <a:spcPct val="105000"/>
              </a:lnSpc>
              <a:spcBef>
                <a:spcPts val="1200"/>
              </a:spcBef>
              <a:spcAft>
                <a:spcPts val="1200"/>
              </a:spcAft>
              <a:buNone/>
            </a:pP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Estrategias - Búsqueda A* con memoria simplificada</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0" lvl="0" indent="0" algn="just" rtl="0">
              <a:lnSpc>
                <a:spcPct val="105000"/>
              </a:lnSpc>
              <a:spcBef>
                <a:spcPts val="0"/>
              </a:spcBef>
              <a:spcAft>
                <a:spcPts val="0"/>
              </a:spcAft>
              <a:buNone/>
            </a:pPr>
            <a:r>
              <a:rPr lang="es" sz="1500" b="1"/>
              <a:t>Características de la estrategia</a:t>
            </a:r>
            <a:endParaRPr sz="1500" b="1"/>
          </a:p>
          <a:p>
            <a:pPr marL="457200" lvl="0" indent="-323850" algn="just" rtl="0">
              <a:lnSpc>
                <a:spcPct val="105000"/>
              </a:lnSpc>
              <a:spcBef>
                <a:spcPts val="1200"/>
              </a:spcBef>
              <a:spcAft>
                <a:spcPts val="0"/>
              </a:spcAft>
              <a:buSzPts val="1500"/>
              <a:buChar char="●"/>
            </a:pPr>
            <a:r>
              <a:rPr lang="es" sz="1500" b="1"/>
              <a:t>Completo</a:t>
            </a:r>
            <a:r>
              <a:rPr lang="es" sz="1500"/>
              <a:t>: Es completo si hay alguna solución alcanzable, es decir, si la profundidad del nodo objetivo más superficial, es menor que el tamaño de memoria (expresada en nodos).</a:t>
            </a:r>
            <a:endParaRPr sz="1500"/>
          </a:p>
          <a:p>
            <a:pPr marL="457200" lvl="0" indent="-323850" algn="just" rtl="0">
              <a:lnSpc>
                <a:spcPct val="105000"/>
              </a:lnSpc>
              <a:spcBef>
                <a:spcPts val="0"/>
              </a:spcBef>
              <a:spcAft>
                <a:spcPts val="0"/>
              </a:spcAft>
              <a:buSzPts val="1500"/>
              <a:buChar char="●"/>
            </a:pPr>
            <a:r>
              <a:rPr lang="es" sz="1500" b="1"/>
              <a:t>Óptimo</a:t>
            </a:r>
            <a:r>
              <a:rPr lang="es" sz="1500"/>
              <a:t>: Es óptimo si cualquier solución óptima es alcanzable, si no retorna el mejor camino posible.</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Cuenta con una complejidad espacial de     siendo </a:t>
            </a:r>
            <a:r>
              <a:rPr lang="es" sz="1500" i="1"/>
              <a:t>d</a:t>
            </a:r>
            <a:r>
              <a:rPr lang="es" sz="1500"/>
              <a:t> la profundidad máxima del espacio de búsqueda.</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Depende de la complejidad espacial por lo que tiene un orden exponencial, adicionando las operaciones de eliminación y edición de subárboles.</a:t>
            </a:r>
            <a:endParaRPr sz="1500"/>
          </a:p>
          <a:p>
            <a:pPr marL="0" lvl="0" indent="0" algn="just" rtl="0">
              <a:lnSpc>
                <a:spcPct val="105000"/>
              </a:lnSpc>
              <a:spcBef>
                <a:spcPts val="1200"/>
              </a:spcBef>
              <a:spcAft>
                <a:spcPts val="1200"/>
              </a:spcAft>
              <a:buNone/>
            </a:pPr>
            <a:r>
              <a:rPr lang="es" sz="1500"/>
              <a:t>Nota: Si todos los nodos hoja tienen el mismo </a:t>
            </a:r>
            <a:r>
              <a:rPr lang="es" sz="1500" b="1"/>
              <a:t>f-valor</a:t>
            </a:r>
            <a:r>
              <a:rPr lang="es" sz="1500"/>
              <a:t>,  entonces el algoritmo podría seleccionar el mismo nodo para eliminar y expandir, pero A*MS soluciona este problema expandiendo la mejor hoja más nueva y suprimiendo la peor hoja más vieja.</a:t>
            </a:r>
            <a:endParaRPr sz="1500"/>
          </a:p>
        </p:txBody>
      </p:sp>
      <p:pic>
        <p:nvPicPr>
          <p:cNvPr id="256" name="Google Shape;256;p40"/>
          <p:cNvPicPr preferRelativeResize="0"/>
          <p:nvPr/>
        </p:nvPicPr>
        <p:blipFill>
          <a:blip r:embed="rId3">
            <a:alphaModFix/>
          </a:blip>
          <a:stretch>
            <a:fillRect/>
          </a:stretch>
        </p:blipFill>
        <p:spPr>
          <a:xfrm>
            <a:off x="7153675" y="2681500"/>
            <a:ext cx="438150" cy="200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Algoritmos de búsqueda local y problemas de optimización</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Los algoritmos de búsqueda que hemos visto hasta ahora se diseñan para explorar sistemáticamente espacios de búsqueda. Esta forma sistemática se alcanza manteniendo uno o más caminos en memoria y registrando qué alternativas se han explorado en cada punto a lo largo del camino y cuáles no. Cuando se encuentra un objetivo, el camino a ese objetivo también constituye una solución al problema.</a:t>
            </a:r>
            <a:endParaRPr lang="es" sz="1500" dirty="0"/>
          </a:p>
          <a:p>
            <a:pPr marL="0" lvl="0" indent="0" algn="just" rtl="0">
              <a:lnSpc>
                <a:spcPct val="105000"/>
              </a:lnSpc>
              <a:spcBef>
                <a:spcPts val="0"/>
              </a:spcBef>
              <a:spcAft>
                <a:spcPts val="0"/>
              </a:spcAft>
              <a:buNone/>
            </a:pPr>
            <a:endParaRPr lang="es" sz="1500" dirty="0"/>
          </a:p>
          <a:p>
            <a:pPr marL="0" lvl="0" indent="0" algn="just" rtl="0">
              <a:lnSpc>
                <a:spcPct val="105000"/>
              </a:lnSpc>
              <a:spcBef>
                <a:spcPts val="0"/>
              </a:spcBef>
              <a:spcAft>
                <a:spcPts val="0"/>
              </a:spcAft>
              <a:buNone/>
            </a:pPr>
            <a:r>
              <a:rPr lang="es-ES" sz="1500" dirty="0"/>
              <a:t>En muchos problemas, sin embargo, el camino al objetivo es irrelevante. Por ejemplo, en el problema de las 8-reinas, lo que importa es la configuración final de las reinas, no el orden en las cuales se añaden. Esta clase de problemas incluyen muchas aplicaciones importantes como diseño de circuitos integrados, disposición del suelo de una fábrica, programación del trabajo en tiendas, programación automática, optimización de redes de telecomunicaciones, dirigir un vehículo, y la gestión de carteras.</a:t>
            </a:r>
            <a:endParaRPr sz="1500" dirty="0"/>
          </a:p>
        </p:txBody>
      </p:sp>
    </p:spTree>
    <p:extLst>
      <p:ext uri="{BB962C8B-B14F-4D97-AF65-F5344CB8AC3E}">
        <p14:creationId xmlns:p14="http://schemas.microsoft.com/office/powerpoint/2010/main" val="3634067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Algoritmos de búsqueda local y problemas de optimización</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Si no importa el camino al objetivo, podemos considerar una clase diferente de algoritmos que no se preocupen en absoluto de los caminos. Los algoritmos de búsqueda local funcionan con un solo estado actual (más que múltiples caminos) y generalmente se mueve sólo a los vecinos del estado.</a:t>
            </a:r>
          </a:p>
          <a:p>
            <a:pPr marL="0" lvl="0" indent="0" algn="just" rtl="0">
              <a:lnSpc>
                <a:spcPct val="105000"/>
              </a:lnSpc>
              <a:spcBef>
                <a:spcPts val="0"/>
              </a:spcBef>
              <a:spcAft>
                <a:spcPts val="0"/>
              </a:spcAft>
              <a:buNone/>
            </a:pPr>
            <a:endParaRPr lang="es-ES" sz="1500" dirty="0"/>
          </a:p>
          <a:p>
            <a:pPr marL="0" lvl="0" indent="0" algn="just" rtl="0">
              <a:lnSpc>
                <a:spcPct val="105000"/>
              </a:lnSpc>
              <a:spcBef>
                <a:spcPts val="0"/>
              </a:spcBef>
              <a:spcAft>
                <a:spcPts val="0"/>
              </a:spcAft>
              <a:buNone/>
            </a:pPr>
            <a:r>
              <a:rPr lang="es-ES" sz="1500" dirty="0"/>
              <a:t>Típicamente, los caminos seguidos por la búsqueda no se retienen. Aunque los algoritmos de búsqueda local no son sistemáticos, tienen dos ventajas claves: (1) usan muy poca memoria (por lo general una cantidad constante); y (2) pueden encontrar a menudo soluciones razonables en espacios de estados grandes o infinitos (continuos) para los cuales son inadecuados los algoritmos sistemáticos.</a:t>
            </a:r>
            <a:endParaRPr lang="en-US" sz="1500" dirty="0"/>
          </a:p>
        </p:txBody>
      </p:sp>
    </p:spTree>
    <p:extLst>
      <p:ext uri="{BB962C8B-B14F-4D97-AF65-F5344CB8AC3E}">
        <p14:creationId xmlns:p14="http://schemas.microsoft.com/office/powerpoint/2010/main" val="4069713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Algoritmos de búsqueda local y problemas de optimización</a:t>
            </a:r>
            <a:endParaRPr dirty="0"/>
          </a:p>
        </p:txBody>
      </p:sp>
      <p:pic>
        <p:nvPicPr>
          <p:cNvPr id="5" name="Imagen 4">
            <a:extLst>
              <a:ext uri="{FF2B5EF4-FFF2-40B4-BE49-F238E27FC236}">
                <a16:creationId xmlns:a16="http://schemas.microsoft.com/office/drawing/2014/main" id="{D6100474-00C9-8F10-4473-04F0C740A395}"/>
              </a:ext>
            </a:extLst>
          </p:cNvPr>
          <p:cNvPicPr>
            <a:picLocks noChangeAspect="1"/>
          </p:cNvPicPr>
          <p:nvPr/>
        </p:nvPicPr>
        <p:blipFill>
          <a:blip r:embed="rId3"/>
          <a:stretch>
            <a:fillRect/>
          </a:stretch>
        </p:blipFill>
        <p:spPr>
          <a:xfrm>
            <a:off x="1927700" y="1299113"/>
            <a:ext cx="5288600" cy="3306443"/>
          </a:xfrm>
          <a:prstGeom prst="rect">
            <a:avLst/>
          </a:prstGeom>
        </p:spPr>
      </p:pic>
    </p:spTree>
    <p:extLst>
      <p:ext uri="{BB962C8B-B14F-4D97-AF65-F5344CB8AC3E}">
        <p14:creationId xmlns:p14="http://schemas.microsoft.com/office/powerpoint/2010/main" val="246855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Algoritmos de búsqueda local y problemas de optimización</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Además de encontrar los objetivos, los algoritmos de búsqueda local son útiles para resolver problemas de optimización puros, en los cuales el objetivo es encontrar el mejor estado según una función objetivo. </a:t>
            </a:r>
          </a:p>
          <a:p>
            <a:pPr marL="0" lvl="0" indent="0" algn="just" rtl="0">
              <a:lnSpc>
                <a:spcPct val="105000"/>
              </a:lnSpc>
              <a:spcBef>
                <a:spcPts val="0"/>
              </a:spcBef>
              <a:spcAft>
                <a:spcPts val="0"/>
              </a:spcAft>
              <a:buNone/>
            </a:pPr>
            <a:endParaRPr lang="es-ES" sz="1500" dirty="0"/>
          </a:p>
          <a:p>
            <a:pPr marL="0" lvl="0" indent="0" algn="just" rtl="0">
              <a:lnSpc>
                <a:spcPct val="105000"/>
              </a:lnSpc>
              <a:spcBef>
                <a:spcPts val="0"/>
              </a:spcBef>
              <a:spcAft>
                <a:spcPts val="0"/>
              </a:spcAft>
              <a:buNone/>
            </a:pPr>
            <a:r>
              <a:rPr lang="es-ES" sz="1500" dirty="0"/>
              <a:t>Muchos problemas de optimización no encajan en el modelo «estándar» de búsqueda. Por ejemplo, la naturaleza proporciona una función objetivo (idoneidad o salud reproductiva) que la evolución Darwiniana intenta optimizar, pero no hay ningún «test objetivo» y ningún «coste</a:t>
            </a:r>
          </a:p>
          <a:p>
            <a:pPr marL="0" lvl="0" indent="0" algn="just" rtl="0">
              <a:lnSpc>
                <a:spcPct val="105000"/>
              </a:lnSpc>
              <a:spcBef>
                <a:spcPts val="0"/>
              </a:spcBef>
              <a:spcAft>
                <a:spcPts val="0"/>
              </a:spcAft>
              <a:buNone/>
            </a:pPr>
            <a:r>
              <a:rPr lang="es-ES" sz="1500" dirty="0"/>
              <a:t>de camino» para este problema.</a:t>
            </a:r>
            <a:endParaRPr lang="en-US" sz="1500" dirty="0"/>
          </a:p>
        </p:txBody>
      </p:sp>
    </p:spTree>
    <p:extLst>
      <p:ext uri="{BB962C8B-B14F-4D97-AF65-F5344CB8AC3E}">
        <p14:creationId xmlns:p14="http://schemas.microsoft.com/office/powerpoint/2010/main" val="1336271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Algoritmos de búsqueda local y problemas de optimización</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Algunos ejemplos son:</a:t>
            </a:r>
          </a:p>
          <a:p>
            <a:pPr marL="0" lvl="0" indent="0" algn="just" rtl="0">
              <a:lnSpc>
                <a:spcPct val="105000"/>
              </a:lnSpc>
              <a:spcBef>
                <a:spcPts val="0"/>
              </a:spcBef>
              <a:spcAft>
                <a:spcPts val="0"/>
              </a:spcAft>
              <a:buNone/>
            </a:pPr>
            <a:endParaRPr lang="es-ES" sz="1500" dirty="0"/>
          </a:p>
          <a:p>
            <a:pPr marL="285750" indent="-285750" algn="just">
              <a:lnSpc>
                <a:spcPct val="105000"/>
              </a:lnSpc>
            </a:pPr>
            <a:r>
              <a:rPr lang="es-ES" sz="1500" dirty="0"/>
              <a:t>Búsqueda de ascensión de colinas.</a:t>
            </a:r>
          </a:p>
          <a:p>
            <a:pPr marL="742950" lvl="1" indent="-285750" algn="just">
              <a:lnSpc>
                <a:spcPct val="105000"/>
              </a:lnSpc>
            </a:pPr>
            <a:r>
              <a:rPr lang="es-ES" sz="1100" dirty="0"/>
              <a:t>Algoritmo genético: búsqueda de ascensión de colinas estocástica en la que se mantiene una población grande de estados. Los estados nuevos se generan por mutación y por cruce, combinando pares de estados de la población.</a:t>
            </a:r>
          </a:p>
          <a:p>
            <a:pPr marL="285750" indent="-285750" algn="just">
              <a:lnSpc>
                <a:spcPct val="105000"/>
              </a:lnSpc>
            </a:pPr>
            <a:r>
              <a:rPr lang="es-ES" sz="1500" dirty="0"/>
              <a:t>Búsqueda de temple simulado.</a:t>
            </a:r>
          </a:p>
          <a:p>
            <a:pPr marL="285750" indent="-285750" algn="just">
              <a:lnSpc>
                <a:spcPct val="105000"/>
              </a:lnSpc>
            </a:pPr>
            <a:r>
              <a:rPr lang="es-ES" sz="1500" dirty="0"/>
              <a:t>Búsqueda por haz local.</a:t>
            </a:r>
          </a:p>
          <a:p>
            <a:pPr marL="285750" indent="-285750" algn="just">
              <a:lnSpc>
                <a:spcPct val="105000"/>
              </a:lnSpc>
            </a:pPr>
            <a:endParaRPr lang="es-ES" sz="1500" dirty="0"/>
          </a:p>
          <a:p>
            <a:pPr marL="0" indent="0" algn="just">
              <a:lnSpc>
                <a:spcPct val="105000"/>
              </a:lnSpc>
              <a:buNone/>
            </a:pPr>
            <a:r>
              <a:rPr lang="es-ES" sz="1500" dirty="0"/>
              <a:t>También encontramos búsqueda local en espacios continuos, agentes de búsqueda en línea.</a:t>
            </a:r>
            <a:endParaRPr lang="en-US" sz="1500" dirty="0"/>
          </a:p>
        </p:txBody>
      </p:sp>
    </p:spTree>
    <p:extLst>
      <p:ext uri="{BB962C8B-B14F-4D97-AF65-F5344CB8AC3E}">
        <p14:creationId xmlns:p14="http://schemas.microsoft.com/office/powerpoint/2010/main" val="689534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Ejercicio</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Desarrolle el siguiente ejercicio con la técnica "Búsqueda primero el mejor" (voraz):</a:t>
            </a:r>
            <a:endParaRPr lang="en-US" sz="1500" dirty="0"/>
          </a:p>
        </p:txBody>
      </p:sp>
      <p:pic>
        <p:nvPicPr>
          <p:cNvPr id="2" name="Imagen 1" descr="C:\Users\camil\AppData\Local\Microsoft\Windows\INetCache\Content.MSO\1C136BF3.tmp">
            <a:extLst>
              <a:ext uri="{FF2B5EF4-FFF2-40B4-BE49-F238E27FC236}">
                <a16:creationId xmlns:a16="http://schemas.microsoft.com/office/drawing/2014/main" id="{BAAB032C-4AC8-27B8-AD17-5C030ADB18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9118" y="2027602"/>
            <a:ext cx="2730835" cy="2205452"/>
          </a:xfrm>
          <a:prstGeom prst="rect">
            <a:avLst/>
          </a:prstGeom>
          <a:noFill/>
          <a:ln>
            <a:noFill/>
          </a:ln>
        </p:spPr>
      </p:pic>
      <p:pic>
        <p:nvPicPr>
          <p:cNvPr id="4" name="Imagen 3">
            <a:extLst>
              <a:ext uri="{FF2B5EF4-FFF2-40B4-BE49-F238E27FC236}">
                <a16:creationId xmlns:a16="http://schemas.microsoft.com/office/drawing/2014/main" id="{032C56B6-4CBA-C087-4C60-871843560158}"/>
              </a:ext>
            </a:extLst>
          </p:cNvPr>
          <p:cNvPicPr>
            <a:picLocks noChangeAspect="1"/>
          </p:cNvPicPr>
          <p:nvPr/>
        </p:nvPicPr>
        <p:blipFill>
          <a:blip r:embed="rId4"/>
          <a:stretch>
            <a:fillRect/>
          </a:stretch>
        </p:blipFill>
        <p:spPr>
          <a:xfrm>
            <a:off x="5101087" y="2084652"/>
            <a:ext cx="2940079" cy="1666045"/>
          </a:xfrm>
          <a:prstGeom prst="rect">
            <a:avLst/>
          </a:prstGeom>
        </p:spPr>
      </p:pic>
    </p:spTree>
    <p:extLst>
      <p:ext uri="{BB962C8B-B14F-4D97-AF65-F5344CB8AC3E}">
        <p14:creationId xmlns:p14="http://schemas.microsoft.com/office/powerpoint/2010/main" val="2853472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68DA8393-D4B1-E170-3DA1-22B67B17E7EC}"/>
            </a:ext>
          </a:extLst>
        </p:cNvPr>
        <p:cNvGrpSpPr/>
        <p:nvPr/>
      </p:nvGrpSpPr>
      <p:grpSpPr>
        <a:xfrm>
          <a:off x="0" y="0"/>
          <a:ext cx="0" cy="0"/>
          <a:chOff x="0" y="0"/>
          <a:chExt cx="0" cy="0"/>
        </a:xfrm>
      </p:grpSpPr>
      <p:sp>
        <p:nvSpPr>
          <p:cNvPr id="254" name="Google Shape;254;p40">
            <a:extLst>
              <a:ext uri="{FF2B5EF4-FFF2-40B4-BE49-F238E27FC236}">
                <a16:creationId xmlns:a16="http://schemas.microsoft.com/office/drawing/2014/main" id="{C93A759E-A425-21F2-3073-604B4AD5C4FE}"/>
              </a:ext>
            </a:extLst>
          </p:cNvPr>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Ejercicio</a:t>
            </a:r>
            <a:endParaRPr lang="en-US" dirty="0"/>
          </a:p>
        </p:txBody>
      </p:sp>
      <p:sp>
        <p:nvSpPr>
          <p:cNvPr id="255" name="Google Shape;255;p40">
            <a:extLst>
              <a:ext uri="{FF2B5EF4-FFF2-40B4-BE49-F238E27FC236}">
                <a16:creationId xmlns:a16="http://schemas.microsoft.com/office/drawing/2014/main" id="{6F32497C-6D5D-2254-BFD8-5FB72970603E}"/>
              </a:ext>
            </a:extLst>
          </p:cNvPr>
          <p:cNvSpPr txBox="1">
            <a:spLocks noGrp="1"/>
          </p:cNvSpPr>
          <p:nvPr>
            <p:ph type="body" idx="1"/>
          </p:nvPr>
        </p:nvSpPr>
        <p:spPr>
          <a:xfrm>
            <a:off x="311700" y="1266325"/>
            <a:ext cx="3337022" cy="3302700"/>
          </a:xfrm>
          <a:prstGeom prst="rect">
            <a:avLst/>
          </a:prstGeom>
        </p:spPr>
        <p:txBody>
          <a:bodyPr spcFirstLastPara="1" wrap="square" lIns="91425" tIns="91425" rIns="91425" bIns="91425" anchor="t" anchorCtr="0">
            <a:normAutofit fontScale="92500"/>
          </a:bodyPr>
          <a:lstStyle/>
          <a:p>
            <a:pPr marL="0" lvl="0" indent="0" algn="just" rtl="0">
              <a:lnSpc>
                <a:spcPct val="105000"/>
              </a:lnSpc>
              <a:spcBef>
                <a:spcPts val="0"/>
              </a:spcBef>
              <a:spcAft>
                <a:spcPts val="0"/>
              </a:spcAft>
              <a:buNone/>
            </a:pPr>
            <a:r>
              <a:rPr lang="es-ES" sz="1500" dirty="0"/>
              <a:t>Encontrar una solución, para ir de Linz a Ulm usando la técnica primero el mejor “voraz”, a partir del siguiente mapa de Alemania, en dónde deberá tener en cuenta el conocimiento previo de la distancia en línea recta de todas las ciudades hacía Ulm como heurística, partiendo de la premisa que aquella que sea menor deberá ser considerada antes que las anteriores: </a:t>
            </a:r>
          </a:p>
          <a:p>
            <a:pPr marL="0" lvl="0" indent="0" algn="just" rtl="0">
              <a:lnSpc>
                <a:spcPct val="105000"/>
              </a:lnSpc>
              <a:spcBef>
                <a:spcPts val="0"/>
              </a:spcBef>
              <a:spcAft>
                <a:spcPts val="0"/>
              </a:spcAft>
              <a:buNone/>
            </a:pPr>
            <a:r>
              <a:rPr lang="es-ES" sz="1050" dirty="0"/>
              <a:t>Para la validación de la prueba debe mostrar el desarrollo de la solución paso a paso, en el que se evidencie el conocimiento necesario para resolver este tipo de ejercicios. </a:t>
            </a:r>
            <a:endParaRPr lang="en-US" sz="1050" dirty="0"/>
          </a:p>
        </p:txBody>
      </p:sp>
      <p:pic>
        <p:nvPicPr>
          <p:cNvPr id="3" name="Imagen 2">
            <a:extLst>
              <a:ext uri="{FF2B5EF4-FFF2-40B4-BE49-F238E27FC236}">
                <a16:creationId xmlns:a16="http://schemas.microsoft.com/office/drawing/2014/main" id="{0B314246-2EFD-5499-F5C2-99F93FAFDB11}"/>
              </a:ext>
            </a:extLst>
          </p:cNvPr>
          <p:cNvPicPr>
            <a:picLocks noChangeAspect="1"/>
          </p:cNvPicPr>
          <p:nvPr/>
        </p:nvPicPr>
        <p:blipFill rotWithShape="1">
          <a:blip r:embed="rId3"/>
          <a:srcRect t="8334" b="3271"/>
          <a:stretch/>
        </p:blipFill>
        <p:spPr>
          <a:xfrm>
            <a:off x="3722196" y="1266325"/>
            <a:ext cx="5329524" cy="2744977"/>
          </a:xfrm>
          <a:prstGeom prst="rect">
            <a:avLst/>
          </a:prstGeom>
        </p:spPr>
      </p:pic>
    </p:spTree>
    <p:extLst>
      <p:ext uri="{BB962C8B-B14F-4D97-AF65-F5344CB8AC3E}">
        <p14:creationId xmlns:p14="http://schemas.microsoft.com/office/powerpoint/2010/main" val="4005061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Ejercicio</a:t>
            </a:r>
            <a:endParaRPr dirty="0"/>
          </a:p>
        </p:txBody>
      </p:sp>
      <p:sp>
        <p:nvSpPr>
          <p:cNvPr id="255" name="Google Shape;255;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ES" sz="1500" dirty="0"/>
              <a:t>Encontrar la solución óptima, para ir de Linz a Ulm usando la técnica de búsqueda A*, a partir del siguiente mapa de Alemania, en dónde deberá tener en cuenta el conocimiento previo de la distancia en línea recta de todas las ciudades hacía Ulm como heurística, partiendo de la premisa que aquella que sea menor deberá ser considerada antes que las anteriores: </a:t>
            </a:r>
          </a:p>
          <a:p>
            <a:pPr marL="0" lvl="0" indent="0" algn="just" rtl="0">
              <a:lnSpc>
                <a:spcPct val="105000"/>
              </a:lnSpc>
              <a:spcBef>
                <a:spcPts val="0"/>
              </a:spcBef>
              <a:spcAft>
                <a:spcPts val="0"/>
              </a:spcAft>
              <a:buNone/>
            </a:pPr>
            <a:r>
              <a:rPr lang="es-ES" sz="1050" dirty="0"/>
              <a:t>Para la validación de la prueba debe mostrar el desarrollo de la solución paso a paso, en el que se evidencie el conocimiento necesario para resolver este tipo de ejercicios. </a:t>
            </a:r>
            <a:endParaRPr lang="en-US" sz="1050" dirty="0"/>
          </a:p>
        </p:txBody>
      </p:sp>
      <p:pic>
        <p:nvPicPr>
          <p:cNvPr id="3" name="Imagen 2">
            <a:extLst>
              <a:ext uri="{FF2B5EF4-FFF2-40B4-BE49-F238E27FC236}">
                <a16:creationId xmlns:a16="http://schemas.microsoft.com/office/drawing/2014/main" id="{DD155B65-A45C-B2EE-E70B-CBB35DC394D0}"/>
              </a:ext>
            </a:extLst>
          </p:cNvPr>
          <p:cNvPicPr>
            <a:picLocks noChangeAspect="1"/>
          </p:cNvPicPr>
          <p:nvPr/>
        </p:nvPicPr>
        <p:blipFill rotWithShape="1">
          <a:blip r:embed="rId3"/>
          <a:srcRect t="8334" b="3271"/>
          <a:stretch/>
        </p:blipFill>
        <p:spPr>
          <a:xfrm>
            <a:off x="2226543" y="2727440"/>
            <a:ext cx="4690913" cy="2416060"/>
          </a:xfrm>
          <a:prstGeom prst="rect">
            <a:avLst/>
          </a:prstGeom>
        </p:spPr>
      </p:pic>
    </p:spTree>
    <p:extLst>
      <p:ext uri="{BB962C8B-B14F-4D97-AF65-F5344CB8AC3E}">
        <p14:creationId xmlns:p14="http://schemas.microsoft.com/office/powerpoint/2010/main" val="631503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1FCC5D0E-A0D6-ADF4-1042-C191D0BF543E}"/>
            </a:ext>
          </a:extLst>
        </p:cNvPr>
        <p:cNvGrpSpPr/>
        <p:nvPr/>
      </p:nvGrpSpPr>
      <p:grpSpPr>
        <a:xfrm>
          <a:off x="0" y="0"/>
          <a:ext cx="0" cy="0"/>
          <a:chOff x="0" y="0"/>
          <a:chExt cx="0" cy="0"/>
        </a:xfrm>
      </p:grpSpPr>
      <p:sp>
        <p:nvSpPr>
          <p:cNvPr id="254" name="Google Shape;254;p40">
            <a:extLst>
              <a:ext uri="{FF2B5EF4-FFF2-40B4-BE49-F238E27FC236}">
                <a16:creationId xmlns:a16="http://schemas.microsoft.com/office/drawing/2014/main" id="{A10DF9F2-3990-666A-067E-B1CDA9D643A4}"/>
              </a:ext>
            </a:extLst>
          </p:cNvPr>
          <p:cNvSpPr txBox="1">
            <a:spLocks noGrp="1"/>
          </p:cNvSpPr>
          <p:nvPr>
            <p:ph type="title"/>
          </p:nvPr>
        </p:nvSpPr>
        <p:spPr>
          <a:xfrm>
            <a:off x="311699" y="445025"/>
            <a:ext cx="8740021"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Ejercicio</a:t>
            </a:r>
            <a:endParaRPr dirty="0"/>
          </a:p>
        </p:txBody>
      </p:sp>
      <p:sp>
        <p:nvSpPr>
          <p:cNvPr id="255" name="Google Shape;255;p40">
            <a:extLst>
              <a:ext uri="{FF2B5EF4-FFF2-40B4-BE49-F238E27FC236}">
                <a16:creationId xmlns:a16="http://schemas.microsoft.com/office/drawing/2014/main" id="{0B472475-2E60-08AD-A813-9049896CD16F}"/>
              </a:ext>
            </a:extLst>
          </p:cNvPr>
          <p:cNvSpPr txBox="1">
            <a:spLocks noGrp="1"/>
          </p:cNvSpPr>
          <p:nvPr>
            <p:ph type="body" idx="1"/>
          </p:nvPr>
        </p:nvSpPr>
        <p:spPr>
          <a:xfrm>
            <a:off x="311700" y="1266325"/>
            <a:ext cx="3337022" cy="3302700"/>
          </a:xfrm>
          <a:prstGeom prst="rect">
            <a:avLst/>
          </a:prstGeom>
        </p:spPr>
        <p:txBody>
          <a:bodyPr spcFirstLastPara="1" wrap="square" lIns="91425" tIns="91425" rIns="91425" bIns="91425" anchor="t" anchorCtr="0">
            <a:normAutofit fontScale="92500"/>
          </a:bodyPr>
          <a:lstStyle/>
          <a:p>
            <a:pPr marL="0" lvl="0" indent="0" algn="just" rtl="0">
              <a:lnSpc>
                <a:spcPct val="105000"/>
              </a:lnSpc>
              <a:spcBef>
                <a:spcPts val="0"/>
              </a:spcBef>
              <a:spcAft>
                <a:spcPts val="0"/>
              </a:spcAft>
              <a:buNone/>
            </a:pPr>
            <a:r>
              <a:rPr lang="es-ES" sz="1500" dirty="0"/>
              <a:t>Encontrar la solución óptima, para ir de Linz a Ulm usando la técnica de búsqueda A*, a partir del siguiente mapa de Alemania, en dónde deberá tener en cuenta el conocimiento previo de la distancia en línea recta de todas las ciudades hacía Ulm como heurística, partiendo de la premisa que aquella que sea menor deberá ser considerada antes que las anteriores: </a:t>
            </a:r>
          </a:p>
          <a:p>
            <a:pPr marL="0" lvl="0" indent="0" algn="just" rtl="0">
              <a:lnSpc>
                <a:spcPct val="105000"/>
              </a:lnSpc>
              <a:spcBef>
                <a:spcPts val="0"/>
              </a:spcBef>
              <a:spcAft>
                <a:spcPts val="0"/>
              </a:spcAft>
              <a:buNone/>
            </a:pPr>
            <a:r>
              <a:rPr lang="es-ES" sz="1050" dirty="0"/>
              <a:t>Para la validación de la prueba debe mostrar el desarrollo de la solución paso a paso, en el que se evidencie el conocimiento necesario para resolver este tipo de ejercicios. </a:t>
            </a:r>
            <a:endParaRPr lang="en-US" sz="1050" dirty="0"/>
          </a:p>
        </p:txBody>
      </p:sp>
      <p:pic>
        <p:nvPicPr>
          <p:cNvPr id="3" name="Imagen 2">
            <a:extLst>
              <a:ext uri="{FF2B5EF4-FFF2-40B4-BE49-F238E27FC236}">
                <a16:creationId xmlns:a16="http://schemas.microsoft.com/office/drawing/2014/main" id="{0EC80734-8741-5C38-FAC2-11837CA3C3F8}"/>
              </a:ext>
            </a:extLst>
          </p:cNvPr>
          <p:cNvPicPr>
            <a:picLocks noChangeAspect="1"/>
          </p:cNvPicPr>
          <p:nvPr/>
        </p:nvPicPr>
        <p:blipFill rotWithShape="1">
          <a:blip r:embed="rId3"/>
          <a:srcRect t="8334" b="3271"/>
          <a:stretch/>
        </p:blipFill>
        <p:spPr>
          <a:xfrm>
            <a:off x="3722196" y="1266325"/>
            <a:ext cx="5329524" cy="2744977"/>
          </a:xfrm>
          <a:prstGeom prst="rect">
            <a:avLst/>
          </a:prstGeom>
        </p:spPr>
      </p:pic>
    </p:spTree>
    <p:extLst>
      <p:ext uri="{BB962C8B-B14F-4D97-AF65-F5344CB8AC3E}">
        <p14:creationId xmlns:p14="http://schemas.microsoft.com/office/powerpoint/2010/main" val="3252179305"/>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2783</Words>
  <Application>Microsoft Office PowerPoint</Application>
  <PresentationFormat>On-screen Show (16:9)</PresentationFormat>
  <Paragraphs>157</Paragraphs>
  <Slides>38</Slides>
  <Notes>38</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Georgia</vt:lpstr>
      <vt:lpstr>Arial</vt:lpstr>
      <vt:lpstr>Open Sans</vt:lpstr>
      <vt:lpstr>PT Sans Narrow</vt:lpstr>
      <vt:lpstr>Tropic</vt:lpstr>
      <vt:lpstr>Búsqueda de soluciones informada</vt:lpstr>
      <vt:lpstr>Agenda</vt:lpstr>
      <vt:lpstr>Generalidades</vt:lpstr>
      <vt:lpstr>Generalidades</vt:lpstr>
      <vt:lpstr>Generalidades - búsqueda informada vs no informada</vt:lpstr>
      <vt:lpstr>Estrategias</vt:lpstr>
      <vt:lpstr>Estrategias - Búsqueda voraz</vt:lpstr>
      <vt:lpstr>Estrategias - Búsqueda voraz</vt:lpstr>
      <vt:lpstr>Estrategias - Búsqueda voraz</vt:lpstr>
      <vt:lpstr>Estrategias - Búsqueda voraz</vt:lpstr>
      <vt:lpstr>Estrategias - Búsqueda voraz</vt:lpstr>
      <vt:lpstr>Estrategias - Búsqueda voraz</vt:lpstr>
      <vt:lpstr>Estrategias - Búsqueda voraz</vt:lpstr>
      <vt:lpstr>Estrategias - Búsqueda voraz</vt:lpstr>
      <vt:lpstr>Estrategias - Búsqueda voraz</vt:lpstr>
      <vt:lpstr>Estrategias - Búsqueda A*</vt:lpstr>
      <vt:lpstr>Estrategias - Búsqueda A*</vt:lpstr>
      <vt:lpstr>Estrategias - Búsqueda A*</vt:lpstr>
      <vt:lpstr>Estrategias - Búsqueda A*</vt:lpstr>
      <vt:lpstr>Estrategias - Búsqueda A*</vt:lpstr>
      <vt:lpstr>Estrategias - Búsqueda A*</vt:lpstr>
      <vt:lpstr>Estrategias - Búsqueda A*</vt:lpstr>
      <vt:lpstr>Estrategias - Búsqueda A* con memoria limitada</vt:lpstr>
      <vt:lpstr>Estrategias - Búsqueda A* con memoria limitada</vt:lpstr>
      <vt:lpstr>Estrategias - Búsqueda A* con memoria limitada</vt:lpstr>
      <vt:lpstr>Estrategias - Búsqueda A* con memoria limitada</vt:lpstr>
      <vt:lpstr>Estrategias - Búsqueda A* con memoria limitada</vt:lpstr>
      <vt:lpstr>Estrategias - Búsqueda A* con memoria simplificada</vt:lpstr>
      <vt:lpstr>Estrategias - Búsqueda A* con memoria simplificada</vt:lpstr>
      <vt:lpstr>Algoritmos de búsqueda local y problemas de optimización</vt:lpstr>
      <vt:lpstr>Algoritmos de búsqueda local y problemas de optimización</vt:lpstr>
      <vt:lpstr>Algoritmos de búsqueda local y problemas de optimización</vt:lpstr>
      <vt:lpstr>Algoritmos de búsqueda local y problemas de optimización</vt:lpstr>
      <vt:lpstr>Algoritmos de búsqueda local y problemas de optimización</vt:lpstr>
      <vt:lpstr>Ejercicio</vt:lpstr>
      <vt:lpstr>Ejercicio</vt:lpstr>
      <vt:lpstr>Ejercicio</vt:lpstr>
      <vt:lpstr>Ejercicio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Búsqueda de soluciones informada</dc:title>
  <cp:lastModifiedBy>Norbey Muñoz</cp:lastModifiedBy>
  <cp:revision>1</cp:revision>
  <dcterms:modified xsi:type="dcterms:W3CDTF">2025-05-07T13:13:41Z</dcterms:modified>
</cp:coreProperties>
</file>