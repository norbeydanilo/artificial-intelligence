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embeddedFontLst>
    <p:embeddedFont>
      <p:font typeface="Gill Sans" panose="020B0604020202020204" charset="0"/>
      <p:regular r:id="rId39"/>
      <p:bold r:id="rId40"/>
    </p:embeddedFont>
    <p:embeddedFont>
      <p:font typeface="Lato" panose="020F0502020204030203"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q2LT9eMJW7V9+X7PgG+gYFvIvG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782DD1-EAE4-4032-9844-E9DF984B63B5}">
  <a:tblStyle styleId="{33782DD1-EAE4-4032-9844-E9DF984B63B5}"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E7E8"/>
          </a:solidFill>
        </a:fill>
      </a:tcStyle>
    </a:wholeTbl>
    <a:band1H>
      <a:tcTxStyle b="off" i="off"/>
      <a:tcStyle>
        <a:tcBdr/>
        <a:fill>
          <a:solidFill>
            <a:srgbClr val="E5CBCD"/>
          </a:solidFill>
        </a:fill>
      </a:tcStyle>
    </a:band1H>
    <a:band2H>
      <a:tcTxStyle b="off" i="off"/>
      <a:tcStyle>
        <a:tcBdr/>
      </a:tcStyle>
    </a:band2H>
    <a:band1V>
      <a:tcTxStyle b="off" i="off"/>
      <a:tcStyle>
        <a:tcBdr/>
        <a:fill>
          <a:solidFill>
            <a:srgbClr val="E5CBCD"/>
          </a:solidFill>
        </a:fill>
      </a:tcStyle>
    </a:band1V>
    <a:band2V>
      <a:tcTxStyle b="off" i="off"/>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68" autoAdjust="0"/>
  </p:normalViewPr>
  <p:slideViewPr>
    <p:cSldViewPr snapToGrid="0">
      <p:cViewPr varScale="1">
        <p:scale>
          <a:sx n="68" d="100"/>
          <a:sy n="68" d="100"/>
        </p:scale>
        <p:origin x="1234" y="72"/>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7A9D10B8-45EB-48FB-89DA-3B884F36BEE7}"/>
    <pc:docChg chg="modSld">
      <pc:chgData name="Norbey Muñoz" userId="b7e811e8891ccd42" providerId="LiveId" clId="{7A9D10B8-45EB-48FB-89DA-3B884F36BEE7}" dt="2026-06-02T16:18:29.497" v="1" actId="729"/>
      <pc:docMkLst>
        <pc:docMk/>
      </pc:docMkLst>
      <pc:sldChg chg="mod modShow">
        <pc:chgData name="Norbey Muñoz" userId="b7e811e8891ccd42" providerId="LiveId" clId="{7A9D10B8-45EB-48FB-89DA-3B884F36BEE7}" dt="2026-06-02T16:18:26.615" v="0" actId="729"/>
        <pc:sldMkLst>
          <pc:docMk/>
          <pc:sldMk cId="0" sldId="259"/>
        </pc:sldMkLst>
      </pc:sldChg>
      <pc:sldChg chg="mod modShow">
        <pc:chgData name="Norbey Muñoz" userId="b7e811e8891ccd42" providerId="LiveId" clId="{7A9D10B8-45EB-48FB-89DA-3B884F36BEE7}" dt="2026-06-02T16:18:29.497" v="1" actId="729"/>
        <pc:sldMkLst>
          <pc:docMk/>
          <pc:sldMk cId="0"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800"/>
              </a:spcAft>
              <a:buClr>
                <a:schemeClr val="dk1"/>
              </a:buClr>
              <a:buSzPts val="1100"/>
              <a:buFont typeface="Arial"/>
              <a:buNone/>
            </a:pPr>
            <a:r>
              <a:rPr lang="es-MX" sz="1200">
                <a:solidFill>
                  <a:schemeClr val="dk1"/>
                </a:solidFill>
                <a:latin typeface="Lato"/>
                <a:ea typeface="Lato"/>
                <a:cs typeface="Lato"/>
                <a:sym typeface="Lato"/>
              </a:rPr>
              <a:t>En general, un agente tomará una decisión en un momento dado dependiendo de la secuencia completa de percepciones hasta ese instante. Si se puede especificar qué decisión tomará un agente para cada una de las posibles secuencias de percepciones, entonces se habrá explicado más o menos todo lo que se puede decir de un agente</a:t>
            </a:r>
            <a:endParaRPr/>
          </a:p>
        </p:txBody>
      </p:sp>
      <p:sp>
        <p:nvSpPr>
          <p:cNvPr id="123" name="Google Shape;12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400"/>
              </a:spcBef>
              <a:spcAft>
                <a:spcPts val="1400"/>
              </a:spcAft>
              <a:buSzPts val="1100"/>
              <a:buNone/>
            </a:pPr>
            <a:r>
              <a:rPr lang="es-MX" sz="1200">
                <a:solidFill>
                  <a:schemeClr val="dk1"/>
                </a:solidFill>
                <a:latin typeface="Lato"/>
                <a:ea typeface="Lato"/>
                <a:cs typeface="Lato"/>
                <a:sym typeface="Lato"/>
              </a:rPr>
              <a:t>Cabe resaltar que no todas las arquitecturas tienen sensores y actuadores asociados directamente al agente. Por ejemplo: En un sistema de diagnóstico de enfermedades cardiovasculares a partir de un histórico de electrocardiogramas los sensores serían aquellas máquinas que permiten adquirir los datos del electrocardiograma y los actuadores estarían asociados a una decisión (tiene o no tiene una enfermedad). Por lo tanto, la arquitectura siempre se basa en el alcance del agente, la naturaleza del mismo y el entorno en el que será ejecutado</a:t>
            </a:r>
            <a:endParaRPr/>
          </a:p>
        </p:txBody>
      </p:sp>
      <p:sp>
        <p:nvSpPr>
          <p:cNvPr id="136" name="Google Shape;13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1400"/>
              </a:spcBef>
              <a:spcAft>
                <a:spcPts val="1400"/>
              </a:spcAft>
              <a:buClr>
                <a:schemeClr val="dk1"/>
              </a:buClr>
              <a:buSzPts val="1100"/>
              <a:buFont typeface="Arial"/>
              <a:buNone/>
            </a:pPr>
            <a:r>
              <a:rPr lang="es-MX" sz="1200">
                <a:solidFill>
                  <a:schemeClr val="dk1"/>
                </a:solidFill>
                <a:latin typeface="Lato"/>
                <a:ea typeface="Lato"/>
                <a:cs typeface="Lato"/>
                <a:sym typeface="Lato"/>
              </a:rPr>
              <a:t>Los programas de agente siempre tomarán como entrada la percepción actual disponible de su entorno, no todo el historial de percepciones que este ha llevado a cabo para posteriormente proporcionar una respuesta.</a:t>
            </a:r>
            <a:endParaRPr sz="1200">
              <a:solidFill>
                <a:schemeClr val="dk1"/>
              </a:solidFill>
              <a:latin typeface="Lato"/>
              <a:ea typeface="Lato"/>
              <a:cs typeface="Lato"/>
              <a:sym typeface="Lato"/>
            </a:endParaRPr>
          </a:p>
        </p:txBody>
      </p:sp>
      <p:sp>
        <p:nvSpPr>
          <p:cNvPr id="142" name="Google Shape;14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800"/>
              </a:spcAft>
              <a:buSzPts val="1100"/>
              <a:buNone/>
            </a:pPr>
            <a:r>
              <a:rPr lang="es-MX" sz="1200">
                <a:solidFill>
                  <a:schemeClr val="dk1"/>
                </a:solidFill>
                <a:latin typeface="Lato"/>
                <a:ea typeface="Lato"/>
                <a:cs typeface="Lato"/>
                <a:sym typeface="Lato"/>
              </a:rPr>
              <a:t>Es importante diferenciar estas dos ideas. La función del agente es una descripción matemática abstracta; el programa del agente es una implementación completa, que se ejecuta sobre la arquitectura del agente.</a:t>
            </a:r>
            <a:endParaRPr/>
          </a:p>
        </p:txBody>
      </p:sp>
      <p:sp>
        <p:nvSpPr>
          <p:cNvPr id="155" name="Google Shape;1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800"/>
              </a:spcAft>
              <a:buSzPts val="1100"/>
              <a:buNone/>
            </a:pPr>
            <a:r>
              <a:rPr lang="es-MX" sz="1200">
                <a:solidFill>
                  <a:schemeClr val="dk1"/>
                </a:solidFill>
                <a:latin typeface="Lato"/>
                <a:ea typeface="Lato"/>
                <a:cs typeface="Lato"/>
                <a:sym typeface="Lato"/>
              </a:rPr>
              <a:t>Una función muy simple para el agente vendría dada por: si la cuadrícula en la que se encuentra está sucia, entonces deberá aspirar, de otra forma deberá cambiar de cuadrícula. Se aprecia que se pueden definir varios agentes para el mundo de la aspiradora simplemente rellenando la columna de la derecha de formas distintas como se presenta en la siguiente tabla. </a:t>
            </a:r>
            <a:r>
              <a:rPr lang="es-MX" sz="1200" b="1">
                <a:solidFill>
                  <a:schemeClr val="dk1"/>
                </a:solidFill>
                <a:latin typeface="Lato"/>
                <a:ea typeface="Lato"/>
                <a:cs typeface="Lato"/>
                <a:sym typeface="Lato"/>
              </a:rPr>
              <a:t>OBJETIVO CLARO y NO PUEDA ALTERARSE TAN FÁCIL SU BC</a:t>
            </a:r>
            <a:endParaRPr b="1"/>
          </a:p>
        </p:txBody>
      </p:sp>
      <p:sp>
        <p:nvSpPr>
          <p:cNvPr id="163" name="Google Shape;1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800"/>
              </a:spcAft>
              <a:buClr>
                <a:schemeClr val="dk1"/>
              </a:buClr>
              <a:buSzPts val="1100"/>
              <a:buFont typeface="Arial"/>
              <a:buNone/>
            </a:pPr>
            <a:r>
              <a:rPr lang="es-MX" sz="1200">
                <a:solidFill>
                  <a:schemeClr val="dk1"/>
                </a:solidFill>
                <a:latin typeface="Lato"/>
                <a:ea typeface="Lato"/>
                <a:cs typeface="Lato"/>
                <a:sym typeface="Lato"/>
              </a:rPr>
              <a:t>Es decir, que un agente racional teniendo en cuenta las funciones asignadas deberá cumplir con éxito las medidas de rendimiento sin permitir que factores de percepción alteren el conocimiento ya almacenado.</a:t>
            </a:r>
            <a:endParaRPr/>
          </a:p>
        </p:txBody>
      </p:sp>
      <p:sp>
        <p:nvSpPr>
          <p:cNvPr id="178" name="Google Shape;178;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f1f6cdd78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800"/>
              </a:spcAft>
              <a:buClr>
                <a:schemeClr val="dk1"/>
              </a:buClr>
              <a:buSzPts val="1100"/>
              <a:buFont typeface="Arial"/>
              <a:buNone/>
            </a:pPr>
            <a:r>
              <a:rPr lang="es-MX" sz="1200">
                <a:solidFill>
                  <a:schemeClr val="dk1"/>
                </a:solidFill>
                <a:latin typeface="Lato"/>
                <a:ea typeface="Lato"/>
                <a:cs typeface="Lato"/>
                <a:sym typeface="Lato"/>
              </a:rPr>
              <a:t>Un agente inteligente debe ser </a:t>
            </a:r>
            <a:r>
              <a:rPr lang="es-MX" sz="1200" b="1">
                <a:solidFill>
                  <a:schemeClr val="dk1"/>
                </a:solidFill>
                <a:latin typeface="Lato"/>
                <a:ea typeface="Lato"/>
                <a:cs typeface="Lato"/>
                <a:sym typeface="Lato"/>
              </a:rPr>
              <a:t>autónomo </a:t>
            </a:r>
            <a:r>
              <a:rPr lang="es-MX" sz="1200">
                <a:solidFill>
                  <a:schemeClr val="dk1"/>
                </a:solidFill>
                <a:latin typeface="Lato"/>
                <a:ea typeface="Lato"/>
                <a:cs typeface="Lato"/>
                <a:sym typeface="Lato"/>
              </a:rPr>
              <a:t>y debe saber cómo compensar el conocimiento incompleto o parcial. Por ejemplo, el agente aspirador que aprenda a prever dónde y cuándo aparecerá suciedad adicional lo hará mejor que otro que no aprenda</a:t>
            </a:r>
            <a:endParaRPr/>
          </a:p>
        </p:txBody>
      </p:sp>
      <p:sp>
        <p:nvSpPr>
          <p:cNvPr id="187" name="Google Shape;187;g1f1f6cdd78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800"/>
              </a:spcAft>
              <a:buClr>
                <a:schemeClr val="dk1"/>
              </a:buClr>
              <a:buSzPts val="1100"/>
              <a:buFont typeface="Arial"/>
              <a:buNone/>
            </a:pPr>
            <a:r>
              <a:rPr lang="es-MX" sz="1200" i="1">
                <a:solidFill>
                  <a:schemeClr val="dk1"/>
                </a:solidFill>
                <a:latin typeface="Lato"/>
                <a:ea typeface="Lato"/>
                <a:cs typeface="Lato"/>
                <a:sym typeface="Lato"/>
              </a:rPr>
              <a:t>Primero, ¿cuál es el entorno de trabajo en el que el taxista automático aspira a conducir? Dentro de las cualidades deseables que debería tener se incluyen el que llegue al destino correcto; que minimice el consumo de combustible; que minimice el tiempo de viaje y/o coste; que minimice el número de infracciones de tráfico y de molestias a otros conductores; que maximice la seguridad, la comodidad del pasajero y el beneficio</a:t>
            </a:r>
            <a:r>
              <a:rPr lang="es-MX" sz="1200">
                <a:solidFill>
                  <a:schemeClr val="dk1"/>
                </a:solidFill>
                <a:latin typeface="Lato"/>
                <a:ea typeface="Lato"/>
                <a:cs typeface="Lato"/>
                <a:sym typeface="Lato"/>
              </a:rPr>
              <a:t>” (2004)</a:t>
            </a:r>
            <a:endParaRPr/>
          </a:p>
        </p:txBody>
      </p:sp>
      <p:sp>
        <p:nvSpPr>
          <p:cNvPr id="193" name="Google Shape;19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75f463207b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9" name="Google Shape;199;g275f463207b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75f463207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g275f463207b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 name="Google Shape;22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1" name="Google Shape;24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75f463207b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g275f463207b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75f463207b_0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g275f463207b_0_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6" name="Google Shape;266;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75f463207b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3" name="Google Shape;273;g275f463207b_0_3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75f463207b_0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9" name="Google Shape;279;g275f463207b_0_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75f463207b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5" name="Google Shape;285;g275f463207b_0_5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2" name="Google Shape;292;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8" name="Google Shape;29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75f463207b_0_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5" name="Google Shape;305;g275f463207b_0_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75f463207b_0_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1" name="Google Shape;311;g275f463207b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7" name="Google Shape;317;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275f463207b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g275f463207b_0_9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5f463207b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0" name="Google Shape;330;g275f463207b_0_10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4"/>
        <p:cNvGrpSpPr/>
        <p:nvPr/>
      </p:nvGrpSpPr>
      <p:grpSpPr>
        <a:xfrm>
          <a:off x="0" y="0"/>
          <a:ext cx="0" cy="0"/>
          <a:chOff x="0" y="0"/>
          <a:chExt cx="0" cy="0"/>
        </a:xfrm>
      </p:grpSpPr>
      <p:sp>
        <p:nvSpPr>
          <p:cNvPr id="15" name="Google Shape;15;p26"/>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6600"/>
              <a:buFont typeface="Gill Sans"/>
              <a:buNone/>
              <a:defRPr sz="6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6"/>
          <p:cNvSpPr txBox="1">
            <a:spLocks noGrp="1"/>
          </p:cNvSpPr>
          <p:nvPr>
            <p:ph type="subTitle" idx="1"/>
          </p:nvPr>
        </p:nvSpPr>
        <p:spPr>
          <a:xfrm>
            <a:off x="2417780" y="3531204"/>
            <a:ext cx="8637072" cy="977621"/>
          </a:xfrm>
          <a:prstGeom prst="rect">
            <a:avLst/>
          </a:prstGeom>
          <a:noFill/>
          <a:ln>
            <a:noFill/>
          </a:ln>
        </p:spPr>
        <p:txBody>
          <a:bodyPr spcFirstLastPara="1" wrap="square" lIns="91425" tIns="91425" rIns="91425" bIns="91425" anchor="t" anchorCtr="0">
            <a:normAutofit/>
          </a:bodyPr>
          <a:lstStyle>
            <a:lvl1pPr lvl="0" algn="l">
              <a:lnSpc>
                <a:spcPct val="120000"/>
              </a:lnSpc>
              <a:spcBef>
                <a:spcPts val="1000"/>
              </a:spcBef>
              <a:spcAft>
                <a:spcPts val="0"/>
              </a:spcAft>
              <a:buSzPts val="1800"/>
              <a:buNone/>
              <a:defRPr sz="1800" b="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a:endParaRPr/>
          </a:p>
        </p:txBody>
      </p:sp>
      <p:sp>
        <p:nvSpPr>
          <p:cNvPr id="17" name="Google Shape;17;p26"/>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6"/>
          <p:cNvSpPr txBox="1">
            <a:spLocks noGrp="1"/>
          </p:cNvSpPr>
          <p:nvPr>
            <p:ph type="ftr" idx="11"/>
          </p:nvPr>
        </p:nvSpPr>
        <p:spPr>
          <a:xfrm>
            <a:off x="2416500" y="329307"/>
            <a:ext cx="4973915"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6"/>
          <p:cNvSpPr txBox="1">
            <a:spLocks noGrp="1"/>
          </p:cNvSpPr>
          <p:nvPr>
            <p:ph type="sldNum" idx="12"/>
          </p:nvPr>
        </p:nvSpPr>
        <p:spPr>
          <a:xfrm>
            <a:off x="1437664"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20" name="Google Shape;20;p26"/>
          <p:cNvCxnSpPr/>
          <p:nvPr/>
        </p:nvCxnSpPr>
        <p:spPr>
          <a:xfrm>
            <a:off x="2417780" y="3528542"/>
            <a:ext cx="863707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24" name="Google Shape;24;p27"/>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27" name="Google Shape;27;p27"/>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8"/>
        <p:cNvGrpSpPr/>
        <p:nvPr/>
      </p:nvGrpSpPr>
      <p:grpSpPr>
        <a:xfrm>
          <a:off x="0" y="0"/>
          <a:ext cx="0" cy="0"/>
          <a:chOff x="0" y="0"/>
          <a:chExt cx="0" cy="0"/>
        </a:xfrm>
      </p:grpSpPr>
      <p:sp>
        <p:nvSpPr>
          <p:cNvPr id="29" name="Google Shape;29;p28"/>
          <p:cNvSpPr txBox="1">
            <a:spLocks noGrp="1"/>
          </p:cNvSpPr>
          <p:nvPr>
            <p:ph type="title"/>
          </p:nvPr>
        </p:nvSpPr>
        <p:spPr>
          <a:xfrm>
            <a:off x="1454239" y="1756130"/>
            <a:ext cx="8643154" cy="18879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Gill Sans"/>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8"/>
          <p:cNvSpPr txBox="1">
            <a:spLocks noGrp="1"/>
          </p:cNvSpPr>
          <p:nvPr>
            <p:ph type="body" idx="1"/>
          </p:nvPr>
        </p:nvSpPr>
        <p:spPr>
          <a:xfrm>
            <a:off x="1454239" y="3806195"/>
            <a:ext cx="8630446" cy="1012929"/>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1000"/>
              </a:spcBef>
              <a:spcAft>
                <a:spcPts val="0"/>
              </a:spcAft>
              <a:buSzPts val="1800"/>
              <a:buNone/>
              <a:defRPr sz="1800">
                <a:solidFill>
                  <a:schemeClr val="dk1"/>
                </a:solidFill>
              </a:defRPr>
            </a:lvl1pPr>
            <a:lvl2pPr marL="914400" lvl="1" indent="-228600" algn="l">
              <a:lnSpc>
                <a:spcPct val="120000"/>
              </a:lnSpc>
              <a:spcBef>
                <a:spcPts val="500"/>
              </a:spcBef>
              <a:spcAft>
                <a:spcPts val="0"/>
              </a:spcAft>
              <a:buSzPts val="1800"/>
              <a:buNone/>
              <a:defRPr sz="1800">
                <a:solidFill>
                  <a:srgbClr val="888888"/>
                </a:solidFill>
              </a:defRPr>
            </a:lvl2pPr>
            <a:lvl3pPr marL="1371600" lvl="2" indent="-228600" algn="l">
              <a:lnSpc>
                <a:spcPct val="120000"/>
              </a:lnSpc>
              <a:spcBef>
                <a:spcPts val="500"/>
              </a:spcBef>
              <a:spcAft>
                <a:spcPts val="0"/>
              </a:spcAft>
              <a:buSzPts val="1800"/>
              <a:buNone/>
              <a:defRPr sz="1800">
                <a:solidFill>
                  <a:srgbClr val="888888"/>
                </a:solidFill>
              </a:defRPr>
            </a:lvl3pPr>
            <a:lvl4pPr marL="1828800" lvl="3" indent="-228600" algn="l">
              <a:lnSpc>
                <a:spcPct val="120000"/>
              </a:lnSpc>
              <a:spcBef>
                <a:spcPts val="500"/>
              </a:spcBef>
              <a:spcAft>
                <a:spcPts val="0"/>
              </a:spcAft>
              <a:buSzPts val="1600"/>
              <a:buNone/>
              <a:defRPr sz="1600">
                <a:solidFill>
                  <a:srgbClr val="888888"/>
                </a:solidFill>
              </a:defRPr>
            </a:lvl4pPr>
            <a:lvl5pPr marL="2286000" lvl="4" indent="-228600" algn="l">
              <a:lnSpc>
                <a:spcPct val="120000"/>
              </a:lnSpc>
              <a:spcBef>
                <a:spcPts val="500"/>
              </a:spcBef>
              <a:spcAft>
                <a:spcPts val="0"/>
              </a:spcAft>
              <a:buSzPts val="1600"/>
              <a:buNone/>
              <a:defRPr sz="1600">
                <a:solidFill>
                  <a:srgbClr val="888888"/>
                </a:solidFill>
              </a:defRPr>
            </a:lvl5pPr>
            <a:lvl6pPr marL="2743200" lvl="5" indent="-228600" algn="l">
              <a:lnSpc>
                <a:spcPct val="120000"/>
              </a:lnSpc>
              <a:spcBef>
                <a:spcPts val="500"/>
              </a:spcBef>
              <a:spcAft>
                <a:spcPts val="0"/>
              </a:spcAft>
              <a:buSzPts val="1600"/>
              <a:buNone/>
              <a:defRPr sz="1600">
                <a:solidFill>
                  <a:srgbClr val="888888"/>
                </a:solidFill>
              </a:defRPr>
            </a:lvl6pPr>
            <a:lvl7pPr marL="3200400" lvl="6" indent="-228600" algn="l">
              <a:lnSpc>
                <a:spcPct val="120000"/>
              </a:lnSpc>
              <a:spcBef>
                <a:spcPts val="500"/>
              </a:spcBef>
              <a:spcAft>
                <a:spcPts val="0"/>
              </a:spcAft>
              <a:buSzPts val="1600"/>
              <a:buNone/>
              <a:defRPr sz="1600">
                <a:solidFill>
                  <a:srgbClr val="888888"/>
                </a:solidFill>
              </a:defRPr>
            </a:lvl7pPr>
            <a:lvl8pPr marL="3657600" lvl="7" indent="-228600" algn="l">
              <a:lnSpc>
                <a:spcPct val="120000"/>
              </a:lnSpc>
              <a:spcBef>
                <a:spcPts val="500"/>
              </a:spcBef>
              <a:spcAft>
                <a:spcPts val="0"/>
              </a:spcAft>
              <a:buSzPts val="1600"/>
              <a:buNone/>
              <a:defRPr sz="1600">
                <a:solidFill>
                  <a:srgbClr val="888888"/>
                </a:solidFill>
              </a:defRPr>
            </a:lvl8pPr>
            <a:lvl9pPr marL="4114800" lvl="8" indent="-228600" algn="l">
              <a:lnSpc>
                <a:spcPct val="120000"/>
              </a:lnSpc>
              <a:spcBef>
                <a:spcPts val="500"/>
              </a:spcBef>
              <a:spcAft>
                <a:spcPts val="0"/>
              </a:spcAft>
              <a:buSzPts val="1600"/>
              <a:buNone/>
              <a:defRPr sz="1600">
                <a:solidFill>
                  <a:srgbClr val="888888"/>
                </a:solidFill>
              </a:defRPr>
            </a:lvl9pPr>
          </a:lstStyle>
          <a:p>
            <a:endParaRPr/>
          </a:p>
        </p:txBody>
      </p:sp>
      <p:sp>
        <p:nvSpPr>
          <p:cNvPr id="31" name="Google Shape;31;p28"/>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8"/>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8"/>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34" name="Google Shape;34;p28"/>
          <p:cNvCxnSpPr/>
          <p:nvPr/>
        </p:nvCxnSpPr>
        <p:spPr>
          <a:xfrm>
            <a:off x="1454239" y="3804985"/>
            <a:ext cx="863044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5"/>
        <p:cNvGrpSpPr/>
        <p:nvPr/>
      </p:nvGrpSpPr>
      <p:grpSpPr>
        <a:xfrm>
          <a:off x="0" y="0"/>
          <a:ext cx="0" cy="0"/>
          <a:chOff x="0" y="0"/>
          <a:chExt cx="0" cy="0"/>
        </a:xfrm>
      </p:grpSpPr>
      <p:sp>
        <p:nvSpPr>
          <p:cNvPr id="36" name="Google Shape;36;p29"/>
          <p:cNvSpPr txBox="1">
            <a:spLocks noGrp="1"/>
          </p:cNvSpPr>
          <p:nvPr>
            <p:ph type="title"/>
          </p:nvPr>
        </p:nvSpPr>
        <p:spPr>
          <a:xfrm>
            <a:off x="1449217" y="804889"/>
            <a:ext cx="9605635" cy="105930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body" idx="1"/>
          </p:nvPr>
        </p:nvSpPr>
        <p:spPr>
          <a:xfrm>
            <a:off x="1447331" y="2010878"/>
            <a:ext cx="4645152" cy="3448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38" name="Google Shape;38;p29"/>
          <p:cNvSpPr txBox="1">
            <a:spLocks noGrp="1"/>
          </p:cNvSpPr>
          <p:nvPr>
            <p:ph type="body" idx="2"/>
          </p:nvPr>
        </p:nvSpPr>
        <p:spPr>
          <a:xfrm>
            <a:off x="6413771" y="2017343"/>
            <a:ext cx="4645152" cy="344152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39" name="Google Shape;39;p29"/>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9"/>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9"/>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42" name="Google Shape;42;p29"/>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3"/>
        <p:cNvGrpSpPr/>
        <p:nvPr/>
      </p:nvGrpSpPr>
      <p:grpSpPr>
        <a:xfrm>
          <a:off x="0" y="0"/>
          <a:ext cx="0" cy="0"/>
          <a:chOff x="0" y="0"/>
          <a:chExt cx="0" cy="0"/>
        </a:xfrm>
      </p:grpSpPr>
      <p:sp>
        <p:nvSpPr>
          <p:cNvPr id="44" name="Google Shape;44;p30"/>
          <p:cNvSpPr txBox="1">
            <a:spLocks noGrp="1"/>
          </p:cNvSpPr>
          <p:nvPr>
            <p:ph type="title"/>
          </p:nvPr>
        </p:nvSpPr>
        <p:spPr>
          <a:xfrm>
            <a:off x="1447191" y="804163"/>
            <a:ext cx="9607661" cy="105631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0"/>
          <p:cNvSpPr txBox="1">
            <a:spLocks noGrp="1"/>
          </p:cNvSpPr>
          <p:nvPr>
            <p:ph type="body" idx="1"/>
          </p:nvPr>
        </p:nvSpPr>
        <p:spPr>
          <a:xfrm>
            <a:off x="1447191" y="2019549"/>
            <a:ext cx="4645152" cy="80194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46" name="Google Shape;46;p30"/>
          <p:cNvSpPr txBox="1">
            <a:spLocks noGrp="1"/>
          </p:cNvSpPr>
          <p:nvPr>
            <p:ph type="body" idx="2"/>
          </p:nvPr>
        </p:nvSpPr>
        <p:spPr>
          <a:xfrm>
            <a:off x="1447191" y="2824269"/>
            <a:ext cx="4645152" cy="264445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7" name="Google Shape;47;p30"/>
          <p:cNvSpPr txBox="1">
            <a:spLocks noGrp="1"/>
          </p:cNvSpPr>
          <p:nvPr>
            <p:ph type="body" idx="3"/>
          </p:nvPr>
        </p:nvSpPr>
        <p:spPr>
          <a:xfrm>
            <a:off x="6412362" y="2023003"/>
            <a:ext cx="4645152" cy="80223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48" name="Google Shape;48;p30"/>
          <p:cNvSpPr txBox="1">
            <a:spLocks noGrp="1"/>
          </p:cNvSpPr>
          <p:nvPr>
            <p:ph type="body" idx="4"/>
          </p:nvPr>
        </p:nvSpPr>
        <p:spPr>
          <a:xfrm>
            <a:off x="6412362" y="2821491"/>
            <a:ext cx="4645152" cy="263737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9" name="Google Shape;49;p30"/>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0"/>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0"/>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52" name="Google Shape;52;p30"/>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3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1"/>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1"/>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1"/>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58" name="Google Shape;58;p31"/>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9"/>
        <p:cNvGrpSpPr/>
        <p:nvPr/>
      </p:nvGrpSpPr>
      <p:grpSpPr>
        <a:xfrm>
          <a:off x="0" y="0"/>
          <a:ext cx="0" cy="0"/>
          <a:chOff x="0" y="0"/>
          <a:chExt cx="0" cy="0"/>
        </a:xfrm>
      </p:grpSpPr>
      <p:sp>
        <p:nvSpPr>
          <p:cNvPr id="60" name="Google Shape;60;p32"/>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2"/>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2"/>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33"/>
          <p:cNvSpPr txBox="1">
            <a:spLocks noGrp="1"/>
          </p:cNvSpPr>
          <p:nvPr>
            <p:ph type="title"/>
          </p:nvPr>
        </p:nvSpPr>
        <p:spPr>
          <a:xfrm>
            <a:off x="1444671" y="798973"/>
            <a:ext cx="3273099" cy="22471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Gill Sans"/>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3"/>
          <p:cNvSpPr txBox="1">
            <a:spLocks noGrp="1"/>
          </p:cNvSpPr>
          <p:nvPr>
            <p:ph type="body" idx="1"/>
          </p:nvPr>
        </p:nvSpPr>
        <p:spPr>
          <a:xfrm>
            <a:off x="5043714" y="798974"/>
            <a:ext cx="6012470" cy="4658826"/>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66" name="Google Shape;66;p33"/>
          <p:cNvSpPr txBox="1">
            <a:spLocks noGrp="1"/>
          </p:cNvSpPr>
          <p:nvPr>
            <p:ph type="body" idx="2"/>
          </p:nvPr>
        </p:nvSpPr>
        <p:spPr>
          <a:xfrm>
            <a:off x="1444671" y="3205491"/>
            <a:ext cx="3275013" cy="2248181"/>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67" name="Google Shape;67;p33"/>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3"/>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3"/>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70" name="Google Shape;70;p33"/>
          <p:cNvCxnSpPr/>
          <p:nvPr/>
        </p:nvCxnSpPr>
        <p:spPr>
          <a:xfrm>
            <a:off x="1448280" y="3205491"/>
            <a:ext cx="326949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1"/>
        <p:cNvGrpSpPr/>
        <p:nvPr/>
      </p:nvGrpSpPr>
      <p:grpSpPr>
        <a:xfrm>
          <a:off x="0" y="0"/>
          <a:ext cx="0" cy="0"/>
          <a:chOff x="0" y="0"/>
          <a:chExt cx="0" cy="0"/>
        </a:xfrm>
      </p:grpSpPr>
      <p:grpSp>
        <p:nvGrpSpPr>
          <p:cNvPr id="72" name="Google Shape;72;p34"/>
          <p:cNvGrpSpPr/>
          <p:nvPr/>
        </p:nvGrpSpPr>
        <p:grpSpPr>
          <a:xfrm>
            <a:off x="7477387" y="482170"/>
            <a:ext cx="4074533" cy="5149101"/>
            <a:chOff x="7477387" y="482170"/>
            <a:chExt cx="4074533" cy="5149101"/>
          </a:xfrm>
        </p:grpSpPr>
        <p:sp>
          <p:nvSpPr>
            <p:cNvPr id="73" name="Google Shape;73;p34"/>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33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34"/>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5" name="Google Shape;75;p34"/>
          <p:cNvSpPr txBox="1">
            <a:spLocks noGrp="1"/>
          </p:cNvSpPr>
          <p:nvPr>
            <p:ph type="title"/>
          </p:nvPr>
        </p:nvSpPr>
        <p:spPr>
          <a:xfrm>
            <a:off x="1451206" y="1129513"/>
            <a:ext cx="5532328" cy="18305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4"/>
          <p:cNvSpPr>
            <a:spLocks noGrp="1"/>
          </p:cNvSpPr>
          <p:nvPr>
            <p:ph type="pic" idx="2"/>
          </p:nvPr>
        </p:nvSpPr>
        <p:spPr>
          <a:xfrm>
            <a:off x="8124389" y="1122542"/>
            <a:ext cx="2791171" cy="3866327"/>
          </a:xfrm>
          <a:prstGeom prst="rect">
            <a:avLst/>
          </a:prstGeom>
          <a:solidFill>
            <a:srgbClr val="D8D8D8"/>
          </a:solidFill>
          <a:ln>
            <a:noFill/>
          </a:ln>
        </p:spPr>
      </p:sp>
      <p:sp>
        <p:nvSpPr>
          <p:cNvPr id="77" name="Google Shape;77;p34"/>
          <p:cNvSpPr txBox="1">
            <a:spLocks noGrp="1"/>
          </p:cNvSpPr>
          <p:nvPr>
            <p:ph type="body" idx="1"/>
          </p:nvPr>
        </p:nvSpPr>
        <p:spPr>
          <a:xfrm>
            <a:off x="1450329" y="3145992"/>
            <a:ext cx="5524404" cy="20037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800"/>
              <a:buNone/>
              <a:defRPr sz="18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78" name="Google Shape;78;p34"/>
          <p:cNvSpPr txBox="1">
            <a:spLocks noGrp="1"/>
          </p:cNvSpPr>
          <p:nvPr>
            <p:ph type="dt" idx="10"/>
          </p:nvPr>
        </p:nvSpPr>
        <p:spPr>
          <a:xfrm>
            <a:off x="1447382" y="5469856"/>
            <a:ext cx="5527351" cy="32012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4"/>
          <p:cNvSpPr txBox="1">
            <a:spLocks noGrp="1"/>
          </p:cNvSpPr>
          <p:nvPr>
            <p:ph type="ftr" idx="11"/>
          </p:nvPr>
        </p:nvSpPr>
        <p:spPr>
          <a:xfrm>
            <a:off x="1447382" y="318640"/>
            <a:ext cx="5541004" cy="3209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4"/>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81" name="Google Shape;81;p34"/>
          <p:cNvCxnSpPr/>
          <p:nvPr/>
        </p:nvCxnSpPr>
        <p:spPr>
          <a:xfrm>
            <a:off x="1447382" y="3143605"/>
            <a:ext cx="552735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3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5"/>
          <p:cNvSpPr txBox="1">
            <a:spLocks noGrp="1"/>
          </p:cNvSpPr>
          <p:nvPr>
            <p:ph type="body" idx="1"/>
          </p:nvPr>
        </p:nvSpPr>
        <p:spPr>
          <a:xfrm rot="5400000">
            <a:off x="4527910" y="-1060599"/>
            <a:ext cx="3450613" cy="960327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85" name="Google Shape;85;p35"/>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5"/>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88" name="Google Shape;88;p35"/>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36"/>
          <p:cNvSpPr txBox="1">
            <a:spLocks noGrp="1"/>
          </p:cNvSpPr>
          <p:nvPr>
            <p:ph type="title"/>
          </p:nvPr>
        </p:nvSpPr>
        <p:spPr>
          <a:xfrm rot="5400000">
            <a:off x="7917038" y="2321047"/>
            <a:ext cx="4659889" cy="161574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Gill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6"/>
          <p:cNvSpPr txBox="1">
            <a:spLocks noGrp="1"/>
          </p:cNvSpPr>
          <p:nvPr>
            <p:ph type="body" idx="1"/>
          </p:nvPr>
        </p:nvSpPr>
        <p:spPr>
          <a:xfrm rot="5400000">
            <a:off x="3029143" y="-785498"/>
            <a:ext cx="4659889" cy="782883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92" name="Google Shape;92;p36"/>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6"/>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6"/>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95" name="Google Shape;95;p36"/>
          <p:cNvCxnSpPr/>
          <p:nvPr/>
        </p:nvCxnSpPr>
        <p:spPr>
          <a:xfrm>
            <a:off x="9439111" y="798973"/>
            <a:ext cx="0" cy="4659889"/>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25"/>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7;p25"/>
          <p:cNvPicPr preferRelativeResize="0"/>
          <p:nvPr/>
        </p:nvPicPr>
        <p:blipFill rotWithShape="1">
          <a:blip r:embed="rId13">
            <a:alphaModFix/>
          </a:blip>
          <a:srcRect t="1538" b="-1538"/>
          <a:stretch/>
        </p:blipFill>
        <p:spPr>
          <a:xfrm>
            <a:off x="0" y="6126480"/>
            <a:ext cx="12192000" cy="742950"/>
          </a:xfrm>
          <a:prstGeom prst="rect">
            <a:avLst/>
          </a:prstGeom>
          <a:noFill/>
          <a:ln>
            <a:noFill/>
          </a:ln>
        </p:spPr>
      </p:pic>
      <p:sp>
        <p:nvSpPr>
          <p:cNvPr id="8" name="Google Shape;8;p2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3200"/>
              <a:buFont typeface="Gill Sans"/>
              <a:buNone/>
              <a:defRPr sz="32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25"/>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0" name="Google Shape;10;p25"/>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rgbClr val="888888"/>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1" name="Google Shape;11;p25"/>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888888"/>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2" name="Google Shape;12;p2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2800"/>
              <a:buFont typeface="Arial"/>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MX"/>
              <a:t>‹Nº›</a:t>
            </a:fld>
            <a:endParaRPr/>
          </a:p>
        </p:txBody>
      </p:sp>
      <p:cxnSp>
        <p:nvCxnSpPr>
          <p:cNvPr id="13" name="Google Shape;13;p25"/>
          <p:cNvCxnSpPr/>
          <p:nvPr/>
        </p:nvCxnSpPr>
        <p:spPr>
          <a:xfrm>
            <a:off x="0" y="6128413"/>
            <a:ext cx="12192000" cy="0"/>
          </a:xfrm>
          <a:prstGeom prst="straightConnector1">
            <a:avLst/>
          </a:prstGeom>
          <a:noFill/>
          <a:ln w="12700" cap="flat" cmpd="sng">
            <a:solidFill>
              <a:srgbClr val="000001">
                <a:alpha val="20000"/>
              </a:srgbClr>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2417779" y="802298"/>
            <a:ext cx="8637073" cy="2541431"/>
          </a:xfrm>
          <a:prstGeom prst="rect">
            <a:avLst/>
          </a:prstGeom>
          <a:noFill/>
          <a:ln>
            <a:noFill/>
          </a:ln>
        </p:spPr>
        <p:txBody>
          <a:bodyPr spcFirstLastPara="1" wrap="square" lIns="91425" tIns="45700" rIns="91425" bIns="0" anchor="b" anchorCtr="0">
            <a:normAutofit/>
          </a:bodyPr>
          <a:lstStyle/>
          <a:p>
            <a:pPr marL="0" lvl="0" indent="0" algn="l" rtl="0">
              <a:lnSpc>
                <a:spcPct val="90000"/>
              </a:lnSpc>
              <a:spcBef>
                <a:spcPts val="0"/>
              </a:spcBef>
              <a:spcAft>
                <a:spcPts val="0"/>
              </a:spcAft>
              <a:buClr>
                <a:schemeClr val="dk1"/>
              </a:buClr>
              <a:buSzPts val="6600"/>
              <a:buFont typeface="Gill Sans"/>
              <a:buNone/>
            </a:pPr>
            <a:r>
              <a:rPr lang="es-MX"/>
              <a:t>AGENTE INTELIGENTE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DEFINICIÓN</a:t>
            </a:r>
            <a:endParaRPr/>
          </a:p>
        </p:txBody>
      </p:sp>
      <p:pic>
        <p:nvPicPr>
          <p:cNvPr id="107" name="Google Shape;107;p2"/>
          <p:cNvPicPr preferRelativeResize="0">
            <a:picLocks noGrp="1"/>
          </p:cNvPicPr>
          <p:nvPr>
            <p:ph type="body" idx="1"/>
          </p:nvPr>
        </p:nvPicPr>
        <p:blipFill rotWithShape="1">
          <a:blip r:embed="rId3">
            <a:alphaModFix/>
          </a:blip>
          <a:srcRect l="30671" t="29034" r="21872" b="25626"/>
          <a:stretch/>
        </p:blipFill>
        <p:spPr>
          <a:xfrm>
            <a:off x="3165930" y="2736769"/>
            <a:ext cx="6174571" cy="3316712"/>
          </a:xfrm>
          <a:prstGeom prst="rect">
            <a:avLst/>
          </a:prstGeom>
          <a:noFill/>
          <a:ln>
            <a:noFill/>
          </a:ln>
        </p:spPr>
      </p:pic>
      <p:sp>
        <p:nvSpPr>
          <p:cNvPr id="108" name="Google Shape;108;p2"/>
          <p:cNvSpPr txBox="1"/>
          <p:nvPr/>
        </p:nvSpPr>
        <p:spPr>
          <a:xfrm>
            <a:off x="1451579" y="1953588"/>
            <a:ext cx="9603275" cy="3450613"/>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chemeClr val="accent1"/>
              </a:buClr>
              <a:buSzPts val="2000"/>
              <a:buFont typeface="Arial"/>
              <a:buNone/>
            </a:pPr>
            <a:r>
              <a:rPr lang="es-MX" sz="2000" b="0" i="0" u="none" strike="noStrike" cap="none">
                <a:solidFill>
                  <a:schemeClr val="dk1"/>
                </a:solidFill>
                <a:latin typeface="Gill Sans"/>
                <a:ea typeface="Gill Sans"/>
                <a:cs typeface="Gill Sans"/>
                <a:sym typeface="Gill Sans"/>
              </a:rPr>
              <a:t>Cualquier cosa que cuenta con la capacidad de percibir su entorno por medio de sensores e interactuar en este medio utilizando actuadores, para cumplir un objetivo.</a:t>
            </a:r>
            <a:endParaRPr sz="2000" b="0" i="0" u="none" strike="noStrike" cap="none">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CARACTERÍSTICAS DE AGENTE INTELIGENTE</a:t>
            </a:r>
            <a:endParaRPr/>
          </a:p>
        </p:txBody>
      </p:sp>
      <p:sp>
        <p:nvSpPr>
          <p:cNvPr id="114" name="Google Shape;114;p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s-MX"/>
              <a:t>Es autónomo.</a:t>
            </a:r>
            <a:endParaRPr/>
          </a:p>
          <a:p>
            <a:pPr marL="228600" lvl="0" indent="-228600" algn="l" rtl="0">
              <a:lnSpc>
                <a:spcPct val="120000"/>
              </a:lnSpc>
              <a:spcBef>
                <a:spcPts val="1000"/>
              </a:spcBef>
              <a:spcAft>
                <a:spcPts val="0"/>
              </a:spcAft>
              <a:buSzPts val="2000"/>
              <a:buChar char="•"/>
            </a:pPr>
            <a:r>
              <a:rPr lang="es-MX"/>
              <a:t>Puede percibir su ambiente a través de un sistema sensorial.</a:t>
            </a:r>
            <a:endParaRPr/>
          </a:p>
          <a:p>
            <a:pPr marL="228600" lvl="0" indent="-228600" algn="l" rtl="0">
              <a:lnSpc>
                <a:spcPct val="120000"/>
              </a:lnSpc>
              <a:spcBef>
                <a:spcPts val="1000"/>
              </a:spcBef>
              <a:spcAft>
                <a:spcPts val="0"/>
              </a:spcAft>
              <a:buSzPts val="2000"/>
              <a:buChar char="•"/>
            </a:pPr>
            <a:r>
              <a:rPr lang="es-MX"/>
              <a:t>Su interacción con el medio ambiente es realizada por medio de actuadores, los cuales se reflejan por medio de acciones. </a:t>
            </a:r>
            <a:endParaRPr/>
          </a:p>
          <a:p>
            <a:pPr marL="228600" lvl="0" indent="-228600" algn="l" rtl="0">
              <a:lnSpc>
                <a:spcPct val="120000"/>
              </a:lnSpc>
              <a:spcBef>
                <a:spcPts val="1000"/>
              </a:spcBef>
              <a:spcAft>
                <a:spcPts val="0"/>
              </a:spcAft>
              <a:buSzPts val="2000"/>
              <a:buChar char="•"/>
            </a:pPr>
            <a:r>
              <a:rPr lang="es-MX"/>
              <a:t>Sus actividades siempre estarán encaminadas bajo un objetivo. </a:t>
            </a:r>
            <a:endParaRPr/>
          </a:p>
          <a:p>
            <a:pPr marL="228600" lvl="0" indent="-228600" algn="l" rtl="0">
              <a:lnSpc>
                <a:spcPct val="120000"/>
              </a:lnSpc>
              <a:spcBef>
                <a:spcPts val="1000"/>
              </a:spcBef>
              <a:spcAft>
                <a:spcPts val="0"/>
              </a:spcAft>
              <a:buSzPts val="2000"/>
              <a:buChar char="•"/>
            </a:pPr>
            <a:r>
              <a:rPr lang="es-MX"/>
              <a:t>Se encuentra en constante interacción con el medio ambiente. </a:t>
            </a:r>
            <a:endParaRPr/>
          </a:p>
          <a:p>
            <a:pPr marL="228600" lvl="0" indent="-101600" algn="l" rtl="0">
              <a:lnSpc>
                <a:spcPct val="120000"/>
              </a:lnSpc>
              <a:spcBef>
                <a:spcPts val="1000"/>
              </a:spcBef>
              <a:spcAft>
                <a:spcPts val="0"/>
              </a:spcAft>
              <a:buSzPts val="20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ANALOGÍA AL SER HUMANO</a:t>
            </a:r>
            <a:endParaRPr/>
          </a:p>
        </p:txBody>
      </p:sp>
      <p:pic>
        <p:nvPicPr>
          <p:cNvPr id="120" name="Google Shape;120;p3" descr="Human - Free people icons"/>
          <p:cNvPicPr preferRelativeResize="0">
            <a:picLocks noGrp="1"/>
          </p:cNvPicPr>
          <p:nvPr>
            <p:ph type="body" idx="1"/>
          </p:nvPr>
        </p:nvPicPr>
        <p:blipFill rotWithShape="1">
          <a:blip r:embed="rId3">
            <a:alphaModFix/>
          </a:blip>
          <a:srcRect/>
          <a:stretch/>
        </p:blipFill>
        <p:spPr>
          <a:xfrm>
            <a:off x="4744321" y="2232103"/>
            <a:ext cx="3017682" cy="30176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24"/>
        <p:cNvGrpSpPr/>
        <p:nvPr/>
      </p:nvGrpSpPr>
      <p:grpSpPr>
        <a:xfrm>
          <a:off x="0" y="0"/>
          <a:ext cx="0" cy="0"/>
          <a:chOff x="0" y="0"/>
          <a:chExt cx="0" cy="0"/>
        </a:xfrm>
      </p:grpSpPr>
      <p:sp>
        <p:nvSpPr>
          <p:cNvPr id="125" name="Google Shape;125;p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CARACTERÍSTICAS DE AGENTE INTELIGENTE</a:t>
            </a:r>
            <a:endParaRPr/>
          </a:p>
        </p:txBody>
      </p:sp>
      <p:sp>
        <p:nvSpPr>
          <p:cNvPr id="126" name="Google Shape;126;p5"/>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s-MX"/>
              <a:t>La secuencia de percepciones de un agente refleja el historial completo de lo que el agente ha recibido.</a:t>
            </a:r>
            <a:endParaRPr/>
          </a:p>
        </p:txBody>
      </p:sp>
      <p:pic>
        <p:nvPicPr>
          <p:cNvPr id="127" name="Google Shape;127;p5" descr="Pasos para la toma de decisiones - Cepymenews"/>
          <p:cNvPicPr preferRelativeResize="0"/>
          <p:nvPr/>
        </p:nvPicPr>
        <p:blipFill rotWithShape="1">
          <a:blip r:embed="rId3">
            <a:alphaModFix/>
          </a:blip>
          <a:srcRect/>
          <a:stretch/>
        </p:blipFill>
        <p:spPr>
          <a:xfrm>
            <a:off x="3986328" y="2964503"/>
            <a:ext cx="4219343" cy="224419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PROPIEDADES DE AGENTES INTELIGENTES</a:t>
            </a:r>
            <a:endParaRPr/>
          </a:p>
        </p:txBody>
      </p:sp>
      <p:sp>
        <p:nvSpPr>
          <p:cNvPr id="133" name="Google Shape;133;p6"/>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l" rtl="0">
              <a:lnSpc>
                <a:spcPct val="120000"/>
              </a:lnSpc>
              <a:spcBef>
                <a:spcPts val="0"/>
              </a:spcBef>
              <a:spcAft>
                <a:spcPts val="0"/>
              </a:spcAft>
              <a:buSzPts val="2000"/>
              <a:buChar char="•"/>
            </a:pPr>
            <a:r>
              <a:rPr lang="es-MX"/>
              <a:t>Composición de un agente inteligente.</a:t>
            </a:r>
            <a:endParaRPr/>
          </a:p>
          <a:p>
            <a:pPr marL="228600" lvl="0" indent="-228600" algn="l" rtl="0">
              <a:lnSpc>
                <a:spcPct val="120000"/>
              </a:lnSpc>
              <a:spcBef>
                <a:spcPts val="1000"/>
              </a:spcBef>
              <a:spcAft>
                <a:spcPts val="0"/>
              </a:spcAft>
              <a:buSzPts val="2000"/>
              <a:buChar char="•"/>
            </a:pPr>
            <a:r>
              <a:rPr lang="es-MX"/>
              <a:t>Funcionamiento de un agente.</a:t>
            </a:r>
            <a:endParaRPr/>
          </a:p>
          <a:p>
            <a:pPr marL="228600" lvl="0" indent="-228600" algn="l" rtl="0">
              <a:lnSpc>
                <a:spcPct val="120000"/>
              </a:lnSpc>
              <a:spcBef>
                <a:spcPts val="1000"/>
              </a:spcBef>
              <a:spcAft>
                <a:spcPts val="0"/>
              </a:spcAft>
              <a:buSzPts val="2000"/>
              <a:buChar char="•"/>
            </a:pPr>
            <a:r>
              <a:rPr lang="es-MX"/>
              <a:t>Factores para medir el funcionamiento.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COMPOSICIÓN DE AGENTES INTELIGENTES</a:t>
            </a:r>
            <a:endParaRPr/>
          </a:p>
        </p:txBody>
      </p:sp>
      <p:sp>
        <p:nvSpPr>
          <p:cNvPr id="139" name="Google Shape;139;p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SzPts val="2000"/>
              <a:buNone/>
            </a:pPr>
            <a:r>
              <a:rPr lang="es-MX" i="1"/>
              <a:t>Agente = Arquitectura + Programa</a:t>
            </a:r>
            <a:endParaRPr/>
          </a:p>
          <a:p>
            <a:pPr marL="228600" lvl="0" indent="-101600" algn="l" rtl="0">
              <a:lnSpc>
                <a:spcPct val="120000"/>
              </a:lnSpc>
              <a:spcBef>
                <a:spcPts val="1000"/>
              </a:spcBef>
              <a:spcAft>
                <a:spcPts val="0"/>
              </a:spcAft>
              <a:buSzPts val="2000"/>
              <a:buNone/>
            </a:pPr>
            <a:endParaRPr/>
          </a:p>
          <a:p>
            <a:pPr marL="228600" lvl="0" indent="-228600" algn="l" rtl="0">
              <a:lnSpc>
                <a:spcPct val="120000"/>
              </a:lnSpc>
              <a:spcBef>
                <a:spcPts val="1000"/>
              </a:spcBef>
              <a:spcAft>
                <a:spcPts val="0"/>
              </a:spcAft>
              <a:buSzPts val="2000"/>
              <a:buChar char="•"/>
            </a:pPr>
            <a:r>
              <a:rPr lang="es-MX"/>
              <a:t>Arquitectura: Se basa en el alcance del agente y suele estar compuesto por:</a:t>
            </a:r>
            <a:endParaRPr/>
          </a:p>
          <a:p>
            <a:pPr marL="685800" lvl="1" indent="-228600" algn="l" rtl="0">
              <a:lnSpc>
                <a:spcPct val="120000"/>
              </a:lnSpc>
              <a:spcBef>
                <a:spcPts val="500"/>
              </a:spcBef>
              <a:spcAft>
                <a:spcPts val="0"/>
              </a:spcAft>
              <a:buSzPts val="1800"/>
              <a:buChar char="•"/>
            </a:pPr>
            <a:r>
              <a:rPr lang="es-MX" b="1"/>
              <a:t>Sensores</a:t>
            </a:r>
            <a:r>
              <a:rPr lang="es-MX"/>
              <a:t>: Permiten percibir el entorno en el cual se desempeñará el agente.</a:t>
            </a:r>
            <a:endParaRPr/>
          </a:p>
          <a:p>
            <a:pPr marL="685800" lvl="1" indent="-228600" algn="l" rtl="0">
              <a:lnSpc>
                <a:spcPct val="120000"/>
              </a:lnSpc>
              <a:spcBef>
                <a:spcPts val="500"/>
              </a:spcBef>
              <a:spcAft>
                <a:spcPts val="0"/>
              </a:spcAft>
              <a:buSzPts val="1800"/>
              <a:buChar char="•"/>
            </a:pPr>
            <a:r>
              <a:rPr lang="es-MX" b="1"/>
              <a:t>Ejecución del programa</a:t>
            </a:r>
            <a:r>
              <a:rPr lang="es-MX"/>
              <a:t>: Interpreta los datos percibidos por los sensores y ejecuta instrucciones que accionan los actuadores.</a:t>
            </a:r>
            <a:endParaRPr/>
          </a:p>
          <a:p>
            <a:pPr marL="685800" lvl="1" indent="-228600" algn="l" rtl="0">
              <a:lnSpc>
                <a:spcPct val="120000"/>
              </a:lnSpc>
              <a:spcBef>
                <a:spcPts val="500"/>
              </a:spcBef>
              <a:spcAft>
                <a:spcPts val="0"/>
              </a:spcAft>
              <a:buSzPts val="1800"/>
              <a:buChar char="•"/>
            </a:pPr>
            <a:r>
              <a:rPr lang="es-MX" b="1"/>
              <a:t>Actuadores</a:t>
            </a:r>
            <a:r>
              <a:rPr lang="es-MX"/>
              <a:t>: Ejecutan acciones programadas que permitan cumplir con las tareas asociadas al alcance del agente.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COMPOSICIÓN DE AGENTES INTELIGENTES</a:t>
            </a:r>
            <a:endParaRPr/>
          </a:p>
        </p:txBody>
      </p:sp>
      <p:sp>
        <p:nvSpPr>
          <p:cNvPr id="145" name="Google Shape;145;p8"/>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0" lvl="0" indent="0" algn="ctr" rtl="0">
              <a:lnSpc>
                <a:spcPct val="120000"/>
              </a:lnSpc>
              <a:spcBef>
                <a:spcPts val="0"/>
              </a:spcBef>
              <a:spcAft>
                <a:spcPts val="0"/>
              </a:spcAft>
              <a:buSzPts val="2000"/>
              <a:buNone/>
            </a:pPr>
            <a:r>
              <a:rPr lang="es-MX" i="1"/>
              <a:t>Agente = Arquitectura + Programa</a:t>
            </a:r>
            <a:endParaRPr/>
          </a:p>
          <a:p>
            <a:pPr marL="228600" lvl="0" indent="-101600" algn="l" rtl="0">
              <a:lnSpc>
                <a:spcPct val="120000"/>
              </a:lnSpc>
              <a:spcBef>
                <a:spcPts val="1000"/>
              </a:spcBef>
              <a:spcAft>
                <a:spcPts val="0"/>
              </a:spcAft>
              <a:buSzPts val="2000"/>
              <a:buNone/>
            </a:pPr>
            <a:endParaRPr/>
          </a:p>
          <a:p>
            <a:pPr marL="228600" lvl="0" indent="-228600" algn="l" rtl="0">
              <a:lnSpc>
                <a:spcPct val="120000"/>
              </a:lnSpc>
              <a:spcBef>
                <a:spcPts val="1000"/>
              </a:spcBef>
              <a:spcAft>
                <a:spcPts val="0"/>
              </a:spcAft>
              <a:buSzPts val="2000"/>
              <a:buChar char="•"/>
            </a:pPr>
            <a:r>
              <a:rPr lang="es-MX" b="1"/>
              <a:t>Programa</a:t>
            </a:r>
            <a:r>
              <a:rPr lang="es-MX"/>
              <a:t>: Los programas de agente siempre tomarán como entrada la percepción actual disponible de su entorno, no todo el historial de percepciones para proporcionar una respuesta.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FUNCIONAMIENTO DE AGENTES INTELIGENTES</a:t>
            </a:r>
            <a:endParaRPr/>
          </a:p>
        </p:txBody>
      </p:sp>
      <p:sp>
        <p:nvSpPr>
          <p:cNvPr id="151" name="Google Shape;151;p9"/>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ts val="2000"/>
              <a:buNone/>
            </a:pPr>
            <a:r>
              <a:rPr lang="es-MX"/>
              <a:t>En términos matemáticos se puede decir que el comportamiento del agente viene dado por la función del agente que proyecta una percepción dada en una acción, a esto se le conoce como </a:t>
            </a:r>
            <a:r>
              <a:rPr lang="es-MX" b="1" i="1"/>
              <a:t>función del agente.</a:t>
            </a:r>
            <a:endParaRPr i="1"/>
          </a:p>
          <a:p>
            <a:pPr marL="0" lvl="0" indent="0" algn="just" rtl="0">
              <a:lnSpc>
                <a:spcPct val="120000"/>
              </a:lnSpc>
              <a:spcBef>
                <a:spcPts val="1000"/>
              </a:spcBef>
              <a:spcAft>
                <a:spcPts val="0"/>
              </a:spcAft>
              <a:buSzPts val="2000"/>
              <a:buNone/>
            </a:pPr>
            <a:r>
              <a:rPr lang="es-MX"/>
              <a:t>Por ejemplo: </a:t>
            </a:r>
            <a:endParaRPr/>
          </a:p>
          <a:p>
            <a:pPr marL="0" lvl="0" indent="0" algn="just" rtl="0">
              <a:lnSpc>
                <a:spcPct val="120000"/>
              </a:lnSpc>
              <a:spcBef>
                <a:spcPts val="1000"/>
              </a:spcBef>
              <a:spcAft>
                <a:spcPts val="0"/>
              </a:spcAft>
              <a:buSzPts val="2000"/>
              <a:buNone/>
            </a:pPr>
            <a:r>
              <a:rPr lang="es-MX"/>
              <a:t>			f(x) = 2x </a:t>
            </a:r>
            <a:endParaRPr/>
          </a:p>
        </p:txBody>
      </p:sp>
      <p:pic>
        <p:nvPicPr>
          <p:cNvPr id="152" name="Google Shape;152;p9"/>
          <p:cNvPicPr preferRelativeResize="0"/>
          <p:nvPr/>
        </p:nvPicPr>
        <p:blipFill rotWithShape="1">
          <a:blip r:embed="rId3">
            <a:alphaModFix/>
          </a:blip>
          <a:srcRect/>
          <a:stretch/>
        </p:blipFill>
        <p:spPr>
          <a:xfrm>
            <a:off x="5645042" y="2989563"/>
            <a:ext cx="2460270" cy="24767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FUNCIONAMIENTO DE AGENTES INTELIGENTES</a:t>
            </a:r>
            <a:endParaRPr/>
          </a:p>
        </p:txBody>
      </p:sp>
      <p:sp>
        <p:nvSpPr>
          <p:cNvPr id="158" name="Google Shape;158;p1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ts val="2000"/>
              <a:buNone/>
            </a:pPr>
            <a:r>
              <a:rPr lang="es-MX"/>
              <a:t>El comportamiento del agente se puede describir en tablas, mientras que la función se codifica a través del programa de agente.</a:t>
            </a:r>
            <a:endParaRPr/>
          </a:p>
          <a:p>
            <a:pPr marL="0" lvl="0" indent="0" algn="just" rtl="0">
              <a:lnSpc>
                <a:spcPct val="120000"/>
              </a:lnSpc>
              <a:spcBef>
                <a:spcPts val="1000"/>
              </a:spcBef>
              <a:spcAft>
                <a:spcPts val="0"/>
              </a:spcAft>
              <a:buSzPts val="2000"/>
              <a:buNone/>
            </a:pPr>
            <a:endParaRPr/>
          </a:p>
        </p:txBody>
      </p:sp>
      <p:graphicFrame>
        <p:nvGraphicFramePr>
          <p:cNvPr id="159" name="Google Shape;159;p10"/>
          <p:cNvGraphicFramePr/>
          <p:nvPr/>
        </p:nvGraphicFramePr>
        <p:xfrm>
          <a:off x="3009530" y="3497802"/>
          <a:ext cx="1710450" cy="1186875"/>
        </p:xfrm>
        <a:graphic>
          <a:graphicData uri="http://schemas.openxmlformats.org/drawingml/2006/table">
            <a:tbl>
              <a:tblPr>
                <a:noFill/>
                <a:tableStyleId>{33782DD1-EAE4-4032-9844-E9DF984B63B5}</a:tableStyleId>
              </a:tblPr>
              <a:tblGrid>
                <a:gridCol w="855225">
                  <a:extLst>
                    <a:ext uri="{9D8B030D-6E8A-4147-A177-3AD203B41FA5}">
                      <a16:colId xmlns:a16="http://schemas.microsoft.com/office/drawing/2014/main" val="20000"/>
                    </a:ext>
                  </a:extLst>
                </a:gridCol>
                <a:gridCol w="855225">
                  <a:extLst>
                    <a:ext uri="{9D8B030D-6E8A-4147-A177-3AD203B41FA5}">
                      <a16:colId xmlns:a16="http://schemas.microsoft.com/office/drawing/2014/main" val="20001"/>
                    </a:ext>
                  </a:extLst>
                </a:gridCol>
              </a:tblGrid>
              <a:tr h="237375">
                <a:tc>
                  <a:txBody>
                    <a:bodyPr/>
                    <a:lstStyle/>
                    <a:p>
                      <a:pPr marL="0" marR="0" lvl="0" indent="0" algn="ctr" rtl="0">
                        <a:lnSpc>
                          <a:spcPct val="100000"/>
                        </a:lnSpc>
                        <a:spcBef>
                          <a:spcPts val="0"/>
                        </a:spcBef>
                        <a:spcAft>
                          <a:spcPts val="0"/>
                        </a:spcAft>
                        <a:buClr>
                          <a:srgbClr val="000000"/>
                        </a:buClr>
                        <a:buSzPts val="1100"/>
                        <a:buFont typeface="Arial"/>
                        <a:buNone/>
                      </a:pPr>
                      <a:r>
                        <a:rPr lang="es-MX" sz="1100" u="none" strike="noStrike" cap="none"/>
                        <a:t>x</a:t>
                      </a:r>
                      <a:endParaRPr sz="11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ctr" rtl="0">
                        <a:lnSpc>
                          <a:spcPct val="100000"/>
                        </a:lnSpc>
                        <a:spcBef>
                          <a:spcPts val="0"/>
                        </a:spcBef>
                        <a:spcAft>
                          <a:spcPts val="0"/>
                        </a:spcAft>
                        <a:buClr>
                          <a:srgbClr val="000000"/>
                        </a:buClr>
                        <a:buSzPts val="1100"/>
                        <a:buFont typeface="Arial"/>
                        <a:buNone/>
                      </a:pPr>
                      <a:r>
                        <a:rPr lang="es-MX" sz="1100" u="none" strike="noStrike" cap="none"/>
                        <a:t>f(x)</a:t>
                      </a:r>
                      <a:endParaRPr sz="1100" b="1" i="0" u="none" strike="noStrike" cap="none">
                        <a:solidFill>
                          <a:srgbClr val="000000"/>
                        </a:solidFill>
                        <a:latin typeface="Calibri"/>
                        <a:ea typeface="Calibri"/>
                        <a:cs typeface="Calibri"/>
                        <a:sym typeface="Calibri"/>
                      </a:endParaRPr>
                    </a:p>
                  </a:txBody>
                  <a:tcPr marL="9525" marR="9525" marT="9525" marB="0" anchor="ctr"/>
                </a:tc>
                <a:extLst>
                  <a:ext uri="{0D108BD9-81ED-4DB2-BD59-A6C34878D82A}">
                    <a16:rowId xmlns:a16="http://schemas.microsoft.com/office/drawing/2014/main" val="10000"/>
                  </a:ext>
                </a:extLst>
              </a:tr>
              <a:tr h="237375">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0</a:t>
                      </a:r>
                      <a:endParaRPr sz="1100" b="0" i="0" u="none" strike="noStrike" cap="none">
                        <a:solidFill>
                          <a:srgbClr val="000000"/>
                        </a:solidFill>
                        <a:latin typeface="Calibri"/>
                        <a:ea typeface="Calibri"/>
                        <a:cs typeface="Calibri"/>
                        <a:sym typeface="Calibri"/>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0</a:t>
                      </a:r>
                      <a:endParaRPr sz="1100" b="0" i="0" u="none" strike="noStrike" cap="none">
                        <a:solidFill>
                          <a:srgbClr val="000000"/>
                        </a:solidFill>
                        <a:latin typeface="Calibri"/>
                        <a:ea typeface="Calibri"/>
                        <a:cs typeface="Calibri"/>
                        <a:sym typeface="Calibri"/>
                      </a:endParaRPr>
                    </a:p>
                  </a:txBody>
                  <a:tcPr marL="9525" marR="9525" marT="9525" marB="0" anchor="b"/>
                </a:tc>
                <a:extLst>
                  <a:ext uri="{0D108BD9-81ED-4DB2-BD59-A6C34878D82A}">
                    <a16:rowId xmlns:a16="http://schemas.microsoft.com/office/drawing/2014/main" val="10001"/>
                  </a:ext>
                </a:extLst>
              </a:tr>
              <a:tr h="237375">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1</a:t>
                      </a:r>
                      <a:endParaRPr sz="1100" b="0" i="0" u="none" strike="noStrike" cap="none">
                        <a:solidFill>
                          <a:srgbClr val="000000"/>
                        </a:solidFill>
                        <a:latin typeface="Calibri"/>
                        <a:ea typeface="Calibri"/>
                        <a:cs typeface="Calibri"/>
                        <a:sym typeface="Calibri"/>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2</a:t>
                      </a:r>
                      <a:endParaRPr sz="1100" b="0" i="0" u="none" strike="noStrike" cap="none">
                        <a:solidFill>
                          <a:srgbClr val="000000"/>
                        </a:solidFill>
                        <a:latin typeface="Calibri"/>
                        <a:ea typeface="Calibri"/>
                        <a:cs typeface="Calibri"/>
                        <a:sym typeface="Calibri"/>
                      </a:endParaRPr>
                    </a:p>
                  </a:txBody>
                  <a:tcPr marL="9525" marR="9525" marT="9525" marB="0" anchor="b"/>
                </a:tc>
                <a:extLst>
                  <a:ext uri="{0D108BD9-81ED-4DB2-BD59-A6C34878D82A}">
                    <a16:rowId xmlns:a16="http://schemas.microsoft.com/office/drawing/2014/main" val="10002"/>
                  </a:ext>
                </a:extLst>
              </a:tr>
              <a:tr h="237375">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2</a:t>
                      </a:r>
                      <a:endParaRPr sz="1100" b="0" i="0" u="none" strike="noStrike" cap="none">
                        <a:solidFill>
                          <a:srgbClr val="000000"/>
                        </a:solidFill>
                        <a:latin typeface="Calibri"/>
                        <a:ea typeface="Calibri"/>
                        <a:cs typeface="Calibri"/>
                        <a:sym typeface="Calibri"/>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4</a:t>
                      </a:r>
                      <a:endParaRPr sz="1100" b="0" i="0" u="none" strike="noStrike" cap="none">
                        <a:solidFill>
                          <a:srgbClr val="000000"/>
                        </a:solidFill>
                        <a:latin typeface="Calibri"/>
                        <a:ea typeface="Calibri"/>
                        <a:cs typeface="Calibri"/>
                        <a:sym typeface="Calibri"/>
                      </a:endParaRPr>
                    </a:p>
                  </a:txBody>
                  <a:tcPr marL="9525" marR="9525" marT="9525" marB="0" anchor="b"/>
                </a:tc>
                <a:extLst>
                  <a:ext uri="{0D108BD9-81ED-4DB2-BD59-A6C34878D82A}">
                    <a16:rowId xmlns:a16="http://schemas.microsoft.com/office/drawing/2014/main" val="10003"/>
                  </a:ext>
                </a:extLst>
              </a:tr>
              <a:tr h="237375">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3</a:t>
                      </a:r>
                      <a:endParaRPr sz="1100" b="0" i="0" u="none" strike="noStrike" cap="none">
                        <a:solidFill>
                          <a:srgbClr val="000000"/>
                        </a:solidFill>
                        <a:latin typeface="Calibri"/>
                        <a:ea typeface="Calibri"/>
                        <a:cs typeface="Calibri"/>
                        <a:sym typeface="Calibri"/>
                      </a:endParaRPr>
                    </a:p>
                  </a:txBody>
                  <a:tcPr marL="9525" marR="9525" marT="9525" marB="0" anchor="b"/>
                </a:tc>
                <a:tc>
                  <a:txBody>
                    <a:bodyPr/>
                    <a:lstStyle/>
                    <a:p>
                      <a:pPr marL="0" marR="0" lvl="0" indent="0" algn="r" rtl="0">
                        <a:lnSpc>
                          <a:spcPct val="100000"/>
                        </a:lnSpc>
                        <a:spcBef>
                          <a:spcPts val="0"/>
                        </a:spcBef>
                        <a:spcAft>
                          <a:spcPts val="0"/>
                        </a:spcAft>
                        <a:buClr>
                          <a:srgbClr val="000000"/>
                        </a:buClr>
                        <a:buSzPts val="1100"/>
                        <a:buFont typeface="Arial"/>
                        <a:buNone/>
                      </a:pPr>
                      <a:r>
                        <a:rPr lang="es-MX" sz="1100" u="none" strike="noStrike" cap="none"/>
                        <a:t>6</a:t>
                      </a:r>
                      <a:endParaRPr sz="1100" b="0" i="0" u="none" strike="noStrike" cap="none">
                        <a:solidFill>
                          <a:srgbClr val="000000"/>
                        </a:solidFill>
                        <a:latin typeface="Calibri"/>
                        <a:ea typeface="Calibri"/>
                        <a:cs typeface="Calibri"/>
                        <a:sym typeface="Calibri"/>
                      </a:endParaRPr>
                    </a:p>
                  </a:txBody>
                  <a:tcPr marL="9525" marR="9525" marT="9525" marB="0" anchor="b"/>
                </a:tc>
                <a:extLst>
                  <a:ext uri="{0D108BD9-81ED-4DB2-BD59-A6C34878D82A}">
                    <a16:rowId xmlns:a16="http://schemas.microsoft.com/office/drawing/2014/main" val="10004"/>
                  </a:ext>
                </a:extLst>
              </a:tr>
            </a:tbl>
          </a:graphicData>
        </a:graphic>
      </p:graphicFrame>
      <p:pic>
        <p:nvPicPr>
          <p:cNvPr id="160" name="Google Shape;160;p10"/>
          <p:cNvPicPr preferRelativeResize="0"/>
          <p:nvPr/>
        </p:nvPicPr>
        <p:blipFill rotWithShape="1">
          <a:blip r:embed="rId3">
            <a:alphaModFix/>
          </a:blip>
          <a:srcRect/>
          <a:stretch/>
        </p:blipFill>
        <p:spPr>
          <a:xfrm>
            <a:off x="5787421" y="3322006"/>
            <a:ext cx="4953000" cy="1581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FUNCIONAMIENTO DE AGENTES INTELIGENTES</a:t>
            </a:r>
            <a:endParaRPr/>
          </a:p>
        </p:txBody>
      </p:sp>
      <p:pic>
        <p:nvPicPr>
          <p:cNvPr id="167" name="Google Shape;167;p11"/>
          <p:cNvPicPr preferRelativeResize="0"/>
          <p:nvPr/>
        </p:nvPicPr>
        <p:blipFill rotWithShape="1">
          <a:blip r:embed="rId3">
            <a:alphaModFix/>
          </a:blip>
          <a:srcRect l="30866" t="56983" r="21820" b="15819"/>
          <a:stretch/>
        </p:blipFill>
        <p:spPr>
          <a:xfrm>
            <a:off x="3108181" y="2096721"/>
            <a:ext cx="5471160" cy="1090295"/>
          </a:xfrm>
          <a:prstGeom prst="rect">
            <a:avLst/>
          </a:prstGeom>
          <a:noFill/>
          <a:ln>
            <a:noFill/>
          </a:ln>
        </p:spPr>
      </p:pic>
      <p:pic>
        <p:nvPicPr>
          <p:cNvPr id="168" name="Google Shape;168;p11"/>
          <p:cNvPicPr preferRelativeResize="0"/>
          <p:nvPr/>
        </p:nvPicPr>
        <p:blipFill rotWithShape="1">
          <a:blip r:embed="rId4">
            <a:alphaModFix/>
          </a:blip>
          <a:srcRect l="30695" t="32290" r="21660" b="27257"/>
          <a:stretch/>
        </p:blipFill>
        <p:spPr>
          <a:xfrm>
            <a:off x="3236133" y="3429000"/>
            <a:ext cx="5215255" cy="24504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174" name="Google Shape;174;p12"/>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ts val="2000"/>
              <a:buNone/>
            </a:pPr>
            <a:r>
              <a:rPr lang="es-MX"/>
              <a:t>Es importante medir su proceso y su crecimiento por medio de diferentes aspectos, como: Medidas de rendimiento, racionalidad del agente y aprendizaje de los agentes.</a:t>
            </a:r>
            <a:endParaRPr/>
          </a:p>
          <a:p>
            <a:pPr marL="228600" lvl="0" indent="-228600" algn="just" rtl="0">
              <a:lnSpc>
                <a:spcPct val="120000"/>
              </a:lnSpc>
              <a:spcBef>
                <a:spcPts val="1000"/>
              </a:spcBef>
              <a:spcAft>
                <a:spcPts val="0"/>
              </a:spcAft>
              <a:buSzPts val="2000"/>
              <a:buChar char="•"/>
            </a:pPr>
            <a:r>
              <a:rPr lang="es-MX" b="1"/>
              <a:t>Medidas de rendimiento</a:t>
            </a:r>
            <a:r>
              <a:rPr lang="es-MX"/>
              <a:t>: Criterios que determinan si el comportamiento del agente se realiza con éxito o no y varía según el agente.</a:t>
            </a:r>
            <a:endParaRPr/>
          </a:p>
          <a:p>
            <a:pPr marL="0" lvl="0" indent="0" algn="ctr" rtl="0">
              <a:lnSpc>
                <a:spcPct val="120000"/>
              </a:lnSpc>
              <a:spcBef>
                <a:spcPts val="1000"/>
              </a:spcBef>
              <a:spcAft>
                <a:spcPts val="0"/>
              </a:spcAft>
              <a:buSzPts val="2000"/>
              <a:buNone/>
            </a:pPr>
            <a:endParaRPr/>
          </a:p>
          <a:p>
            <a:pPr marL="0" lvl="0" indent="0" algn="ctr" rtl="0">
              <a:lnSpc>
                <a:spcPct val="120000"/>
              </a:lnSpc>
              <a:spcBef>
                <a:spcPts val="1000"/>
              </a:spcBef>
              <a:spcAft>
                <a:spcPts val="0"/>
              </a:spcAft>
              <a:buSzPts val="2000"/>
              <a:buNone/>
            </a:pPr>
            <a:endParaRPr/>
          </a:p>
          <a:p>
            <a:pPr marL="0" lvl="0" indent="0" algn="ctr" rtl="0">
              <a:lnSpc>
                <a:spcPct val="120000"/>
              </a:lnSpc>
              <a:spcBef>
                <a:spcPts val="1000"/>
              </a:spcBef>
              <a:spcAft>
                <a:spcPts val="0"/>
              </a:spcAft>
              <a:buSzPts val="2000"/>
              <a:buNone/>
            </a:pPr>
            <a:r>
              <a:rPr lang="es-MX"/>
              <a:t>Cantidad y calidad.</a:t>
            </a:r>
            <a:endParaRPr/>
          </a:p>
        </p:txBody>
      </p:sp>
      <p:pic>
        <p:nvPicPr>
          <p:cNvPr id="175" name="Google Shape;175;p12"/>
          <p:cNvPicPr preferRelativeResize="0"/>
          <p:nvPr/>
        </p:nvPicPr>
        <p:blipFill rotWithShape="1">
          <a:blip r:embed="rId3">
            <a:alphaModFix/>
          </a:blip>
          <a:srcRect l="30866" t="56983" r="21820" b="15819"/>
          <a:stretch/>
        </p:blipFill>
        <p:spPr>
          <a:xfrm>
            <a:off x="3517636" y="3741038"/>
            <a:ext cx="5471160" cy="10902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181" name="Google Shape;181;p1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b="1"/>
              <a:t>Racionalidad del agente</a:t>
            </a:r>
            <a:r>
              <a:rPr lang="es-MX"/>
              <a:t>: Dependerá del objetivo planteado para el agente y el éxito con el que lo logra, las acciones que el agente puede desarrollar, la continuidad de percepciones del agente y el almacenamiento de conocimiento que tenga el agente.</a:t>
            </a:r>
            <a:endParaRPr sz="1800"/>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Clr>
                <a:srgbClr val="000000"/>
              </a:buClr>
              <a:buSzPts val="2000"/>
              <a:buFont typeface="Arial"/>
              <a:buNone/>
            </a:pPr>
            <a:endParaRPr/>
          </a:p>
        </p:txBody>
      </p:sp>
      <p:pic>
        <p:nvPicPr>
          <p:cNvPr id="182" name="Google Shape;182;p13"/>
          <p:cNvPicPr preferRelativeResize="0"/>
          <p:nvPr/>
        </p:nvPicPr>
        <p:blipFill>
          <a:blip r:embed="rId3">
            <a:alphaModFix/>
          </a:blip>
          <a:stretch>
            <a:fillRect/>
          </a:stretch>
        </p:blipFill>
        <p:spPr>
          <a:xfrm>
            <a:off x="5064225" y="3256675"/>
            <a:ext cx="1806475" cy="1836575"/>
          </a:xfrm>
          <a:prstGeom prst="rect">
            <a:avLst/>
          </a:prstGeom>
          <a:noFill/>
          <a:ln>
            <a:noFill/>
          </a:ln>
        </p:spPr>
      </p:pic>
      <p:pic>
        <p:nvPicPr>
          <p:cNvPr id="183" name="Google Shape;183;p13"/>
          <p:cNvPicPr preferRelativeResize="0"/>
          <p:nvPr/>
        </p:nvPicPr>
        <p:blipFill>
          <a:blip r:embed="rId4">
            <a:alphaModFix/>
          </a:blip>
          <a:stretch>
            <a:fillRect/>
          </a:stretch>
        </p:blipFill>
        <p:spPr>
          <a:xfrm>
            <a:off x="1573250" y="3832975"/>
            <a:ext cx="1930625" cy="1930625"/>
          </a:xfrm>
          <a:prstGeom prst="rect">
            <a:avLst/>
          </a:prstGeom>
          <a:noFill/>
          <a:ln>
            <a:noFill/>
          </a:ln>
        </p:spPr>
      </p:pic>
      <p:pic>
        <p:nvPicPr>
          <p:cNvPr id="184" name="Google Shape;184;p13"/>
          <p:cNvPicPr preferRelativeResize="0"/>
          <p:nvPr/>
        </p:nvPicPr>
        <p:blipFill>
          <a:blip r:embed="rId5">
            <a:alphaModFix/>
          </a:blip>
          <a:stretch>
            <a:fillRect/>
          </a:stretch>
        </p:blipFill>
        <p:spPr>
          <a:xfrm>
            <a:off x="8830025" y="3832975"/>
            <a:ext cx="1806476" cy="1806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1f1f6cdd785_0_0"/>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190" name="Google Shape;190;g1f1f6cdd785_0_0"/>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20000"/>
              </a:lnSpc>
              <a:spcBef>
                <a:spcPts val="0"/>
              </a:spcBef>
              <a:spcAft>
                <a:spcPts val="0"/>
              </a:spcAft>
              <a:buSzPts val="2000"/>
              <a:buChar char="•"/>
            </a:pPr>
            <a:r>
              <a:rPr lang="es-MX" b="1"/>
              <a:t>Aprendizaje y autonomía</a:t>
            </a:r>
            <a:r>
              <a:rPr lang="es-MX"/>
              <a:t>: Los mejores agentes son aquellos que calculan las funciones del agente en las siguientes etapas:</a:t>
            </a:r>
            <a:endParaRPr/>
          </a:p>
          <a:p>
            <a:pPr marL="685800" lvl="1" indent="-228600" algn="just" rtl="0">
              <a:lnSpc>
                <a:spcPct val="120000"/>
              </a:lnSpc>
              <a:spcBef>
                <a:spcPts val="500"/>
              </a:spcBef>
              <a:spcAft>
                <a:spcPts val="0"/>
              </a:spcAft>
              <a:buSzPts val="1800"/>
              <a:buChar char="•"/>
            </a:pPr>
            <a:r>
              <a:rPr lang="es-MX"/>
              <a:t>Cuando se está diseñando el agente, y están los diseñadores encargados de realizar algunos de estos cálculos.</a:t>
            </a:r>
            <a:endParaRPr/>
          </a:p>
          <a:p>
            <a:pPr marL="685800" lvl="1" indent="-228600" algn="just" rtl="0">
              <a:lnSpc>
                <a:spcPct val="120000"/>
              </a:lnSpc>
              <a:spcBef>
                <a:spcPts val="500"/>
              </a:spcBef>
              <a:spcAft>
                <a:spcPts val="0"/>
              </a:spcAft>
              <a:buSzPts val="1800"/>
              <a:buChar char="•"/>
            </a:pPr>
            <a:r>
              <a:rPr lang="es-MX"/>
              <a:t>Cuando está pensando en la siguiente operación, el agente realiza más cálculos.</a:t>
            </a:r>
            <a:endParaRPr/>
          </a:p>
          <a:p>
            <a:pPr marL="685800" lvl="1" indent="-228600" algn="just" rtl="0">
              <a:lnSpc>
                <a:spcPct val="120000"/>
              </a:lnSpc>
              <a:spcBef>
                <a:spcPts val="500"/>
              </a:spcBef>
              <a:spcAft>
                <a:spcPts val="0"/>
              </a:spcAft>
              <a:buSzPts val="1800"/>
              <a:buChar char="•"/>
            </a:pPr>
            <a:r>
              <a:rPr lang="es-MX"/>
              <a:t>Cuando está aprendiendo de la experiencia, el agente lleva a cabo más cálculos para decidir cómo modificar su forma de comportarse.</a:t>
            </a:r>
            <a:endParaRPr/>
          </a:p>
          <a:p>
            <a:pPr marL="457200" lvl="1" indent="0" algn="just" rtl="0">
              <a:lnSpc>
                <a:spcPct val="120000"/>
              </a:lnSpc>
              <a:spcBef>
                <a:spcPts val="500"/>
              </a:spcBef>
              <a:spcAft>
                <a:spcPts val="0"/>
              </a:spcAft>
              <a:buSzPts val="1800"/>
              <a:buNone/>
            </a:pPr>
            <a:r>
              <a:rPr lang="es-MX" sz="1800"/>
              <a:t>Ejemplo</a:t>
            </a:r>
            <a:r>
              <a:rPr lang="es-MX"/>
              <a:t>: predicción o anticipación de suciedad.</a:t>
            </a:r>
            <a:endParaRPr/>
          </a:p>
          <a:p>
            <a:pPr marL="0" lvl="0" indent="0" algn="just" rtl="0">
              <a:lnSpc>
                <a:spcPct val="120000"/>
              </a:lnSpc>
              <a:spcBef>
                <a:spcPts val="1000"/>
              </a:spcBef>
              <a:spcAft>
                <a:spcPts val="0"/>
              </a:spcAft>
              <a:buSzPts val="20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196" name="Google Shape;196;p1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b="1"/>
              <a:t>Naturaleza de los entornos de un agente</a:t>
            </a:r>
            <a:r>
              <a:rPr lang="es-MX"/>
              <a:t>:</a:t>
            </a:r>
            <a:endParaRPr/>
          </a:p>
          <a:p>
            <a:pPr marL="0" lvl="0" indent="0" algn="just" rtl="0">
              <a:lnSpc>
                <a:spcPct val="120000"/>
              </a:lnSpc>
              <a:spcBef>
                <a:spcPts val="1000"/>
              </a:spcBef>
              <a:spcAft>
                <a:spcPts val="0"/>
              </a:spcAft>
              <a:buSzPts val="2000"/>
              <a:buNone/>
            </a:pPr>
            <a:r>
              <a:rPr lang="es-MX"/>
              <a:t>Se basa en el entorno de trabajo de un agente REAS (Rendimiento, Entorno, Actuadores, Sensores), el cual suele tener diferentes niveles de dificultad:</a:t>
            </a:r>
            <a:endParaRPr/>
          </a:p>
          <a:p>
            <a:pPr marL="685800" lvl="1" indent="-228600" algn="just" rtl="0">
              <a:lnSpc>
                <a:spcPct val="120000"/>
              </a:lnSpc>
              <a:spcBef>
                <a:spcPts val="500"/>
              </a:spcBef>
              <a:spcAft>
                <a:spcPts val="0"/>
              </a:spcAft>
              <a:buSzPts val="1800"/>
              <a:buChar char="•"/>
            </a:pPr>
            <a:r>
              <a:rPr lang="es-MX"/>
              <a:t>Aspiradora.</a:t>
            </a:r>
            <a:endParaRPr/>
          </a:p>
          <a:p>
            <a:pPr marL="685800" lvl="1" indent="-228600" algn="just" rtl="0">
              <a:lnSpc>
                <a:spcPct val="120000"/>
              </a:lnSpc>
              <a:spcBef>
                <a:spcPts val="500"/>
              </a:spcBef>
              <a:spcAft>
                <a:spcPts val="0"/>
              </a:spcAft>
              <a:buSzPts val="1800"/>
              <a:buChar char="•"/>
            </a:pPr>
            <a:r>
              <a:rPr lang="es-MX"/>
              <a:t>Colocación de manillas en cajas por visión artificial.</a:t>
            </a:r>
            <a:endParaRPr/>
          </a:p>
          <a:p>
            <a:pPr marL="685800" lvl="1" indent="-228600" algn="just" rtl="0">
              <a:lnSpc>
                <a:spcPct val="120000"/>
              </a:lnSpc>
              <a:spcBef>
                <a:spcPts val="500"/>
              </a:spcBef>
              <a:spcAft>
                <a:spcPts val="0"/>
              </a:spcAft>
              <a:buSzPts val="1800"/>
              <a:buChar char="•"/>
            </a:pPr>
            <a:r>
              <a:rPr lang="es-MX"/>
              <a:t>Taxi automatizado (similar al conductor humano).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275f463207b_0_1"/>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202" name="Google Shape;202;g275f463207b_0_1"/>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203" name="Google Shape;203;g275f463207b_0_1"/>
          <p:cNvPicPr preferRelativeResize="0"/>
          <p:nvPr/>
        </p:nvPicPr>
        <p:blipFill rotWithShape="1">
          <a:blip r:embed="rId3">
            <a:alphaModFix/>
          </a:blip>
          <a:srcRect/>
          <a:stretch/>
        </p:blipFill>
        <p:spPr>
          <a:xfrm>
            <a:off x="2999963" y="2595576"/>
            <a:ext cx="6192074" cy="1824250"/>
          </a:xfrm>
          <a:prstGeom prst="rect">
            <a:avLst/>
          </a:prstGeom>
          <a:noFill/>
          <a:ln>
            <a:noFill/>
          </a:ln>
        </p:spPr>
      </p:pic>
      <p:pic>
        <p:nvPicPr>
          <p:cNvPr id="204" name="Google Shape;204;g275f463207b_0_1"/>
          <p:cNvPicPr preferRelativeResize="0"/>
          <p:nvPr/>
        </p:nvPicPr>
        <p:blipFill rotWithShape="1">
          <a:blip r:embed="rId4">
            <a:alphaModFix/>
          </a:blip>
          <a:srcRect/>
          <a:stretch/>
        </p:blipFill>
        <p:spPr>
          <a:xfrm>
            <a:off x="6786975" y="3782800"/>
            <a:ext cx="935550" cy="190500"/>
          </a:xfrm>
          <a:prstGeom prst="rect">
            <a:avLst/>
          </a:prstGeom>
          <a:noFill/>
          <a:ln>
            <a:noFill/>
          </a:ln>
        </p:spPr>
      </p:pic>
      <p:pic>
        <p:nvPicPr>
          <p:cNvPr id="205" name="Google Shape;205;g275f463207b_0_1"/>
          <p:cNvPicPr preferRelativeResize="0"/>
          <p:nvPr/>
        </p:nvPicPr>
        <p:blipFill rotWithShape="1">
          <a:blip r:embed="rId4">
            <a:alphaModFix/>
          </a:blip>
          <a:srcRect/>
          <a:stretch/>
        </p:blipFill>
        <p:spPr>
          <a:xfrm>
            <a:off x="7201650" y="3645775"/>
            <a:ext cx="520875" cy="19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275f463207b_0_7"/>
          <p:cNvSpPr txBox="1">
            <a:spLocks noGrp="1"/>
          </p:cNvSpPr>
          <p:nvPr>
            <p:ph type="title"/>
          </p:nvPr>
        </p:nvSpPr>
        <p:spPr>
          <a:xfrm>
            <a:off x="1451579" y="46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211" name="Google Shape;211;g275f463207b_0_7"/>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212" name="Google Shape;212;g275f463207b_0_7"/>
          <p:cNvPicPr preferRelativeResize="0"/>
          <p:nvPr/>
        </p:nvPicPr>
        <p:blipFill rotWithShape="1">
          <a:blip r:embed="rId3">
            <a:alphaModFix/>
          </a:blip>
          <a:srcRect/>
          <a:stretch/>
        </p:blipFill>
        <p:spPr>
          <a:xfrm>
            <a:off x="3334700" y="1450399"/>
            <a:ext cx="5253224" cy="4532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218" name="Google Shape;218;p15"/>
          <p:cNvSpPr txBox="1">
            <a:spLocks noGrp="1"/>
          </p:cNvSpPr>
          <p:nvPr>
            <p:ph type="body" idx="1"/>
          </p:nvPr>
        </p:nvSpPr>
        <p:spPr>
          <a:xfrm>
            <a:off x="1451575" y="2015724"/>
            <a:ext cx="9603300" cy="381270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just" rtl="0">
              <a:lnSpc>
                <a:spcPct val="120000"/>
              </a:lnSpc>
              <a:spcBef>
                <a:spcPts val="0"/>
              </a:spcBef>
              <a:spcAft>
                <a:spcPts val="0"/>
              </a:spcAft>
              <a:buSzPct val="100000"/>
              <a:buChar char="•"/>
            </a:pPr>
            <a:r>
              <a:rPr lang="es-MX"/>
              <a:t>Propiedades de los entornos de trabajo:</a:t>
            </a:r>
            <a:endParaRPr/>
          </a:p>
          <a:p>
            <a:pPr marL="685800" lvl="1" indent="-228600" algn="just" rtl="0">
              <a:lnSpc>
                <a:spcPct val="120000"/>
              </a:lnSpc>
              <a:spcBef>
                <a:spcPts val="500"/>
              </a:spcBef>
              <a:spcAft>
                <a:spcPts val="0"/>
              </a:spcAft>
              <a:buSzPct val="100000"/>
              <a:buChar char="•"/>
            </a:pPr>
            <a:r>
              <a:rPr lang="es-MX" b="1"/>
              <a:t>Totalmente observable Vs Parcialmente observable:</a:t>
            </a:r>
            <a:r>
              <a:rPr lang="es-MX"/>
              <a:t> Este ítem se relaciona con los </a:t>
            </a:r>
            <a:r>
              <a:rPr lang="es-MX" b="1"/>
              <a:t>sensores </a:t>
            </a:r>
            <a:r>
              <a:rPr lang="es-MX"/>
              <a:t>del agente y su </a:t>
            </a:r>
            <a:r>
              <a:rPr lang="es-MX" b="1"/>
              <a:t>capacidad </a:t>
            </a:r>
            <a:r>
              <a:rPr lang="es-MX"/>
              <a:t>para brindarle </a:t>
            </a:r>
            <a:r>
              <a:rPr lang="es-MX" b="1"/>
              <a:t>percepciones del medio en cada momento,</a:t>
            </a:r>
            <a:r>
              <a:rPr lang="es-MX"/>
              <a:t> ahí se menciona que es observable, si por el contrario el agente no tiene los suficientes sensores para comprender su medio, es parcialmente observable debido al </a:t>
            </a:r>
            <a:r>
              <a:rPr lang="es-MX" b="1"/>
              <a:t>ruido </a:t>
            </a:r>
            <a:r>
              <a:rPr lang="es-MX"/>
              <a:t>u otro </a:t>
            </a:r>
            <a:r>
              <a:rPr lang="es-MX" b="1"/>
              <a:t>factor </a:t>
            </a:r>
            <a:r>
              <a:rPr lang="es-MX"/>
              <a:t>lo afecta es más dispendioso que logre su objetivo. </a:t>
            </a:r>
            <a:endParaRPr/>
          </a:p>
          <a:p>
            <a:pPr marL="685800" lvl="1" indent="-228600" algn="just" rtl="0">
              <a:lnSpc>
                <a:spcPct val="120000"/>
              </a:lnSpc>
              <a:spcBef>
                <a:spcPts val="500"/>
              </a:spcBef>
              <a:spcAft>
                <a:spcPts val="0"/>
              </a:spcAft>
              <a:buSzPct val="100000"/>
              <a:buChar char="•"/>
            </a:pPr>
            <a:r>
              <a:rPr lang="es-MX" b="1"/>
              <a:t>Determinista vs. Estocástico:</a:t>
            </a:r>
            <a:r>
              <a:rPr lang="es-MX"/>
              <a:t> Este aspecto se refiere a si es posible que el entorno del agente cambie y éste sea capaz de predecirlo. Si el </a:t>
            </a:r>
            <a:r>
              <a:rPr lang="es-MX" b="1"/>
              <a:t>siguiente estado</a:t>
            </a:r>
            <a:r>
              <a:rPr lang="es-MX"/>
              <a:t> del medio </a:t>
            </a:r>
            <a:r>
              <a:rPr lang="es-MX" b="1"/>
              <a:t>cambia </a:t>
            </a:r>
            <a:r>
              <a:rPr lang="es-MX"/>
              <a:t>y es </a:t>
            </a:r>
            <a:r>
              <a:rPr lang="es-MX" b="1"/>
              <a:t>determinado </a:t>
            </a:r>
            <a:r>
              <a:rPr lang="es-MX"/>
              <a:t>por el agente entonces se dice que es determinista, si por el contrario </a:t>
            </a:r>
            <a:r>
              <a:rPr lang="es-MX" b="1"/>
              <a:t>no lo prevé es estocástico. </a:t>
            </a:r>
            <a:r>
              <a:rPr lang="es-MX"/>
              <a:t>En el ejemplo del agente que debe poner las manijas a las </a:t>
            </a:r>
            <a:r>
              <a:rPr lang="es-MX" b="1"/>
              <a:t>cajas</a:t>
            </a:r>
            <a:r>
              <a:rPr lang="es-MX"/>
              <a:t>, si al cambiar de posición, de lugar y de caja el agente logra predecirlo es un medio determinista, si no lo logra será estocástico. </a:t>
            </a:r>
            <a:endParaRPr/>
          </a:p>
          <a:p>
            <a:pPr marL="0" lvl="0" indent="0" algn="just" rtl="0">
              <a:lnSpc>
                <a:spcPct val="120000"/>
              </a:lnSpc>
              <a:spcBef>
                <a:spcPts val="1000"/>
              </a:spcBef>
              <a:spcAft>
                <a:spcPts val="0"/>
              </a:spcAft>
              <a:buSzPct val="1000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22"/>
        <p:cNvGrpSpPr/>
        <p:nvPr/>
      </p:nvGrpSpPr>
      <p:grpSpPr>
        <a:xfrm>
          <a:off x="0" y="0"/>
          <a:ext cx="0" cy="0"/>
          <a:chOff x="0" y="0"/>
          <a:chExt cx="0" cy="0"/>
        </a:xfrm>
      </p:grpSpPr>
      <p:sp>
        <p:nvSpPr>
          <p:cNvPr id="223" name="Google Shape;223;p16"/>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224" name="Google Shape;224;p16"/>
          <p:cNvSpPr txBox="1">
            <a:spLocks noGrp="1"/>
          </p:cNvSpPr>
          <p:nvPr>
            <p:ph type="body" idx="1"/>
          </p:nvPr>
        </p:nvSpPr>
        <p:spPr>
          <a:xfrm>
            <a:off x="1451575" y="2015724"/>
            <a:ext cx="9603300" cy="3977700"/>
          </a:xfrm>
          <a:prstGeom prst="rect">
            <a:avLst/>
          </a:prstGeom>
          <a:noFill/>
          <a:ln>
            <a:noFill/>
          </a:ln>
        </p:spPr>
        <p:txBody>
          <a:bodyPr spcFirstLastPara="1" wrap="square" lIns="91425" tIns="45700" rIns="91425" bIns="45700" anchor="t" anchorCtr="0">
            <a:normAutofit fontScale="92500" lnSpcReduction="20000"/>
          </a:bodyPr>
          <a:lstStyle/>
          <a:p>
            <a:pPr marL="228600" lvl="0" indent="-219075" algn="just" rtl="0">
              <a:lnSpc>
                <a:spcPct val="120000"/>
              </a:lnSpc>
              <a:spcBef>
                <a:spcPts val="0"/>
              </a:spcBef>
              <a:spcAft>
                <a:spcPts val="0"/>
              </a:spcAft>
              <a:buSzPct val="100000"/>
              <a:buChar char="•"/>
            </a:pPr>
            <a:r>
              <a:rPr lang="es-MX"/>
              <a:t>Propiedades de los entornos de trabajo:</a:t>
            </a:r>
            <a:endParaRPr/>
          </a:p>
          <a:p>
            <a:pPr marL="685800" lvl="1" indent="-220026" algn="just" rtl="0">
              <a:lnSpc>
                <a:spcPct val="120000"/>
              </a:lnSpc>
              <a:spcBef>
                <a:spcPts val="500"/>
              </a:spcBef>
              <a:spcAft>
                <a:spcPts val="0"/>
              </a:spcAft>
              <a:buSzPct val="100000"/>
              <a:buChar char="•"/>
            </a:pPr>
            <a:r>
              <a:rPr lang="es-MX" b="1"/>
              <a:t>Episódico vs. Secuencial</a:t>
            </a:r>
            <a:r>
              <a:rPr lang="es-MX"/>
              <a:t>: En un entorno de trabajo episódico, la experiencia del agente se divide en episodios atómicos. Cada episodio consiste en la percepción del agente y la realización de una única acción posterior. Es muy importante tener en cuenta que </a:t>
            </a:r>
            <a:r>
              <a:rPr lang="es-MX" b="1"/>
              <a:t>el siguiente episodio no depende de las acciones que se realizaron en episodios previos</a:t>
            </a:r>
            <a:r>
              <a:rPr lang="es-MX"/>
              <a:t>. (Un agente que tenga que seleccionar partes defectuosas en una cadena de montaje). En entornos secuenciales, por otro lado, </a:t>
            </a:r>
            <a:r>
              <a:rPr lang="es-MX" b="1"/>
              <a:t>la decisión presente puede afectar a decisiones futuras</a:t>
            </a:r>
            <a:r>
              <a:rPr lang="es-MX"/>
              <a:t>. (El ajedrez y el taxista).</a:t>
            </a:r>
            <a:endParaRPr/>
          </a:p>
          <a:p>
            <a:pPr marL="685800" lvl="1" indent="-220026" algn="just" rtl="0">
              <a:lnSpc>
                <a:spcPct val="120000"/>
              </a:lnSpc>
              <a:spcBef>
                <a:spcPts val="500"/>
              </a:spcBef>
              <a:spcAft>
                <a:spcPts val="0"/>
              </a:spcAft>
              <a:buSzPct val="100000"/>
              <a:buChar char="•"/>
            </a:pPr>
            <a:r>
              <a:rPr lang="es-MX" b="1"/>
              <a:t>Estático vs. Dinámico</a:t>
            </a:r>
            <a:r>
              <a:rPr lang="es-MX"/>
              <a:t>: Si el agente logra </a:t>
            </a:r>
            <a:r>
              <a:rPr lang="es-MX" b="1"/>
              <a:t>deliberar </a:t>
            </a:r>
            <a:r>
              <a:rPr lang="es-MX"/>
              <a:t>cuando un </a:t>
            </a:r>
            <a:r>
              <a:rPr lang="es-MX" b="1"/>
              <a:t>ambiente está en cambio</a:t>
            </a:r>
            <a:r>
              <a:rPr lang="es-MX"/>
              <a:t> se considera que es dinámico, por ejemplo, el taxi es un agente dinámico pues tanto él como los demás autos están en movimiento, ahora, si por el contrario </a:t>
            </a:r>
            <a:r>
              <a:rPr lang="es-MX" b="1"/>
              <a:t>no necesita deliberar</a:t>
            </a:r>
            <a:r>
              <a:rPr lang="es-MX"/>
              <a:t> cuando el ambiente esté en cambio se considera </a:t>
            </a:r>
            <a:r>
              <a:rPr lang="es-MX" b="1"/>
              <a:t>estático</a:t>
            </a:r>
            <a:r>
              <a:rPr lang="es-MX"/>
              <a:t>. Ahora, si el ambiente no cambia, pero el agente está en constante evolución se considera un ambiente </a:t>
            </a:r>
            <a:r>
              <a:rPr lang="es-MX" b="1"/>
              <a:t>semidinámico</a:t>
            </a:r>
            <a:r>
              <a:rPr lang="es-MX"/>
              <a:t>, como el ajedrez.</a:t>
            </a:r>
            <a:endParaRPr/>
          </a:p>
          <a:p>
            <a:pPr marL="0" lvl="0" indent="0" algn="just" rtl="0">
              <a:lnSpc>
                <a:spcPct val="120000"/>
              </a:lnSpc>
              <a:spcBef>
                <a:spcPts val="1000"/>
              </a:spcBef>
              <a:spcAft>
                <a:spcPts val="0"/>
              </a:spcAft>
              <a:buSzPct val="1000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7"/>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230" name="Google Shape;230;p17"/>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lnSpcReduction="20000"/>
          </a:bodyPr>
          <a:lstStyle/>
          <a:p>
            <a:pPr marL="228600" lvl="0" indent="-228600" algn="just" rtl="0">
              <a:lnSpc>
                <a:spcPct val="120000"/>
              </a:lnSpc>
              <a:spcBef>
                <a:spcPts val="0"/>
              </a:spcBef>
              <a:spcAft>
                <a:spcPts val="0"/>
              </a:spcAft>
              <a:buSzPts val="2000"/>
              <a:buChar char="•"/>
            </a:pPr>
            <a:r>
              <a:rPr lang="es-MX"/>
              <a:t>Propiedades de los entornos de trabajo:</a:t>
            </a:r>
            <a:endParaRPr/>
          </a:p>
          <a:p>
            <a:pPr marL="685800" lvl="1" indent="-228600" algn="just" rtl="0">
              <a:lnSpc>
                <a:spcPct val="120000"/>
              </a:lnSpc>
              <a:spcBef>
                <a:spcPts val="500"/>
              </a:spcBef>
              <a:spcAft>
                <a:spcPts val="0"/>
              </a:spcAft>
              <a:buSzPts val="1800"/>
              <a:buChar char="•"/>
            </a:pPr>
            <a:r>
              <a:rPr lang="es-MX" b="1"/>
              <a:t>Discreto vs Continúo</a:t>
            </a:r>
            <a:r>
              <a:rPr lang="es-MX"/>
              <a:t>: Este ítem se relaciona con el </a:t>
            </a:r>
            <a:r>
              <a:rPr lang="es-MX" b="1"/>
              <a:t>tiempo</a:t>
            </a:r>
            <a:r>
              <a:rPr lang="es-MX"/>
              <a:t>, las percepciones y acciones del agente. El agente discreto tiene un </a:t>
            </a:r>
            <a:r>
              <a:rPr lang="es-MX" b="1"/>
              <a:t>número finito de estados</a:t>
            </a:r>
            <a:r>
              <a:rPr lang="es-MX"/>
              <a:t> distintos, como el juego del ajedrez, mientras que el </a:t>
            </a:r>
            <a:r>
              <a:rPr lang="es-MX" b="1"/>
              <a:t>continúo no es posible enumerar los estados</a:t>
            </a:r>
            <a:r>
              <a:rPr lang="es-MX"/>
              <a:t>, lo que sucede con el ejemplo del taxi. </a:t>
            </a:r>
            <a:endParaRPr/>
          </a:p>
          <a:p>
            <a:pPr marL="685800" lvl="1" indent="-228600" algn="just" rtl="0">
              <a:lnSpc>
                <a:spcPct val="120000"/>
              </a:lnSpc>
              <a:spcBef>
                <a:spcPts val="500"/>
              </a:spcBef>
              <a:spcAft>
                <a:spcPts val="0"/>
              </a:spcAft>
              <a:buSzPts val="1800"/>
              <a:buChar char="•"/>
            </a:pPr>
            <a:r>
              <a:rPr lang="es-MX" b="1"/>
              <a:t>Agente individual Vs Multiagente:</a:t>
            </a:r>
            <a:r>
              <a:rPr lang="es-MX"/>
              <a:t>  Un agente individual es aquel que </a:t>
            </a:r>
            <a:r>
              <a:rPr lang="es-MX" b="1"/>
              <a:t>no requiere de otro para solucionar un conflicto</a:t>
            </a:r>
            <a:r>
              <a:rPr lang="es-MX"/>
              <a:t>, como resolver un crucigrama, el </a:t>
            </a:r>
            <a:r>
              <a:rPr lang="es-MX" b="1"/>
              <a:t>multiagente </a:t>
            </a:r>
            <a:r>
              <a:rPr lang="es-MX"/>
              <a:t>se refiere a que el agente </a:t>
            </a:r>
            <a:r>
              <a:rPr lang="es-MX" b="1"/>
              <a:t>requiere de trabajar con otros</a:t>
            </a:r>
            <a:r>
              <a:rPr lang="es-MX"/>
              <a:t> para cumplir la actividad determinada, como el taxi. Los entornos multiagentes pueden ser competitivos o cooperativos.</a:t>
            </a:r>
            <a:endParaRPr/>
          </a:p>
          <a:p>
            <a:pPr marL="0" lvl="0" indent="0" algn="just" rtl="0">
              <a:lnSpc>
                <a:spcPct val="120000"/>
              </a:lnSpc>
              <a:spcBef>
                <a:spcPts val="1000"/>
              </a:spcBef>
              <a:spcAft>
                <a:spcPts val="0"/>
              </a:spcAft>
              <a:buSzPts val="20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34"/>
        <p:cNvGrpSpPr/>
        <p:nvPr/>
      </p:nvGrpSpPr>
      <p:grpSpPr>
        <a:xfrm>
          <a:off x="0" y="0"/>
          <a:ext cx="0" cy="0"/>
          <a:chOff x="0" y="0"/>
          <a:chExt cx="0" cy="0"/>
        </a:xfrm>
      </p:grpSpPr>
      <p:sp>
        <p:nvSpPr>
          <p:cNvPr id="235" name="Google Shape;235;p18"/>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MEDIDAS DE RENDIMIENTO DE AGENTES INTELIGENTES</a:t>
            </a:r>
            <a:endParaRPr/>
          </a:p>
        </p:txBody>
      </p:sp>
      <p:sp>
        <p:nvSpPr>
          <p:cNvPr id="236" name="Google Shape;236;p18"/>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a:t>Propiedades de los entornos de trabajo:</a:t>
            </a: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237" name="Google Shape;237;p18"/>
          <p:cNvPicPr preferRelativeResize="0"/>
          <p:nvPr/>
        </p:nvPicPr>
        <p:blipFill rotWithShape="1">
          <a:blip r:embed="rId3">
            <a:alphaModFix/>
          </a:blip>
          <a:srcRect l="14644" t="20078" r="16083" b="31615"/>
          <a:stretch/>
        </p:blipFill>
        <p:spPr>
          <a:xfrm>
            <a:off x="2758750" y="2552800"/>
            <a:ext cx="6609903" cy="2913550"/>
          </a:xfrm>
          <a:prstGeom prst="rect">
            <a:avLst/>
          </a:prstGeom>
          <a:noFill/>
          <a:ln>
            <a:noFill/>
          </a:ln>
        </p:spPr>
      </p:pic>
      <p:pic>
        <p:nvPicPr>
          <p:cNvPr id="238" name="Google Shape;238;p18"/>
          <p:cNvPicPr preferRelativeResize="0"/>
          <p:nvPr/>
        </p:nvPicPr>
        <p:blipFill rotWithShape="1">
          <a:blip r:embed="rId4">
            <a:alphaModFix/>
          </a:blip>
          <a:srcRect/>
          <a:stretch/>
        </p:blipFill>
        <p:spPr>
          <a:xfrm>
            <a:off x="5342625" y="3409575"/>
            <a:ext cx="734550" cy="195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AGENTES QUE NO SE PUEDEN MATERIALIZAR</a:t>
            </a:r>
            <a:endParaRPr/>
          </a:p>
        </p:txBody>
      </p:sp>
      <p:sp>
        <p:nvSpPr>
          <p:cNvPr id="244" name="Google Shape;244;p19"/>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a:t>Ningún agente físico en el universo está en capacidad de almacenamiento requerido en este enfoque.</a:t>
            </a:r>
            <a:endParaRPr/>
          </a:p>
          <a:p>
            <a:pPr marL="228600" lvl="0" indent="-228600" algn="just" rtl="0">
              <a:lnSpc>
                <a:spcPct val="120000"/>
              </a:lnSpc>
              <a:spcBef>
                <a:spcPts val="1000"/>
              </a:spcBef>
              <a:spcAft>
                <a:spcPts val="0"/>
              </a:spcAft>
              <a:buSzPts val="2000"/>
              <a:buChar char="•"/>
            </a:pPr>
            <a:r>
              <a:rPr lang="es-MX"/>
              <a:t>El diseñador no tendrá tiempo para crear la tabla.</a:t>
            </a:r>
            <a:endParaRPr/>
          </a:p>
          <a:p>
            <a:pPr marL="228600" lvl="0" indent="-228600" algn="just" rtl="0">
              <a:lnSpc>
                <a:spcPct val="120000"/>
              </a:lnSpc>
              <a:spcBef>
                <a:spcPts val="1000"/>
              </a:spcBef>
              <a:spcAft>
                <a:spcPts val="0"/>
              </a:spcAft>
              <a:buSzPts val="2000"/>
              <a:buChar char="•"/>
            </a:pPr>
            <a:r>
              <a:rPr lang="es-MX"/>
              <a:t>Ningún agente podría aprender todas las entradas correctas de la tabla de apreciaciones o experiencia.</a:t>
            </a:r>
            <a:endParaRPr/>
          </a:p>
          <a:p>
            <a:pPr marL="228600" lvl="0" indent="-228600" algn="just" rtl="0">
              <a:lnSpc>
                <a:spcPct val="120000"/>
              </a:lnSpc>
              <a:spcBef>
                <a:spcPts val="1000"/>
              </a:spcBef>
              <a:spcAft>
                <a:spcPts val="0"/>
              </a:spcAft>
              <a:buSzPts val="2000"/>
              <a:buChar char="•"/>
            </a:pPr>
            <a:r>
              <a:rPr lang="es-MX"/>
              <a:t>Incluso si el entorno es lo suficientemente simple como para producir un tamaño de tabla factible, el diseñador aún no tiene orientación sobre cómo completar las entradas de la tabla.</a:t>
            </a: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a:t>
            </a:r>
            <a:endParaRPr/>
          </a:p>
        </p:txBody>
      </p:sp>
      <p:sp>
        <p:nvSpPr>
          <p:cNvPr id="250" name="Google Shape;250;p20"/>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a:t>Reactivo.</a:t>
            </a: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251" name="Google Shape;251;p20"/>
          <p:cNvPicPr preferRelativeResize="0"/>
          <p:nvPr/>
        </p:nvPicPr>
        <p:blipFill rotWithShape="1">
          <a:blip r:embed="rId3">
            <a:alphaModFix/>
          </a:blip>
          <a:srcRect/>
          <a:stretch/>
        </p:blipFill>
        <p:spPr>
          <a:xfrm>
            <a:off x="3126674" y="2642402"/>
            <a:ext cx="5938652" cy="25954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275f463207b_0_15"/>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REACTIVO</a:t>
            </a:r>
            <a:endParaRPr/>
          </a:p>
        </p:txBody>
      </p:sp>
      <p:sp>
        <p:nvSpPr>
          <p:cNvPr id="257" name="Google Shape;257;g275f463207b_0_15"/>
          <p:cNvSpPr txBox="1">
            <a:spLocks noGrp="1"/>
          </p:cNvSpPr>
          <p:nvPr>
            <p:ph type="body" idx="1"/>
          </p:nvPr>
        </p:nvSpPr>
        <p:spPr>
          <a:xfrm>
            <a:off x="1451575" y="2015725"/>
            <a:ext cx="8408100" cy="3450600"/>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20000"/>
              </a:lnSpc>
              <a:spcBef>
                <a:spcPts val="0"/>
              </a:spcBef>
              <a:spcAft>
                <a:spcPts val="0"/>
              </a:spcAft>
              <a:buSzPts val="1800"/>
              <a:buChar char="•"/>
            </a:pPr>
            <a:r>
              <a:rPr lang="es-MX"/>
              <a:t>Son los agentes más simples que se pueden encontrar en la literatura y práctica, dado que toman decisiones a partir de las percepciones que estos obtienen de su entorno inmediatamente, a través de los sensores con los que este cuente.</a:t>
            </a:r>
            <a:endParaRPr/>
          </a:p>
          <a:p>
            <a:pPr marL="228600" lvl="0" indent="-215900" algn="just" rtl="0">
              <a:lnSpc>
                <a:spcPct val="120000"/>
              </a:lnSpc>
              <a:spcBef>
                <a:spcPts val="0"/>
              </a:spcBef>
              <a:spcAft>
                <a:spcPts val="0"/>
              </a:spcAft>
              <a:buSzPts val="1800"/>
              <a:buChar char="•"/>
            </a:pPr>
            <a:r>
              <a:rPr lang="es-MX"/>
              <a:t>Este tipo de agentes se basa en la regla de </a:t>
            </a:r>
            <a:r>
              <a:rPr lang="es-MX" b="1" i="1"/>
              <a:t>condición – acción</a:t>
            </a:r>
            <a:r>
              <a:rPr lang="es-MX"/>
              <a:t>, que enuncia que para cierta percepción del entorno que esté contemplada por alguna condición se desencadenará una acción a modo de respuesta a la misma, pudiéndose observar como las reglas del agente. Por ejemplo:  En el caso  de aplicación del taxi automatizado,  si  el coche de al frente está frenando luego iniciar el frenado.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275f463207b_0_29"/>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REACTIVO</a:t>
            </a:r>
            <a:endParaRPr/>
          </a:p>
        </p:txBody>
      </p:sp>
      <p:sp>
        <p:nvSpPr>
          <p:cNvPr id="263" name="Google Shape;263;g275f463207b_0_29"/>
          <p:cNvSpPr txBox="1">
            <a:spLocks noGrp="1"/>
          </p:cNvSpPr>
          <p:nvPr>
            <p:ph type="body" idx="1"/>
          </p:nvPr>
        </p:nvSpPr>
        <p:spPr>
          <a:xfrm>
            <a:off x="1451575" y="2015725"/>
            <a:ext cx="8408100" cy="3450600"/>
          </a:xfrm>
          <a:prstGeom prst="rect">
            <a:avLst/>
          </a:prstGeom>
          <a:noFill/>
          <a:ln>
            <a:noFill/>
          </a:ln>
        </p:spPr>
        <p:txBody>
          <a:bodyPr spcFirstLastPara="1" wrap="square" lIns="91425" tIns="45700" rIns="91425" bIns="45700" anchor="t" anchorCtr="0">
            <a:normAutofit fontScale="92500" lnSpcReduction="10000"/>
          </a:bodyPr>
          <a:lstStyle/>
          <a:p>
            <a:pPr marL="228600" lvl="0" indent="-207327" algn="just" rtl="0">
              <a:lnSpc>
                <a:spcPct val="120000"/>
              </a:lnSpc>
              <a:spcBef>
                <a:spcPts val="0"/>
              </a:spcBef>
              <a:spcAft>
                <a:spcPts val="0"/>
              </a:spcAft>
              <a:buSzPct val="90000"/>
              <a:buChar char="•"/>
            </a:pPr>
            <a:r>
              <a:rPr lang="es-MX"/>
              <a:t>Este tipo de agente cuenta con una inteligencia limitada, dado que al basarse en la percepción actual del entorno o de un solo instante, puede que no se alcance a interpretar correctamente el estado del mismo incurriendo en posibles fallas.</a:t>
            </a:r>
            <a:endParaRPr/>
          </a:p>
          <a:p>
            <a:pPr marL="228600" lvl="0" indent="-207327" algn="just" rtl="0">
              <a:lnSpc>
                <a:spcPct val="120000"/>
              </a:lnSpc>
              <a:spcBef>
                <a:spcPts val="0"/>
              </a:spcBef>
              <a:spcAft>
                <a:spcPts val="0"/>
              </a:spcAft>
              <a:buSzPct val="90000"/>
              <a:buChar char="•"/>
            </a:pPr>
            <a:r>
              <a:rPr lang="es-MX"/>
              <a:t>Ejemplos:</a:t>
            </a:r>
            <a:endParaRPr/>
          </a:p>
          <a:p>
            <a:pPr marL="685800" lvl="1" indent="-220026" algn="just" rtl="0">
              <a:lnSpc>
                <a:spcPct val="120000"/>
              </a:lnSpc>
              <a:spcBef>
                <a:spcPts val="0"/>
              </a:spcBef>
              <a:spcAft>
                <a:spcPts val="0"/>
              </a:spcAft>
              <a:buSzPct val="100000"/>
              <a:buChar char="•"/>
            </a:pPr>
            <a:r>
              <a:rPr lang="es-MX"/>
              <a:t>Industria alimentaria: Decisión si un producto es de tipo A o B, manipulando su recorrido para clasificación correcta (Un dulce pertenece a una categoría u otra).</a:t>
            </a:r>
            <a:endParaRPr/>
          </a:p>
          <a:p>
            <a:pPr marL="685800" lvl="1" indent="-220026" algn="just" rtl="0">
              <a:lnSpc>
                <a:spcPct val="120000"/>
              </a:lnSpc>
              <a:spcBef>
                <a:spcPts val="0"/>
              </a:spcBef>
              <a:spcAft>
                <a:spcPts val="0"/>
              </a:spcAft>
              <a:buSzPct val="100000"/>
              <a:buChar char="•"/>
            </a:pPr>
            <a:r>
              <a:rPr lang="es-MX"/>
              <a:t>Aspiradora automatizada: Si hay polvo aspira, si no se desplaza aleatoriamente.</a:t>
            </a:r>
            <a:endParaRPr/>
          </a:p>
          <a:p>
            <a:pPr marL="685800" lvl="1" indent="-220026" algn="just" rtl="0">
              <a:lnSpc>
                <a:spcPct val="120000"/>
              </a:lnSpc>
              <a:spcBef>
                <a:spcPts val="0"/>
              </a:spcBef>
              <a:spcAft>
                <a:spcPts val="0"/>
              </a:spcAft>
              <a:buSzPct val="100000"/>
              <a:buChar char="•"/>
            </a:pPr>
            <a:r>
              <a:rPr lang="es-MX"/>
              <a:t>Vehículos de Braitenberg: Vehículos que emulan un comportamiento inteligente, a partir de un sensor de luz, dependiendo de la programación unos se aproximan y otros se alejan a una fuente de luz.</a:t>
            </a:r>
            <a:endParaRPr/>
          </a:p>
          <a:p>
            <a:pPr marL="0" lvl="0" indent="0" algn="just" rtl="0">
              <a:lnSpc>
                <a:spcPct val="120000"/>
              </a:lnSpc>
              <a:spcBef>
                <a:spcPts val="0"/>
              </a:spcBef>
              <a:spcAft>
                <a:spcPts val="0"/>
              </a:spcAft>
              <a:buSzPct val="97297"/>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a:t>
            </a:r>
            <a:endParaRPr/>
          </a:p>
        </p:txBody>
      </p:sp>
      <p:sp>
        <p:nvSpPr>
          <p:cNvPr id="269" name="Google Shape;269;p21"/>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lnSpcReduction="20000"/>
          </a:bodyPr>
          <a:lstStyle/>
          <a:p>
            <a:pPr marL="228600" lvl="0" indent="-228600" algn="just" rtl="0">
              <a:lnSpc>
                <a:spcPct val="120000"/>
              </a:lnSpc>
              <a:spcBef>
                <a:spcPts val="0"/>
              </a:spcBef>
              <a:spcAft>
                <a:spcPts val="0"/>
              </a:spcAft>
              <a:buSzPts val="2000"/>
              <a:buChar char="•"/>
            </a:pPr>
            <a:r>
              <a:rPr lang="es-MX"/>
              <a:t>Basados en modelos.</a:t>
            </a:r>
            <a:endParaRPr/>
          </a:p>
          <a:p>
            <a:pPr marL="228600" lvl="0" indent="-10160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270" name="Google Shape;270;p21"/>
          <p:cNvPicPr preferRelativeResize="0"/>
          <p:nvPr/>
        </p:nvPicPr>
        <p:blipFill rotWithShape="1">
          <a:blip r:embed="rId3">
            <a:alphaModFix/>
          </a:blip>
          <a:srcRect b="10266"/>
          <a:stretch/>
        </p:blipFill>
        <p:spPr>
          <a:xfrm>
            <a:off x="3084789" y="2604591"/>
            <a:ext cx="6336853" cy="286175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275f463207b_0_37"/>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BASADO EN MODELOS</a:t>
            </a:r>
            <a:endParaRPr/>
          </a:p>
        </p:txBody>
      </p:sp>
      <p:sp>
        <p:nvSpPr>
          <p:cNvPr id="276" name="Google Shape;276;g275f463207b_0_37"/>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20000"/>
              </a:lnSpc>
              <a:spcBef>
                <a:spcPts val="1000"/>
              </a:spcBef>
              <a:spcAft>
                <a:spcPts val="0"/>
              </a:spcAft>
              <a:buSzPct val="100000"/>
              <a:buNone/>
            </a:pPr>
            <a:r>
              <a:rPr lang="es-MX"/>
              <a:t>Para poder comprender el mundo  o entorno del agente de una manera parcialmente histórica a comparación del agente reactivo, nace el concepto de </a:t>
            </a:r>
            <a:r>
              <a:rPr lang="es-MX" b="1"/>
              <a:t>estado interno</a:t>
            </a:r>
            <a:r>
              <a:rPr lang="es-MX"/>
              <a:t> que almacena aspectos no observables por el agente en la percepción actual.</a:t>
            </a:r>
            <a:endParaRPr/>
          </a:p>
          <a:p>
            <a:pPr marL="0" lvl="0" indent="0" algn="just" rtl="0">
              <a:lnSpc>
                <a:spcPct val="120000"/>
              </a:lnSpc>
              <a:spcBef>
                <a:spcPts val="1000"/>
              </a:spcBef>
              <a:spcAft>
                <a:spcPts val="0"/>
              </a:spcAft>
              <a:buSzPct val="100000"/>
              <a:buNone/>
            </a:pPr>
            <a:r>
              <a:rPr lang="es-MX"/>
              <a:t>El estado interno debe </a:t>
            </a:r>
            <a:r>
              <a:rPr lang="es-MX" b="1"/>
              <a:t>almacenar </a:t>
            </a:r>
            <a:r>
              <a:rPr lang="es-MX"/>
              <a:t>y </a:t>
            </a:r>
            <a:r>
              <a:rPr lang="es-MX" b="1"/>
              <a:t>actualizar </a:t>
            </a:r>
            <a:r>
              <a:rPr lang="es-MX"/>
              <a:t>información a partir de dos perspectivas asociadas a la </a:t>
            </a:r>
            <a:r>
              <a:rPr lang="es-MX" b="1"/>
              <a:t>percepción </a:t>
            </a:r>
            <a:r>
              <a:rPr lang="es-MX"/>
              <a:t>y </a:t>
            </a:r>
            <a:r>
              <a:rPr lang="es-MX" b="1"/>
              <a:t>acción </a:t>
            </a:r>
            <a:r>
              <a:rPr lang="es-MX"/>
              <a:t>del </a:t>
            </a:r>
            <a:r>
              <a:rPr lang="es-MX" b="1"/>
              <a:t>agente.</a:t>
            </a:r>
            <a:endParaRPr b="1"/>
          </a:p>
          <a:p>
            <a:pPr marL="457200" lvl="0" indent="-334327" algn="just" rtl="0">
              <a:lnSpc>
                <a:spcPct val="120000"/>
              </a:lnSpc>
              <a:spcBef>
                <a:spcPts val="1000"/>
              </a:spcBef>
              <a:spcAft>
                <a:spcPts val="0"/>
              </a:spcAft>
              <a:buSzPct val="90000"/>
              <a:buChar char="•"/>
            </a:pPr>
            <a:r>
              <a:rPr lang="es-MX"/>
              <a:t>Cómo evoluciona el mundo independiente al agente. Por ejemplo: Cómo varía la posición de los carros detectados al frente del vehículo autónomo, independientemente a la acción que este ejecute.</a:t>
            </a:r>
            <a:endParaRPr/>
          </a:p>
          <a:p>
            <a:pPr marL="457200" lvl="0" indent="-334327" algn="just" rtl="0">
              <a:lnSpc>
                <a:spcPct val="120000"/>
              </a:lnSpc>
              <a:spcBef>
                <a:spcPts val="0"/>
              </a:spcBef>
              <a:spcAft>
                <a:spcPts val="0"/>
              </a:spcAft>
              <a:buSzPct val="90000"/>
              <a:buChar char="•"/>
            </a:pPr>
            <a:r>
              <a:rPr lang="es-MX"/>
              <a:t>Cómo las acciones en ejecución por parte del agente afectan el entorno. Por ejemplo: Si el agente gira el volante en sentido de las manecillas del reloj el vehículo se desplazará hacia la derecha.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275f463207b_0_52"/>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BASADO EN MODELOS</a:t>
            </a:r>
            <a:endParaRPr/>
          </a:p>
        </p:txBody>
      </p:sp>
      <p:sp>
        <p:nvSpPr>
          <p:cNvPr id="282" name="Google Shape;282;g275f463207b_0_52"/>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20000"/>
              </a:lnSpc>
              <a:spcBef>
                <a:spcPts val="1000"/>
              </a:spcBef>
              <a:spcAft>
                <a:spcPts val="0"/>
              </a:spcAft>
              <a:buClr>
                <a:schemeClr val="dk1"/>
              </a:buClr>
              <a:buSzPct val="55000"/>
              <a:buFont typeface="Arial"/>
              <a:buNone/>
            </a:pPr>
            <a:r>
              <a:rPr lang="es-MX"/>
              <a:t>Este tipo de agentes suele tener el modelo de cómo funciona el entorno del agente parcialmente, por lo que es importante el principio de </a:t>
            </a:r>
            <a:r>
              <a:rPr lang="es-MX" b="1" i="1"/>
              <a:t>mejor suposición del estado del entorno</a:t>
            </a:r>
            <a:r>
              <a:rPr lang="es-MX"/>
              <a:t>. </a:t>
            </a:r>
            <a:endParaRPr/>
          </a:p>
          <a:p>
            <a:pPr marL="0" lvl="0" indent="0" algn="just" rtl="0">
              <a:lnSpc>
                <a:spcPct val="120000"/>
              </a:lnSpc>
              <a:spcBef>
                <a:spcPts val="1000"/>
              </a:spcBef>
              <a:spcAft>
                <a:spcPts val="0"/>
              </a:spcAft>
              <a:buClr>
                <a:schemeClr val="dk1"/>
              </a:buClr>
              <a:buSzPct val="55000"/>
              <a:buFont typeface="Arial"/>
              <a:buNone/>
            </a:pPr>
            <a:r>
              <a:rPr lang="es-MX"/>
              <a:t>Por ejemplo: Si el taxi automatizado detecta un camión detenido al frente no puede inferir que puede estar ocasionando esta detención (trancón por un varado, estrellada o simplemente está estacionado por qué llegó a su sitio destino), simplemente puede tomar una decisión esperada (frenar).</a:t>
            </a:r>
            <a:endParaRPr/>
          </a:p>
          <a:p>
            <a:pPr marL="0" lvl="0" indent="0" algn="just" rtl="0">
              <a:lnSpc>
                <a:spcPct val="120000"/>
              </a:lnSpc>
              <a:spcBef>
                <a:spcPts val="1000"/>
              </a:spcBef>
              <a:spcAft>
                <a:spcPts val="0"/>
              </a:spcAft>
              <a:buSzPct val="100000"/>
              <a:buNone/>
            </a:pPr>
            <a:endParaRPr/>
          </a:p>
          <a:p>
            <a:pPr marL="0" lvl="0" indent="0" algn="just" rtl="0">
              <a:lnSpc>
                <a:spcPct val="120000"/>
              </a:lnSpc>
              <a:spcBef>
                <a:spcPts val="1000"/>
              </a:spcBef>
              <a:spcAft>
                <a:spcPts val="0"/>
              </a:spcAft>
              <a:buSzPct val="100000"/>
              <a:buNone/>
            </a:pPr>
            <a:endParaRPr/>
          </a:p>
          <a:p>
            <a:pPr marL="0" lvl="0" indent="0" algn="just" rtl="0">
              <a:lnSpc>
                <a:spcPct val="120000"/>
              </a:lnSpc>
              <a:spcBef>
                <a:spcPts val="1000"/>
              </a:spcBef>
              <a:spcAft>
                <a:spcPts val="0"/>
              </a:spcAft>
              <a:buSzPct val="1000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g275f463207b_0_59"/>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a:t>
            </a:r>
            <a:endParaRPr/>
          </a:p>
        </p:txBody>
      </p:sp>
      <p:sp>
        <p:nvSpPr>
          <p:cNvPr id="288" name="Google Shape;288;g275f463207b_0_59"/>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lnSpcReduction="20000"/>
          </a:bodyPr>
          <a:lstStyle/>
          <a:p>
            <a:pPr marL="228600" lvl="0" indent="-228600" algn="just" rtl="0">
              <a:lnSpc>
                <a:spcPct val="120000"/>
              </a:lnSpc>
              <a:spcBef>
                <a:spcPts val="0"/>
              </a:spcBef>
              <a:spcAft>
                <a:spcPts val="0"/>
              </a:spcAft>
              <a:buSzPts val="2000"/>
              <a:buChar char="•"/>
            </a:pPr>
            <a:r>
              <a:rPr lang="es-MX"/>
              <a:t>Basado en objetivos.</a:t>
            </a:r>
            <a:endParaRPr/>
          </a:p>
          <a:p>
            <a:pPr marL="228600" lvl="0" indent="-10160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289" name="Google Shape;289;g275f463207b_0_59"/>
          <p:cNvPicPr preferRelativeResize="0"/>
          <p:nvPr/>
        </p:nvPicPr>
        <p:blipFill rotWithShape="1">
          <a:blip r:embed="rId3">
            <a:alphaModFix/>
          </a:blip>
          <a:srcRect/>
          <a:stretch/>
        </p:blipFill>
        <p:spPr>
          <a:xfrm>
            <a:off x="3170861" y="2631224"/>
            <a:ext cx="6164710" cy="283512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BASADO EN OBJETIVOS</a:t>
            </a:r>
            <a:endParaRPr/>
          </a:p>
        </p:txBody>
      </p:sp>
      <p:sp>
        <p:nvSpPr>
          <p:cNvPr id="295" name="Google Shape;295;p22"/>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lnSpcReduction="20000"/>
          </a:bodyPr>
          <a:lstStyle/>
          <a:p>
            <a:pPr marL="0" lvl="0" indent="0" algn="just" rtl="0">
              <a:lnSpc>
                <a:spcPct val="120000"/>
              </a:lnSpc>
              <a:spcBef>
                <a:spcPts val="0"/>
              </a:spcBef>
              <a:spcAft>
                <a:spcPts val="0"/>
              </a:spcAft>
              <a:buSzPts val="1800"/>
              <a:buNone/>
            </a:pPr>
            <a:r>
              <a:rPr lang="es-MX"/>
              <a:t>Los agentes basados en </a:t>
            </a:r>
            <a:r>
              <a:rPr lang="es-MX" b="1"/>
              <a:t>objetivos </a:t>
            </a:r>
            <a:r>
              <a:rPr lang="es-MX"/>
              <a:t>se fundamentan en los basados en </a:t>
            </a:r>
            <a:r>
              <a:rPr lang="es-MX" b="1"/>
              <a:t>modelos</a:t>
            </a:r>
            <a:r>
              <a:rPr lang="es-MX"/>
              <a:t>, dado que estos proporcionan de manera parcial el estado de su entorno. Sin embargo, para realizar tareas que requieran de </a:t>
            </a:r>
            <a:r>
              <a:rPr lang="es-MX" b="1"/>
              <a:t>mayor capacidad intelectual y racional</a:t>
            </a:r>
            <a:r>
              <a:rPr lang="es-MX"/>
              <a:t>, se necesitan </a:t>
            </a:r>
            <a:r>
              <a:rPr lang="es-MX" b="1"/>
              <a:t>objetivos </a:t>
            </a:r>
            <a:r>
              <a:rPr lang="es-MX"/>
              <a:t>específicos que apoyen la toma de decisiones por parte del agente.</a:t>
            </a:r>
            <a:endParaRPr/>
          </a:p>
          <a:p>
            <a:pPr marL="0" lvl="0" indent="0" algn="just" rtl="0">
              <a:lnSpc>
                <a:spcPct val="120000"/>
              </a:lnSpc>
              <a:spcBef>
                <a:spcPts val="0"/>
              </a:spcBef>
              <a:spcAft>
                <a:spcPts val="0"/>
              </a:spcAft>
              <a:buSzPts val="1800"/>
              <a:buNone/>
            </a:pPr>
            <a:endParaRPr/>
          </a:p>
          <a:p>
            <a:pPr marL="0" lvl="0" indent="0" algn="just" rtl="0">
              <a:lnSpc>
                <a:spcPct val="120000"/>
              </a:lnSpc>
              <a:spcBef>
                <a:spcPts val="0"/>
              </a:spcBef>
              <a:spcAft>
                <a:spcPts val="0"/>
              </a:spcAft>
              <a:buSzPts val="1800"/>
              <a:buNone/>
            </a:pPr>
            <a:r>
              <a:rPr lang="es-MX"/>
              <a:t>Ejemplo: el </a:t>
            </a:r>
            <a:r>
              <a:rPr lang="es-MX" b="1"/>
              <a:t>vehículo autónomo</a:t>
            </a:r>
            <a:r>
              <a:rPr lang="es-MX"/>
              <a:t> si se fundamenta en un agente basado en modelos, no será capaz de analizar y llegar a un </a:t>
            </a:r>
            <a:r>
              <a:rPr lang="es-MX" b="1"/>
              <a:t>destino objetivo</a:t>
            </a:r>
            <a:r>
              <a:rPr lang="es-MX"/>
              <a:t>, por lo tanto, se hace necesario emplear un procesamiento complejo que analice y determine cuantos y cuales giros debe hacer para poder </a:t>
            </a:r>
            <a:r>
              <a:rPr lang="es-MX" b="1"/>
              <a:t>alcanzar </a:t>
            </a:r>
            <a:r>
              <a:rPr lang="es-MX"/>
              <a:t>la </a:t>
            </a:r>
            <a:r>
              <a:rPr lang="es-MX" b="1"/>
              <a:t>ubicación objetivo</a:t>
            </a:r>
            <a:r>
              <a:rPr lang="es-MX"/>
              <a:t>.</a:t>
            </a:r>
            <a:endParaRPr/>
          </a:p>
          <a:p>
            <a:pPr marL="0" lvl="0" indent="0" algn="just" rtl="0">
              <a:lnSpc>
                <a:spcPct val="120000"/>
              </a:lnSpc>
              <a:spcBef>
                <a:spcPts val="1000"/>
              </a:spcBef>
              <a:spcAft>
                <a:spcPts val="0"/>
              </a:spcAft>
              <a:buSzPts val="2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a:t>
            </a:r>
            <a:endParaRPr/>
          </a:p>
        </p:txBody>
      </p:sp>
      <p:sp>
        <p:nvSpPr>
          <p:cNvPr id="301" name="Google Shape;301;p23"/>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a:t>Basados en utilidad.</a:t>
            </a:r>
            <a:endParaRPr/>
          </a:p>
          <a:p>
            <a:pPr marL="228600" lvl="0" indent="-10160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302" name="Google Shape;302;p23"/>
          <p:cNvPicPr preferRelativeResize="0"/>
          <p:nvPr/>
        </p:nvPicPr>
        <p:blipFill rotWithShape="1">
          <a:blip r:embed="rId3">
            <a:alphaModFix/>
          </a:blip>
          <a:srcRect/>
          <a:stretch/>
        </p:blipFill>
        <p:spPr>
          <a:xfrm>
            <a:off x="3049988" y="2615121"/>
            <a:ext cx="6092024" cy="278250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275f463207b_0_73"/>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BASADOS EN UTILIDAD</a:t>
            </a:r>
            <a:endParaRPr/>
          </a:p>
        </p:txBody>
      </p:sp>
      <p:sp>
        <p:nvSpPr>
          <p:cNvPr id="308" name="Google Shape;308;g275f463207b_0_73"/>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1000"/>
              </a:spcBef>
              <a:spcAft>
                <a:spcPts val="0"/>
              </a:spcAft>
              <a:buSzPts val="2000"/>
              <a:buNone/>
            </a:pPr>
            <a:r>
              <a:rPr lang="es-MX"/>
              <a:t>Algunos problemas no pueden ser fundamentados en agentes basados en objetivos dada la complejidad del mismo, las diferentes alternativas para poder satisfacer el objetivo o la imposibilidad de distinguir entre varios objetivos cuál es el más importante.</a:t>
            </a:r>
            <a:endParaRPr/>
          </a:p>
          <a:p>
            <a:pPr marL="0" lvl="0" indent="0" algn="just" rtl="0">
              <a:lnSpc>
                <a:spcPct val="120000"/>
              </a:lnSpc>
              <a:spcBef>
                <a:spcPts val="1000"/>
              </a:spcBef>
              <a:spcAft>
                <a:spcPts val="0"/>
              </a:spcAft>
              <a:buSzPts val="2000"/>
              <a:buNone/>
            </a:pPr>
            <a:r>
              <a:rPr lang="es-MX"/>
              <a:t>Ejemplo: En el </a:t>
            </a:r>
            <a:r>
              <a:rPr lang="es-MX" b="1"/>
              <a:t>vehículo autónomo</a:t>
            </a:r>
            <a:r>
              <a:rPr lang="es-MX"/>
              <a:t> se puede llegar a un lugar a través de </a:t>
            </a:r>
            <a:r>
              <a:rPr lang="es-MX" b="1"/>
              <a:t>diferentes rutas</a:t>
            </a:r>
            <a:r>
              <a:rPr lang="es-MX"/>
              <a:t>, haciéndose importante diferenciarlas con base en la </a:t>
            </a:r>
            <a:r>
              <a:rPr lang="es-MX" b="1"/>
              <a:t>utilidad </a:t>
            </a:r>
            <a:r>
              <a:rPr lang="es-MX"/>
              <a:t>que estas puedan llegar a tener: Velocidad, menor consumo de gasolina, seguridad, entre otras.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275f463207b_0_86"/>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BASADOS EN UTILIDAD</a:t>
            </a:r>
            <a:endParaRPr/>
          </a:p>
        </p:txBody>
      </p:sp>
      <p:sp>
        <p:nvSpPr>
          <p:cNvPr id="314" name="Google Shape;314;g275f463207b_0_86"/>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1000"/>
              </a:spcBef>
              <a:spcAft>
                <a:spcPts val="0"/>
              </a:spcAft>
              <a:buSzPts val="2000"/>
              <a:buNone/>
            </a:pPr>
            <a:r>
              <a:rPr lang="es-MX"/>
              <a:t>Este agente por tanto utiliza una </a:t>
            </a:r>
            <a:r>
              <a:rPr lang="es-MX" b="1"/>
              <a:t>función de utilidad</a:t>
            </a:r>
            <a:r>
              <a:rPr lang="es-MX"/>
              <a:t>, que está directamente asociada con la utilidad proporcionada por las diferentes soluciones frente a un objetivo dado, siendo catalogada como la </a:t>
            </a:r>
            <a:r>
              <a:rPr lang="es-MX" b="1"/>
              <a:t>medida de desempeño del agente.</a:t>
            </a:r>
            <a:endParaRPr b="1"/>
          </a:p>
          <a:p>
            <a:pPr marL="0" lvl="0" indent="0" algn="just" rtl="0">
              <a:lnSpc>
                <a:spcPct val="120000"/>
              </a:lnSpc>
              <a:spcBef>
                <a:spcPts val="1000"/>
              </a:spcBef>
              <a:spcAft>
                <a:spcPts val="0"/>
              </a:spcAft>
              <a:buSzPts val="2000"/>
              <a:buNone/>
            </a:pPr>
            <a:r>
              <a:rPr lang="es-MX"/>
              <a:t>Este tipo de agente, depende de la observabilidad parcial del mundo y de la estocasticidad relacionada con la función de utilidad, teniendo en cuenta que se conoce el estado del entorno actual, su posible comportamiento y la probabilidad de cada una de las acciones que puedan interferir en el cumplimiento del objetivo con base en la utilidad.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a:t>
            </a:r>
            <a:endParaRPr/>
          </a:p>
        </p:txBody>
      </p:sp>
      <p:sp>
        <p:nvSpPr>
          <p:cNvPr id="320" name="Google Shape;320;p2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0"/>
              </a:spcBef>
              <a:spcAft>
                <a:spcPts val="0"/>
              </a:spcAft>
              <a:buSzPts val="2000"/>
              <a:buChar char="•"/>
            </a:pPr>
            <a:r>
              <a:rPr lang="es-MX"/>
              <a:t>Agentes que aprenden.</a:t>
            </a:r>
            <a:endParaRPr/>
          </a:p>
          <a:p>
            <a:pPr marL="228600" lvl="0" indent="-10160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a:p>
            <a:pPr marL="0" lvl="0" indent="0" algn="just" rtl="0">
              <a:lnSpc>
                <a:spcPct val="120000"/>
              </a:lnSpc>
              <a:spcBef>
                <a:spcPts val="1000"/>
              </a:spcBef>
              <a:spcAft>
                <a:spcPts val="0"/>
              </a:spcAft>
              <a:buSzPts val="2000"/>
              <a:buNone/>
            </a:pPr>
            <a:endParaRPr/>
          </a:p>
        </p:txBody>
      </p:sp>
      <p:pic>
        <p:nvPicPr>
          <p:cNvPr id="321" name="Google Shape;321;p24"/>
          <p:cNvPicPr preferRelativeResize="0"/>
          <p:nvPr/>
        </p:nvPicPr>
        <p:blipFill rotWithShape="1">
          <a:blip r:embed="rId3">
            <a:alphaModFix/>
          </a:blip>
          <a:srcRect/>
          <a:stretch/>
        </p:blipFill>
        <p:spPr>
          <a:xfrm>
            <a:off x="2924575" y="2636159"/>
            <a:ext cx="6657281" cy="319647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275f463207b_0_93"/>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AGENTES QUE APRENDEN</a:t>
            </a:r>
            <a:endParaRPr/>
          </a:p>
        </p:txBody>
      </p:sp>
      <p:sp>
        <p:nvSpPr>
          <p:cNvPr id="327" name="Google Shape;327;g275f463207b_0_93"/>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120000"/>
              </a:lnSpc>
              <a:spcBef>
                <a:spcPts val="0"/>
              </a:spcBef>
              <a:spcAft>
                <a:spcPts val="0"/>
              </a:spcAft>
              <a:buSzPct val="97297"/>
              <a:buNone/>
            </a:pPr>
            <a:r>
              <a:rPr lang="es-MX"/>
              <a:t>Un agente de aprendizaje se divide en 4 componentes conceptuales:</a:t>
            </a:r>
            <a:endParaRPr/>
          </a:p>
          <a:p>
            <a:pPr marL="457200" lvl="0" indent="-334327" algn="just" rtl="0">
              <a:lnSpc>
                <a:spcPct val="120000"/>
              </a:lnSpc>
              <a:spcBef>
                <a:spcPts val="0"/>
              </a:spcBef>
              <a:spcAft>
                <a:spcPts val="0"/>
              </a:spcAft>
              <a:buSzPct val="90000"/>
              <a:buChar char="•"/>
            </a:pPr>
            <a:r>
              <a:rPr lang="es-MX" b="1"/>
              <a:t>Elemento de aprendizaje</a:t>
            </a:r>
            <a:r>
              <a:rPr lang="es-MX"/>
              <a:t>: Realiza las mejoras necesarias en la toma de decisiones y la base de reglas del agente.</a:t>
            </a:r>
            <a:endParaRPr/>
          </a:p>
          <a:p>
            <a:pPr marL="457200" lvl="0" indent="-334327" algn="just" rtl="0">
              <a:lnSpc>
                <a:spcPct val="120000"/>
              </a:lnSpc>
              <a:spcBef>
                <a:spcPts val="0"/>
              </a:spcBef>
              <a:spcAft>
                <a:spcPts val="0"/>
              </a:spcAft>
              <a:buSzPct val="90000"/>
              <a:buChar char="•"/>
            </a:pPr>
            <a:r>
              <a:rPr lang="es-MX" b="1"/>
              <a:t>Elemento de desempeño</a:t>
            </a:r>
            <a:r>
              <a:rPr lang="es-MX"/>
              <a:t>: Es el encargado de seleccionar las acciones a ejecutar por parte del agente con base en lo aprendido.</a:t>
            </a:r>
            <a:endParaRPr/>
          </a:p>
          <a:p>
            <a:pPr marL="457200" lvl="0" indent="-334327" algn="just" rtl="0">
              <a:lnSpc>
                <a:spcPct val="120000"/>
              </a:lnSpc>
              <a:spcBef>
                <a:spcPts val="0"/>
              </a:spcBef>
              <a:spcAft>
                <a:spcPts val="0"/>
              </a:spcAft>
              <a:buSzPct val="90000"/>
              <a:buChar char="•"/>
            </a:pPr>
            <a:r>
              <a:rPr lang="es-MX" b="1"/>
              <a:t>Crítico</a:t>
            </a:r>
            <a:r>
              <a:rPr lang="es-MX"/>
              <a:t>: Con base en un estándar de desempeño fijo para el agente y su actuación en el entorno, determina las modificaciones a realizar en el elemento de aprendizaje para mejorar en el proceso ejercido.</a:t>
            </a:r>
            <a:endParaRPr/>
          </a:p>
          <a:p>
            <a:pPr marL="457200" lvl="0" indent="-334327" algn="just" rtl="0">
              <a:lnSpc>
                <a:spcPct val="120000"/>
              </a:lnSpc>
              <a:spcBef>
                <a:spcPts val="0"/>
              </a:spcBef>
              <a:spcAft>
                <a:spcPts val="0"/>
              </a:spcAft>
              <a:buSzPct val="90000"/>
              <a:buChar char="•"/>
            </a:pPr>
            <a:r>
              <a:rPr lang="es-MX" b="1"/>
              <a:t>Generador de Problemas</a:t>
            </a:r>
            <a:r>
              <a:rPr lang="es-MX"/>
              <a:t>: Sugiere acciones que permitan conocer otras alternativas a las ya aprendidas, que aun siendo menos eficientes que las conocidas a corto plazo se pueden transformar en acciones  más eficaces que las ya aprendidas previamente.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g275f463207b_0_100"/>
          <p:cNvSpPr txBox="1">
            <a:spLocks noGrp="1"/>
          </p:cNvSpPr>
          <p:nvPr>
            <p:ph type="title"/>
          </p:nvPr>
        </p:nvSpPr>
        <p:spPr>
          <a:xfrm>
            <a:off x="1451579" y="804519"/>
            <a:ext cx="9603300" cy="104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es-MX"/>
              <a:t>TIPOS DE AGENTE - AGENTES QUE APRENDEN</a:t>
            </a:r>
            <a:endParaRPr/>
          </a:p>
        </p:txBody>
      </p:sp>
      <p:sp>
        <p:nvSpPr>
          <p:cNvPr id="333" name="Google Shape;333;g275f463207b_0_100"/>
          <p:cNvSpPr txBox="1">
            <a:spLocks noGrp="1"/>
          </p:cNvSpPr>
          <p:nvPr>
            <p:ph type="body" idx="1"/>
          </p:nvPr>
        </p:nvSpPr>
        <p:spPr>
          <a:xfrm>
            <a:off x="1451579" y="2015732"/>
            <a:ext cx="9603300" cy="3450600"/>
          </a:xfrm>
          <a:prstGeom prst="rect">
            <a:avLst/>
          </a:prstGeom>
          <a:noFill/>
          <a:ln>
            <a:noFill/>
          </a:ln>
        </p:spPr>
        <p:txBody>
          <a:bodyPr spcFirstLastPara="1" wrap="square" lIns="91425" tIns="45700" rIns="91425" bIns="45700" anchor="t" anchorCtr="0">
            <a:normAutofit fontScale="85000" lnSpcReduction="20000"/>
          </a:bodyPr>
          <a:lstStyle/>
          <a:p>
            <a:pPr marL="0" lvl="0" indent="0" algn="just" rtl="0">
              <a:lnSpc>
                <a:spcPct val="120000"/>
              </a:lnSpc>
              <a:spcBef>
                <a:spcPts val="0"/>
              </a:spcBef>
              <a:spcAft>
                <a:spcPts val="0"/>
              </a:spcAft>
              <a:buSzPct val="105882"/>
              <a:buNone/>
            </a:pPr>
            <a:r>
              <a:rPr lang="es-MX"/>
              <a:t>Por ejemplo, el vehículo automatizado se puede desglosar de la siguiente manera:</a:t>
            </a:r>
            <a:endParaRPr/>
          </a:p>
          <a:p>
            <a:pPr marL="0" lvl="0" indent="0" algn="just" rtl="0">
              <a:lnSpc>
                <a:spcPct val="120000"/>
              </a:lnSpc>
              <a:spcBef>
                <a:spcPts val="0"/>
              </a:spcBef>
              <a:spcAft>
                <a:spcPts val="0"/>
              </a:spcAft>
              <a:buSzPct val="105882"/>
              <a:buNone/>
            </a:pPr>
            <a:r>
              <a:rPr lang="es-MX"/>
              <a:t>	</a:t>
            </a:r>
            <a:endParaRPr/>
          </a:p>
          <a:p>
            <a:pPr marL="457200" lvl="0" indent="-325755" algn="just" rtl="0">
              <a:lnSpc>
                <a:spcPct val="120000"/>
              </a:lnSpc>
              <a:spcBef>
                <a:spcPts val="0"/>
              </a:spcBef>
              <a:spcAft>
                <a:spcPts val="0"/>
              </a:spcAft>
              <a:buSzPct val="90000"/>
              <a:buChar char="•"/>
            </a:pPr>
            <a:r>
              <a:rPr lang="es-MX"/>
              <a:t>Elemento de aprendizaje: Formula reglas que permitan mejorar las acciones llevadas a cabo por el agente y las envía al elemento de desempeño para que puedan ser utilizadas posteriormente.</a:t>
            </a:r>
            <a:endParaRPr/>
          </a:p>
          <a:p>
            <a:pPr marL="457200" lvl="0" indent="-325755" algn="just" rtl="0">
              <a:lnSpc>
                <a:spcPct val="120000"/>
              </a:lnSpc>
              <a:spcBef>
                <a:spcPts val="0"/>
              </a:spcBef>
              <a:spcAft>
                <a:spcPts val="0"/>
              </a:spcAft>
              <a:buSzPct val="90000"/>
              <a:buChar char="•"/>
            </a:pPr>
            <a:r>
              <a:rPr lang="es-MX"/>
              <a:t>Elemento de desempeño: Conjunto de conocimientos y procedimientos con los que cuenta el agente para escoger las acciones de conducción.</a:t>
            </a:r>
            <a:endParaRPr/>
          </a:p>
          <a:p>
            <a:pPr marL="457200" lvl="0" indent="-325755" algn="just" rtl="0">
              <a:lnSpc>
                <a:spcPct val="120000"/>
              </a:lnSpc>
              <a:spcBef>
                <a:spcPts val="0"/>
              </a:spcBef>
              <a:spcAft>
                <a:spcPts val="0"/>
              </a:spcAft>
              <a:buSzPct val="90000"/>
              <a:buChar char="•"/>
            </a:pPr>
            <a:r>
              <a:rPr lang="es-MX"/>
              <a:t>Crítico: Observa el mundo y transmite información al elemento de aprendizaje. Por ejemplo, si el vehículo realiza una acción vista de manera incorrecta por los demás conductores, le transmite esta información al elemento de aprendizaje para mejorarla.</a:t>
            </a:r>
            <a:endParaRPr/>
          </a:p>
          <a:p>
            <a:pPr marL="457200" lvl="0" indent="-325755" algn="just" rtl="0">
              <a:lnSpc>
                <a:spcPct val="120000"/>
              </a:lnSpc>
              <a:spcBef>
                <a:spcPts val="0"/>
              </a:spcBef>
              <a:spcAft>
                <a:spcPts val="0"/>
              </a:spcAft>
              <a:buSzPct val="90000"/>
              <a:buChar char="•"/>
            </a:pPr>
            <a:r>
              <a:rPr lang="es-MX"/>
              <a:t>Generador de Problemas: Identifica posibles mejoras en algunos comportamientos y  sugiere experimentos con el propósito de encontrar nuevas acciones que mejoren el procedimiento.</a:t>
            </a:r>
            <a:endParaRPr/>
          </a:p>
          <a:p>
            <a:pPr marL="0" lvl="0" indent="0" algn="just" rtl="0">
              <a:lnSpc>
                <a:spcPct val="120000"/>
              </a:lnSpc>
              <a:spcBef>
                <a:spcPts val="0"/>
              </a:spcBef>
              <a:spcAft>
                <a:spcPts val="0"/>
              </a:spcAft>
              <a:buSzPct val="105882"/>
              <a:buNone/>
            </a:pPr>
            <a:endParaRPr/>
          </a:p>
        </p:txBody>
      </p:sp>
    </p:spTree>
  </p:cSld>
  <p:clrMapOvr>
    <a:masterClrMapping/>
  </p:clrMapOvr>
</p:sld>
</file>

<file path=ppt/theme/theme1.xml><?xml version="1.0" encoding="utf-8"?>
<a:theme xmlns:a="http://schemas.openxmlformats.org/drawingml/2006/main" name="Galería">
  <a:themeElements>
    <a:clrScheme name="Galería">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2779</Words>
  <Application>Microsoft Office PowerPoint</Application>
  <PresentationFormat>Panorámica</PresentationFormat>
  <Paragraphs>178</Paragraphs>
  <Slides>36</Slides>
  <Notes>36</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Lato</vt:lpstr>
      <vt:lpstr>Calibri</vt:lpstr>
      <vt:lpstr>Gill Sans</vt:lpstr>
      <vt:lpstr>Arial</vt:lpstr>
      <vt:lpstr>Galería</vt:lpstr>
      <vt:lpstr>AGENTE INTELIGENTE</vt:lpstr>
      <vt:lpstr>DEFINICIÓN</vt:lpstr>
      <vt:lpstr>CARACTERÍSTICAS DE AGENTE INTELIGENTE</vt:lpstr>
      <vt:lpstr>ANALOGÍA AL SER HUMANO</vt:lpstr>
      <vt:lpstr>CARACTERÍSTICAS DE AGENTE INTELIGENTE</vt:lpstr>
      <vt:lpstr>PROPIEDADES DE AGENTES INTELIGENTES</vt:lpstr>
      <vt:lpstr>COMPOSICIÓN DE AGENTES INTELIGENTES</vt:lpstr>
      <vt:lpstr>COMPOSICIÓN DE AGENTES INTELIGENTES</vt:lpstr>
      <vt:lpstr>FUNCIONAMIENTO DE AGENTES INTELIGENTES</vt:lpstr>
      <vt:lpstr>FUNCIONAMIENTO DE AGENTES INTELIGENTES</vt:lpstr>
      <vt:lpstr>FUNCIONAMIENTO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MEDIDAS DE RENDIMIENTO DE AGENTES INTELIGENTES</vt:lpstr>
      <vt:lpstr>AGENTES QUE NO SE PUEDEN MATERIALIZAR</vt:lpstr>
      <vt:lpstr>TIPOS DE AGENTE</vt:lpstr>
      <vt:lpstr>TIPOS DE AGENTE - REACTIVO</vt:lpstr>
      <vt:lpstr>TIPOS DE AGENTE - REACTIVO</vt:lpstr>
      <vt:lpstr>TIPOS DE AGENTE</vt:lpstr>
      <vt:lpstr>TIPOS DE AGENTE - BASADO EN MODELOS</vt:lpstr>
      <vt:lpstr>TIPOS DE AGENTE - BASADO EN MODELOS</vt:lpstr>
      <vt:lpstr>TIPOS DE AGENTE</vt:lpstr>
      <vt:lpstr>TIPOS DE AGENTE - BASADO EN OBJETIVOS</vt:lpstr>
      <vt:lpstr>TIPOS DE AGENTE</vt:lpstr>
      <vt:lpstr>TIPOS DE AGENTE - BASADOS EN UTILIDAD</vt:lpstr>
      <vt:lpstr>TIPOS DE AGENTE - BASADOS EN UTILIDAD</vt:lpstr>
      <vt:lpstr>TIPOS DE AGENTE</vt:lpstr>
      <vt:lpstr>TIPOS DE AGENTE - AGENTES QUE APRENDEN</vt:lpstr>
      <vt:lpstr>TIPOS DE AGENTE - AGENTES QUE APRENDEN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CAMILO ENRIQUE ROCHA CALDERON</dc:creator>
  <cp:lastModifiedBy>Norbey Muñoz</cp:lastModifiedBy>
  <cp:revision>1</cp:revision>
  <dcterms:created xsi:type="dcterms:W3CDTF">2023-08-13T05:46:27Z</dcterms:created>
  <dcterms:modified xsi:type="dcterms:W3CDTF">2026-06-02T16:18:35Z</dcterms:modified>
</cp:coreProperties>
</file>